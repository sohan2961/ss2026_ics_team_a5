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1" r:id="rId2"/>
  </p:sldMasterIdLst>
  <p:notesMasterIdLst>
    <p:notesMasterId r:id="rId16"/>
  </p:notesMasterIdLst>
  <p:sldIdLst>
    <p:sldId id="269" r:id="rId3"/>
    <p:sldId id="261" r:id="rId4"/>
    <p:sldId id="270" r:id="rId5"/>
    <p:sldId id="257" r:id="rId6"/>
    <p:sldId id="268" r:id="rId7"/>
    <p:sldId id="258" r:id="rId8"/>
    <p:sldId id="259" r:id="rId9"/>
    <p:sldId id="260" r:id="rId10"/>
    <p:sldId id="263" r:id="rId11"/>
    <p:sldId id="267" r:id="rId12"/>
    <p:sldId id="271" r:id="rId13"/>
    <p:sldId id="262" r:id="rId14"/>
    <p:sldId id="266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Edge computing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Home Wi‑Fi</c:v>
                </c:pt>
                <c:pt idx="1">
                  <c:v>HSHL central Wi‑Fi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3A-4DA0-921F-9F809ED0B2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 computing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Home Wi‑Fi</c:v>
                </c:pt>
                <c:pt idx="1">
                  <c:v>HSHL central Wi‑Fi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510</c:v>
                </c:pt>
                <c:pt idx="1">
                  <c:v>2170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A3A-4DA0-921F-9F809ED0B2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00"/>
          <c:min val="0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400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605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layer from bottom to top: devices create data, edge reacts quickly, fog helps aggregate, cloud stores and analyses for the long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and cloud are complementary, not competing. The hybrid model uses each for what it does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difference is not just technology. The main question is where the data is processed. Cloud is far but powerful. Edge is close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Explain that latency means the full round-trip time. The test used a mobile phone as the client, a laptop as the local edge server, and an external internet server for cloud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D3CC-7D84-F18C-673B-6219129F1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B12D27-7ADB-1645-DBB0-3D13C0BFB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842DB5-B9B2-A733-A73E-B8C58624D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Say that in the edge test, the laptop acts like a small local server. The phone sends data over the same Wi-Fi network, the laptop processes it, and the response comes back without going to a remote cloud server.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4C515-0AE6-2916-1A41-FD0978E45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840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that in the edge test, the laptop acts like a small local server. The phone sends data over the same Wi-Fi network, the laptop processes it, and the response comes back without going to a remote cloud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 cloud test used a remote HTTP server. The request must go through the public internet, reach the server, and return. This adds round-trip delay.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benefits make edge computing indispensable for industrial real-time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computing is now deployed across virtually every sector where timely local decisions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challenges are real but solvable — dedicated private networks, hardware security modules, and centralised device management platforms address most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DGE_MASTER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A6A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172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91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1298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7466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of Edge Computing</a:t>
            </a:r>
            <a:endParaRPr lang="en-US" sz="2600" dirty="0"/>
          </a:p>
        </p:txBody>
      </p:sp>
      <p:pic>
        <p:nvPicPr>
          <p:cNvPr id="6" name="Image 0" descr="/mnt/data/edge_assets/img-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78" y="1379920"/>
            <a:ext cx="6570482" cy="45370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1900705"/>
            <a:ext cx="1508760" cy="530352"/>
          </a:xfrm>
          <a:prstGeom prst="rect">
            <a:avLst/>
          </a:prstGeom>
          <a:solidFill>
            <a:srgbClr val="1167B1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layer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190070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storage, dashboards, model training, ERP/MES reporting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2860825"/>
            <a:ext cx="1508760" cy="530352"/>
          </a:xfrm>
          <a:prstGeom prst="rect">
            <a:avLst/>
          </a:prstGeom>
          <a:solidFill>
            <a:srgbClr val="00A6A6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Fog layer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897112" y="286082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Buffers and aggregates data between edge and cloud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3820945"/>
            <a:ext cx="1508760" cy="530352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layer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897112" y="382094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processing, AI/fault detection, protocol translation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223760" y="4781065"/>
            <a:ext cx="1508760" cy="530352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devices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897112" y="478106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Sensors, cameras, PLCs, robots and IoT modules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658190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33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vs. Edge Computing</a:t>
            </a:r>
            <a:endParaRPr lang="en-US" sz="4533" dirty="0"/>
          </a:p>
        </p:txBody>
      </p:sp>
      <p:sp>
        <p:nvSpPr>
          <p:cNvPr id="3" name="Shape 1"/>
          <p:cNvSpPr/>
          <p:nvPr/>
        </p:nvSpPr>
        <p:spPr>
          <a:xfrm>
            <a:off x="3962400" y="1280160"/>
            <a:ext cx="3718560" cy="670560"/>
          </a:xfrm>
          <a:prstGeom prst="roundRect">
            <a:avLst>
              <a:gd name="adj" fmla="val 1272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4" name="Text 2"/>
          <p:cNvSpPr/>
          <p:nvPr/>
        </p:nvSpPr>
        <p:spPr>
          <a:xfrm>
            <a:off x="3962400" y="1280160"/>
            <a:ext cx="3718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</a:t>
            </a:r>
            <a:endParaRPr lang="en-US" sz="1733" dirty="0"/>
          </a:p>
        </p:txBody>
      </p:sp>
      <p:sp>
        <p:nvSpPr>
          <p:cNvPr id="5" name="Shape 3"/>
          <p:cNvSpPr/>
          <p:nvPr/>
        </p:nvSpPr>
        <p:spPr>
          <a:xfrm>
            <a:off x="8046720" y="1280160"/>
            <a:ext cx="3718560" cy="670560"/>
          </a:xfrm>
          <a:prstGeom prst="roundRect">
            <a:avLst>
              <a:gd name="adj" fmla="val 1272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6" name="Text 4"/>
          <p:cNvSpPr/>
          <p:nvPr/>
        </p:nvSpPr>
        <p:spPr>
          <a:xfrm>
            <a:off x="8046720" y="1280160"/>
            <a:ext cx="3718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</a:t>
            </a:r>
            <a:endParaRPr lang="en-US" sz="1733" dirty="0"/>
          </a:p>
        </p:txBody>
      </p:sp>
      <p:sp>
        <p:nvSpPr>
          <p:cNvPr id="7" name="Shape 5"/>
          <p:cNvSpPr/>
          <p:nvPr/>
        </p:nvSpPr>
        <p:spPr>
          <a:xfrm>
            <a:off x="487680" y="2072640"/>
            <a:ext cx="11216640" cy="707136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8" name="Text 6"/>
          <p:cNvSpPr/>
          <p:nvPr/>
        </p:nvSpPr>
        <p:spPr>
          <a:xfrm>
            <a:off x="609600" y="207264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Location</a:t>
            </a:r>
            <a:endParaRPr lang="en-US" sz="1533" dirty="0"/>
          </a:p>
        </p:txBody>
      </p:sp>
      <p:sp>
        <p:nvSpPr>
          <p:cNvPr id="9" name="Text 7"/>
          <p:cNvSpPr/>
          <p:nvPr/>
        </p:nvSpPr>
        <p:spPr>
          <a:xfrm>
            <a:off x="3962400" y="20726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cloud servers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8046720" y="20726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device/user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487680" y="2804160"/>
            <a:ext cx="1121664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2" name="Text 10"/>
          <p:cNvSpPr/>
          <p:nvPr/>
        </p:nvSpPr>
        <p:spPr>
          <a:xfrm>
            <a:off x="609600" y="280416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33" dirty="0"/>
          </a:p>
        </p:txBody>
      </p:sp>
      <p:sp>
        <p:nvSpPr>
          <p:cNvPr id="13" name="Text 11"/>
          <p:cNvSpPr/>
          <p:nvPr/>
        </p:nvSpPr>
        <p:spPr>
          <a:xfrm>
            <a:off x="3962400" y="280416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(≥ 500 ms)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8046720" y="280416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(&lt; 100 ms local)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487680" y="3535680"/>
            <a:ext cx="11216640" cy="707136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6" name="Text 14"/>
          <p:cNvSpPr/>
          <p:nvPr/>
        </p:nvSpPr>
        <p:spPr>
          <a:xfrm>
            <a:off x="609600" y="353568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Use</a:t>
            </a:r>
            <a:endParaRPr lang="en-US" sz="1533" dirty="0"/>
          </a:p>
        </p:txBody>
      </p:sp>
      <p:sp>
        <p:nvSpPr>
          <p:cNvPr id="17" name="Text 15"/>
          <p:cNvSpPr/>
          <p:nvPr/>
        </p:nvSpPr>
        <p:spPr>
          <a:xfrm>
            <a:off x="3962400" y="353568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all data to cloud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8046720" y="353568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only summaries sent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487680" y="4267200"/>
            <a:ext cx="1121664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20" name="Text 18"/>
          <p:cNvSpPr/>
          <p:nvPr/>
        </p:nvSpPr>
        <p:spPr>
          <a:xfrm>
            <a:off x="609600" y="426720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Capacity</a:t>
            </a:r>
            <a:endParaRPr lang="en-US" sz="1533" dirty="0"/>
          </a:p>
        </p:txBody>
      </p:sp>
      <p:sp>
        <p:nvSpPr>
          <p:cNvPr id="21" name="Text 19"/>
          <p:cNvSpPr/>
          <p:nvPr/>
        </p:nvSpPr>
        <p:spPr>
          <a:xfrm>
            <a:off x="3962400" y="426720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(unlimited)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046720" y="426720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(local storage)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487680" y="4998720"/>
            <a:ext cx="11216640" cy="707136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24" name="Text 22"/>
          <p:cNvSpPr/>
          <p:nvPr/>
        </p:nvSpPr>
        <p:spPr>
          <a:xfrm>
            <a:off x="609600" y="499872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33" dirty="0"/>
          </a:p>
        </p:txBody>
      </p:sp>
      <p:sp>
        <p:nvSpPr>
          <p:cNvPr id="25" name="Text 23"/>
          <p:cNvSpPr/>
          <p:nvPr/>
        </p:nvSpPr>
        <p:spPr>
          <a:xfrm>
            <a:off x="3962400" y="499872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internet connection</a:t>
            </a:r>
            <a:endParaRPr lang="en-US" sz="1467" dirty="0"/>
          </a:p>
        </p:txBody>
      </p:sp>
      <p:sp>
        <p:nvSpPr>
          <p:cNvPr id="26" name="Text 24"/>
          <p:cNvSpPr/>
          <p:nvPr/>
        </p:nvSpPr>
        <p:spPr>
          <a:xfrm>
            <a:off x="8046720" y="499872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467" dirty="0"/>
          </a:p>
        </p:txBody>
      </p:sp>
      <p:sp>
        <p:nvSpPr>
          <p:cNvPr id="27" name="Shape 25"/>
          <p:cNvSpPr/>
          <p:nvPr/>
        </p:nvSpPr>
        <p:spPr>
          <a:xfrm>
            <a:off x="487680" y="5730240"/>
            <a:ext cx="1121664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28" name="Text 26"/>
          <p:cNvSpPr/>
          <p:nvPr/>
        </p:nvSpPr>
        <p:spPr>
          <a:xfrm>
            <a:off x="609600" y="573024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 Case</a:t>
            </a:r>
            <a:endParaRPr lang="en-US" sz="1533" dirty="0"/>
          </a:p>
        </p:txBody>
      </p:sp>
      <p:sp>
        <p:nvSpPr>
          <p:cNvPr id="29" name="Text 27"/>
          <p:cNvSpPr/>
          <p:nvPr/>
        </p:nvSpPr>
        <p:spPr>
          <a:xfrm>
            <a:off x="3962400" y="57302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· ML training · ERP</a:t>
            </a:r>
            <a:endParaRPr lang="en-US" sz="1467" dirty="0"/>
          </a:p>
        </p:txBody>
      </p:sp>
      <p:sp>
        <p:nvSpPr>
          <p:cNvPr id="30" name="Text 28"/>
          <p:cNvSpPr/>
          <p:nvPr/>
        </p:nvSpPr>
        <p:spPr>
          <a:xfrm>
            <a:off x="8046720" y="57302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control · Safety</a:t>
            </a:r>
            <a:endParaRPr lang="en-US" sz="1467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69669" y="401089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computing vs. Edge computing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298448"/>
            <a:ext cx="4709160" cy="502920"/>
          </a:xfrm>
          <a:prstGeom prst="rect">
            <a:avLst/>
          </a:prstGeom>
          <a:solidFill>
            <a:srgbClr val="1167B1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computing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711696" y="1298448"/>
            <a:ext cx="4709160" cy="502920"/>
          </a:xfrm>
          <a:prstGeom prst="rect">
            <a:avLst/>
          </a:prstGeom>
          <a:solidFill>
            <a:srgbClr val="00A6A6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computing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57400"/>
            <a:ext cx="1920240" cy="475488"/>
          </a:xfrm>
          <a:prstGeom prst="rect">
            <a:avLst/>
          </a:prstGeom>
          <a:solidFill>
            <a:srgbClr val="EDF4F8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172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location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2057400"/>
            <a:ext cx="2697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cloud server</a:t>
            </a:r>
            <a:endParaRPr lang="en-US" sz="1270" dirty="0"/>
          </a:p>
        </p:txBody>
      </p:sp>
      <p:sp>
        <p:nvSpPr>
          <p:cNvPr id="9" name="Text 7"/>
          <p:cNvSpPr txBox="1"/>
          <p:nvPr/>
        </p:nvSpPr>
        <p:spPr>
          <a:xfrm>
            <a:off x="6711696" y="2057400"/>
            <a:ext cx="4709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 the device or user</a:t>
            </a:r>
            <a:endParaRPr lang="en-US" sz="127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862072"/>
            <a:ext cx="1920240" cy="475488"/>
          </a:xfrm>
          <a:prstGeom prst="rect">
            <a:avLst/>
          </a:prstGeom>
          <a:solidFill>
            <a:srgbClr val="EDF4F8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172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26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862072"/>
            <a:ext cx="2697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270" dirty="0"/>
          </a:p>
        </p:txBody>
      </p:sp>
      <p:sp>
        <p:nvSpPr>
          <p:cNvPr id="12" name="Text 10"/>
          <p:cNvSpPr txBox="1"/>
          <p:nvPr/>
        </p:nvSpPr>
        <p:spPr>
          <a:xfrm>
            <a:off x="6711696" y="2862072"/>
            <a:ext cx="4709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</a:t>
            </a:r>
            <a:endParaRPr lang="en-US" sz="127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666744"/>
            <a:ext cx="1920240" cy="475488"/>
          </a:xfrm>
          <a:prstGeom prst="rect">
            <a:avLst/>
          </a:prstGeom>
          <a:solidFill>
            <a:srgbClr val="EDF4F8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172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Bandwidth use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3666744"/>
            <a:ext cx="2697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raw data sent to cloud</a:t>
            </a:r>
            <a:endParaRPr lang="en-US" sz="127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3666744"/>
            <a:ext cx="4709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data leaves the factory</a:t>
            </a:r>
            <a:endParaRPr lang="en-US" sz="127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71416"/>
            <a:ext cx="1920240" cy="475488"/>
          </a:xfrm>
          <a:prstGeom prst="rect">
            <a:avLst/>
          </a:prstGeom>
          <a:solidFill>
            <a:srgbClr val="EDF4F8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172A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use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4471416"/>
            <a:ext cx="2697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storage and long-term analytics</a:t>
            </a:r>
            <a:endParaRPr lang="en-US" sz="127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4471416"/>
            <a:ext cx="4709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7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Real-time local response</a:t>
            </a:r>
            <a:endParaRPr lang="en-US" sz="12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658190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 test Setup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658368" y="1417320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B172A"/>
                </a:solidFill>
              </a:rPr>
              <a:t>Latency Definition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3578047" y="5628131"/>
            <a:ext cx="6035040" cy="3657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1E293B"/>
                </a:solidFill>
              </a:rPr>
              <a:t>Time from sending a request until the response is received.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658368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Client device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658368" y="310896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Mobile phone</a:t>
            </a:r>
            <a:endParaRPr lang="en-US" sz="2800"/>
          </a:p>
        </p:txBody>
      </p:sp>
      <p:sp>
        <p:nvSpPr>
          <p:cNvPr id="12" name="Text 10"/>
          <p:cNvSpPr/>
          <p:nvPr/>
        </p:nvSpPr>
        <p:spPr>
          <a:xfrm>
            <a:off x="658368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Generated sensor-like data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3886200" y="27889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Edge server</a:t>
            </a:r>
            <a:endParaRPr lang="en-US" sz="1100"/>
          </a:p>
        </p:txBody>
      </p:sp>
      <p:sp>
        <p:nvSpPr>
          <p:cNvPr id="14" name="Text 12"/>
          <p:cNvSpPr/>
          <p:nvPr/>
        </p:nvSpPr>
        <p:spPr>
          <a:xfrm>
            <a:off x="3886200" y="31089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4B8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Ubuntu laptop</a:t>
            </a:r>
            <a:endParaRPr lang="en-US" sz="2800"/>
          </a:p>
        </p:txBody>
      </p:sp>
      <p:sp>
        <p:nvSpPr>
          <p:cNvPr id="15" name="Text 13"/>
          <p:cNvSpPr/>
          <p:nvPr/>
        </p:nvSpPr>
        <p:spPr>
          <a:xfrm>
            <a:off x="3886200" y="36576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Processed the request locally</a:t>
            </a:r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7269480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Cloud target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7269480" y="310896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 server</a:t>
            </a:r>
            <a:endParaRPr lang="en-US" sz="2800"/>
          </a:p>
        </p:txBody>
      </p:sp>
      <p:sp>
        <p:nvSpPr>
          <p:cNvPr id="18" name="Text 16"/>
          <p:cNvSpPr/>
          <p:nvPr/>
        </p:nvSpPr>
        <p:spPr>
          <a:xfrm>
            <a:off x="72694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External online server</a:t>
            </a:r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1097280" y="5349240"/>
            <a:ext cx="96926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Shape 18"/>
          <p:cNvSpPr/>
          <p:nvPr/>
        </p:nvSpPr>
        <p:spPr>
          <a:xfrm>
            <a:off x="1005840" y="5257800"/>
            <a:ext cx="201168" cy="2011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9"/>
          <p:cNvSpPr/>
          <p:nvPr/>
        </p:nvSpPr>
        <p:spPr>
          <a:xfrm>
            <a:off x="10698480" y="525780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777240" y="55595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4748B"/>
                </a:solidFill>
              </a:rPr>
              <a:t>Request sent</a:t>
            </a:r>
            <a:endParaRPr lang="en-US" sz="1050"/>
          </a:p>
        </p:txBody>
      </p:sp>
      <p:sp>
        <p:nvSpPr>
          <p:cNvPr id="23" name="Text 21"/>
          <p:cNvSpPr/>
          <p:nvPr/>
        </p:nvSpPr>
        <p:spPr>
          <a:xfrm>
            <a:off x="10058400" y="555955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4748B"/>
                </a:solidFill>
              </a:rPr>
              <a:t>Response received</a:t>
            </a:r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4754880" y="4983481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172A"/>
                </a:solidFill>
              </a:rPr>
              <a:t>Measured latency</a:t>
            </a:r>
            <a:endParaRPr lang="en-US" sz="15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8BDE60-736E-D0C2-FCA8-713757DCD0F8}"/>
              </a:ext>
            </a:extLst>
          </p:cNvPr>
          <p:cNvSpPr txBox="1"/>
          <p:nvPr/>
        </p:nvSpPr>
        <p:spPr>
          <a:xfrm>
            <a:off x="548528" y="1711305"/>
            <a:ext cx="11155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Tested in two environments: </a:t>
            </a:r>
            <a:r>
              <a:rPr lang="en-US"/>
              <a:t>Paderborn home Wi-Fi (stable, private)  ·  HSHL central Wi-Fi (shared, congested)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0459A-53A9-BD5B-5EEF-0B4F2007E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DD03136-E4C0-0DAA-28DA-2BD5E6A07FA6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E7F8F0-1F0C-387B-4448-78239C79AF0C}"/>
              </a:ext>
            </a:extLst>
          </p:cNvPr>
          <p:cNvSpPr/>
          <p:nvPr/>
        </p:nvSpPr>
        <p:spPr>
          <a:xfrm>
            <a:off x="1188720" y="2742784"/>
            <a:ext cx="5658889" cy="686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2"/>
                </a:solidFill>
                <a:latin typeface="+mj-lt"/>
                <a:ea typeface="Aptos Display" pitchFamily="34" charset="-122"/>
                <a:cs typeface="Aptos Display" pitchFamily="34" charset="-120"/>
              </a:rPr>
              <a:t>Only “HSHL”  </a:t>
            </a:r>
            <a:r>
              <a:rPr lang="en-US" sz="4000" b="1" dirty="0" err="1">
                <a:solidFill>
                  <a:schemeClr val="accent2"/>
                </a:solidFill>
                <a:latin typeface="+mj-lt"/>
                <a:ea typeface="Aptos Display" pitchFamily="34" charset="-122"/>
                <a:cs typeface="Aptos Display" pitchFamily="34" charset="-120"/>
              </a:rPr>
              <a:t>Wifi</a:t>
            </a:r>
            <a:r>
              <a:rPr lang="en-US" sz="4000" b="1" dirty="0">
                <a:solidFill>
                  <a:schemeClr val="accent2"/>
                </a:solidFill>
                <a:latin typeface="+mj-lt"/>
                <a:ea typeface="Aptos Display" pitchFamily="34" charset="-122"/>
                <a:cs typeface="Aptos Display" pitchFamily="34" charset="-120"/>
              </a:rPr>
              <a:t> USER</a:t>
            </a:r>
            <a:endParaRPr lang="en-US" sz="4000" dirty="0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548FF9C-25A3-A045-BC25-D28645176F15}"/>
              </a:ext>
            </a:extLst>
          </p:cNvPr>
          <p:cNvSpPr/>
          <p:nvPr/>
        </p:nvSpPr>
        <p:spPr>
          <a:xfrm>
            <a:off x="502920" y="649224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D12924C-D3D3-A054-49F3-F49585B21B4A}"/>
              </a:ext>
            </a:extLst>
          </p:cNvPr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148068-6652-E8D2-22A6-D11BEB80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534" y="1039091"/>
            <a:ext cx="3574964" cy="463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15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Edge Latency Test</a:t>
            </a:r>
            <a:endParaRPr lang="en-US" sz="280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7315200" y="43434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Stable local network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7315200" y="466344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0B98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 ms</a:t>
            </a:r>
            <a:endParaRPr lang="en-US" sz="2800"/>
          </a:p>
        </p:txBody>
      </p:sp>
      <p:sp>
        <p:nvSpPr>
          <p:cNvPr id="28" name="Text 26"/>
          <p:cNvSpPr/>
          <p:nvPr/>
        </p:nvSpPr>
        <p:spPr>
          <a:xfrm>
            <a:off x="7315200" y="52120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Paderborn home Wi‑Fi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960120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Shared network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9601200" y="46634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422 ms</a:t>
            </a:r>
            <a:endParaRPr lang="en-US" sz="2800"/>
          </a:p>
        </p:txBody>
      </p:sp>
      <p:sp>
        <p:nvSpPr>
          <p:cNvPr id="31" name="Text 29"/>
          <p:cNvSpPr/>
          <p:nvPr/>
        </p:nvSpPr>
        <p:spPr>
          <a:xfrm>
            <a:off x="9601200" y="5212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HSHL central Wi‑Fi</a:t>
            </a:r>
            <a:endParaRPr lang="en-US" sz="105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85871834-A737-5935-230C-D6D183FD7CD8}"/>
              </a:ext>
            </a:extLst>
          </p:cNvPr>
          <p:cNvSpPr/>
          <p:nvPr/>
        </p:nvSpPr>
        <p:spPr>
          <a:xfrm>
            <a:off x="685800" y="3840545"/>
            <a:ext cx="3946767" cy="2464424"/>
          </a:xfrm>
          <a:prstGeom prst="roundRect">
            <a:avLst>
              <a:gd name="adj" fmla="val 2410"/>
            </a:avLst>
          </a:prstGeom>
          <a:solidFill>
            <a:srgbClr val="ECFDF5"/>
          </a:solidFill>
          <a:ln/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9DCD7F8F-A20B-0EF4-55BB-FE1CC7778FFD}"/>
              </a:ext>
            </a:extLst>
          </p:cNvPr>
          <p:cNvSpPr/>
          <p:nvPr/>
        </p:nvSpPr>
        <p:spPr>
          <a:xfrm>
            <a:off x="1259905" y="3950273"/>
            <a:ext cx="2204294" cy="368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kern="0" spc="267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Procedure</a:t>
            </a:r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C303A1E8-3446-A622-FD51-EC338289595B}"/>
              </a:ext>
            </a:extLst>
          </p:cNvPr>
          <p:cNvSpPr/>
          <p:nvPr/>
        </p:nvSpPr>
        <p:spPr>
          <a:xfrm>
            <a:off x="823158" y="4243804"/>
            <a:ext cx="3218688" cy="11429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running Python Flask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Client: </a:t>
            </a:r>
            <a:endParaRPr lang="en-US" sz="1200"/>
          </a:p>
          <a:p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 → http://192.168.178.78:5000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log:</a:t>
            </a:r>
            <a:endParaRPr lang="en-US" sz="120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B6309E4E-9632-44EB-B7B7-60EC75C3457F}"/>
              </a:ext>
            </a:extLst>
          </p:cNvPr>
          <p:cNvSpPr/>
          <p:nvPr/>
        </p:nvSpPr>
        <p:spPr>
          <a:xfrm>
            <a:off x="823158" y="5139387"/>
            <a:ext cx="3294690" cy="682095"/>
          </a:xfrm>
          <a:prstGeom prst="roundRect">
            <a:avLst>
              <a:gd name="adj" fmla="val 8333"/>
            </a:avLst>
          </a:prstGeom>
          <a:solidFill>
            <a:srgbClr val="162440"/>
          </a:solidFill>
          <a:ln/>
        </p:spPr>
        <p:txBody>
          <a:bodyPr/>
          <a:lstStyle/>
          <a:p>
            <a:endParaRPr lang="en-DE" sz="2400"/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8ED202C2-BBA9-962D-5181-3572D42DF858}"/>
              </a:ext>
            </a:extLst>
          </p:cNvPr>
          <p:cNvSpPr/>
          <p:nvPr/>
        </p:nvSpPr>
        <p:spPr>
          <a:xfrm>
            <a:off x="917448" y="5017115"/>
            <a:ext cx="3577467" cy="7893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/process HTTP/1.1" 200</a:t>
            </a:r>
            <a:endParaRPr lang="en-US" sz="1200"/>
          </a:p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192.168.178.117 → .78:5000</a:t>
            </a:r>
            <a:endParaRPr lang="en-US" sz="1200"/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96C6CB1F-073B-DCD1-C084-2369A9603D3E}"/>
              </a:ext>
            </a:extLst>
          </p:cNvPr>
          <p:cNvSpPr/>
          <p:nvPr/>
        </p:nvSpPr>
        <p:spPr>
          <a:xfrm>
            <a:off x="874776" y="5676754"/>
            <a:ext cx="4583700" cy="5143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200 OK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successful edge communication.</a:t>
            </a:r>
            <a:endParaRPr lang="en-US" sz="12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16AF6F-B879-93F2-F14D-F4379335E0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0744" r="-266" b="20744"/>
          <a:stretch>
            <a:fillRect/>
          </a:stretch>
        </p:blipFill>
        <p:spPr bwMode="auto">
          <a:xfrm>
            <a:off x="2599886" y="1306836"/>
            <a:ext cx="7046075" cy="205861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Latency Test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/>
          </a:p>
        </p:txBody>
      </p:sp>
      <p:sp>
        <p:nvSpPr>
          <p:cNvPr id="20" name="Text 18"/>
          <p:cNvSpPr/>
          <p:nvPr/>
        </p:nvSpPr>
        <p:spPr>
          <a:xfrm>
            <a:off x="1051560" y="4379976"/>
            <a:ext cx="484632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>
                <a:solidFill>
                  <a:srgbClr val="DCF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-w "Total time: %{time_total} seconds"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DCF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https://httpbin.org/get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7040880" y="4160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Measured cloud latency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7040880" y="448056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510 ms</a:t>
            </a:r>
            <a:endParaRPr lang="en-US" sz="2800"/>
          </a:p>
        </p:txBody>
      </p:sp>
      <p:sp>
        <p:nvSpPr>
          <p:cNvPr id="24" name="Text 22"/>
          <p:cNvSpPr/>
          <p:nvPr/>
        </p:nvSpPr>
        <p:spPr>
          <a:xfrm>
            <a:off x="932688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Worst shared network result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9326880" y="448056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EF44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2170 ms</a:t>
            </a:r>
            <a:endParaRPr lang="en-US" sz="2800"/>
          </a:p>
        </p:txBody>
      </p:sp>
      <p:sp>
        <p:nvSpPr>
          <p:cNvPr id="26" name="Text 24"/>
          <p:cNvSpPr/>
          <p:nvPr/>
        </p:nvSpPr>
        <p:spPr>
          <a:xfrm>
            <a:off x="9436018" y="5029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HSHL central Wi‑Fi</a:t>
            </a:r>
            <a:endParaRPr lang="en-US" sz="1050"/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8203E6DC-67BD-FB27-94D8-1F598C2ACDB4}"/>
              </a:ext>
            </a:extLst>
          </p:cNvPr>
          <p:cNvSpPr/>
          <p:nvPr/>
        </p:nvSpPr>
        <p:spPr>
          <a:xfrm>
            <a:off x="670560" y="3766835"/>
            <a:ext cx="3517982" cy="2394698"/>
          </a:xfrm>
          <a:prstGeom prst="roundRect">
            <a:avLst>
              <a:gd name="adj" fmla="val 2410"/>
            </a:avLst>
          </a:prstGeom>
          <a:solidFill>
            <a:srgbClr val="FFF7ED"/>
          </a:solidFill>
          <a:ln/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B0AF9283-CA5D-5EA0-A88D-234AA2F85E86}"/>
              </a:ext>
            </a:extLst>
          </p:cNvPr>
          <p:cNvSpPr/>
          <p:nvPr/>
        </p:nvSpPr>
        <p:spPr>
          <a:xfrm>
            <a:off x="1119939" y="3882576"/>
            <a:ext cx="2204294" cy="368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kern="0" spc="267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Procedure</a:t>
            </a: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3A74130-AF13-4964-DD0F-F2EFA7FA2CF0}"/>
              </a:ext>
            </a:extLst>
          </p:cNvPr>
          <p:cNvSpPr/>
          <p:nvPr/>
        </p:nvSpPr>
        <p:spPr>
          <a:xfrm>
            <a:off x="823158" y="4243804"/>
            <a:ext cx="3218688" cy="11429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via public internet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endParaRPr lang="en-US" sz="1200"/>
          </a:p>
          <a:p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https://httpbin.org/get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</a:t>
            </a:r>
            <a:endParaRPr lang="en-US" sz="12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A1FD7C37-ACC6-EE8F-2F59-30C95481428D}"/>
              </a:ext>
            </a:extLst>
          </p:cNvPr>
          <p:cNvSpPr/>
          <p:nvPr/>
        </p:nvSpPr>
        <p:spPr>
          <a:xfrm>
            <a:off x="823158" y="5139387"/>
            <a:ext cx="2641041" cy="682095"/>
          </a:xfrm>
          <a:prstGeom prst="roundRect">
            <a:avLst>
              <a:gd name="adj" fmla="val 8333"/>
            </a:avLst>
          </a:prstGeom>
          <a:solidFill>
            <a:srgbClr val="162440"/>
          </a:solidFill>
          <a:ln/>
        </p:spPr>
        <p:txBody>
          <a:bodyPr/>
          <a:lstStyle/>
          <a:p>
            <a:endParaRPr lang="en-DE" sz="240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9785384-81FF-FD73-8060-D2427F10BA07}"/>
              </a:ext>
            </a:extLst>
          </p:cNvPr>
          <p:cNvSpPr/>
          <p:nvPr/>
        </p:nvSpPr>
        <p:spPr>
          <a:xfrm>
            <a:off x="870302" y="5070057"/>
            <a:ext cx="2546751" cy="7893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-w "%{</a:t>
            </a:r>
            <a:r>
              <a:rPr lang="en-US" sz="1200" err="1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time_total</a:t>
            </a:r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}s"</a:t>
            </a:r>
            <a:endParaRPr lang="en-US" sz="1200"/>
          </a:p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https://httpbin.org/get</a:t>
            </a:r>
            <a:endParaRPr lang="en-US" sz="120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C0D297FE-7D2A-BAA2-EB95-6A8726BC657E}"/>
              </a:ext>
            </a:extLst>
          </p:cNvPr>
          <p:cNvSpPr/>
          <p:nvPr/>
        </p:nvSpPr>
        <p:spPr>
          <a:xfrm>
            <a:off x="823158" y="5738348"/>
            <a:ext cx="3269717" cy="5134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0.510079 s = </a:t>
            </a:r>
            <a:r>
              <a:rPr lang="en-US" sz="12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 </a:t>
            </a:r>
            <a:r>
              <a:rPr lang="en-US" sz="1200" b="1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internet round-trip.</a:t>
            </a:r>
            <a:endParaRPr lang="en-US" sz="1200"/>
          </a:p>
        </p:txBody>
      </p:sp>
      <p:sp>
        <p:nvSpPr>
          <p:cNvPr id="35" name="Text 26">
            <a:extLst>
              <a:ext uri="{FF2B5EF4-FFF2-40B4-BE49-F238E27FC236}">
                <a16:creationId xmlns:a16="http://schemas.microsoft.com/office/drawing/2014/main" id="{DCC7BCEA-7C16-450C-0713-96C5488C24AF}"/>
              </a:ext>
            </a:extLst>
          </p:cNvPr>
          <p:cNvSpPr/>
          <p:nvPr/>
        </p:nvSpPr>
        <p:spPr>
          <a:xfrm>
            <a:off x="7040880" y="5030183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Paderborn home Wi‑Fi</a:t>
            </a:r>
            <a:endParaRPr lang="en-US" sz="105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2482F7-053A-6314-82D6-CFADE3A2A93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4322" r="400" b="14070"/>
          <a:stretch>
            <a:fillRect/>
          </a:stretch>
        </p:blipFill>
        <p:spPr bwMode="auto">
          <a:xfrm>
            <a:off x="2429551" y="810183"/>
            <a:ext cx="7639921" cy="291093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Measured Results: Edge vs Cloud</a:t>
            </a:r>
            <a:endParaRPr lang="en-US" sz="2800"/>
          </a:p>
        </p:txBody>
      </p:sp>
      <p:sp>
        <p:nvSpPr>
          <p:cNvPr id="5" name="Text 3"/>
          <p:cNvSpPr/>
          <p:nvPr/>
        </p:nvSpPr>
        <p:spPr>
          <a:xfrm>
            <a:off x="530352" y="8686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25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480155006"/>
              </p:ext>
            </p:extLst>
          </p:nvPr>
        </p:nvGraphicFramePr>
        <p:xfrm>
          <a:off x="731520" y="1508760"/>
          <a:ext cx="66751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12618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>
                <a:solidFill>
                  <a:srgbClr val="64748B"/>
                </a:solidFill>
              </a:rPr>
              <a:t>Latency in milliseconds (lower is better)</a:t>
            </a:r>
            <a:endParaRPr lang="en-US" sz="1080"/>
          </a:p>
        </p:txBody>
      </p:sp>
      <p:sp>
        <p:nvSpPr>
          <p:cNvPr id="10" name="Shape 7"/>
          <p:cNvSpPr/>
          <p:nvPr/>
        </p:nvSpPr>
        <p:spPr>
          <a:xfrm>
            <a:off x="8001000" y="1508760"/>
            <a:ext cx="0" cy="4343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8"/>
          <p:cNvSpPr/>
          <p:nvPr/>
        </p:nvSpPr>
        <p:spPr>
          <a:xfrm>
            <a:off x="8458200" y="16916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Home Wi‑Fi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8458200" y="201168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0B98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 vs 510 ms</a:t>
            </a:r>
            <a:endParaRPr lang="en-US" sz="2800"/>
          </a:p>
        </p:txBody>
      </p:sp>
      <p:sp>
        <p:nvSpPr>
          <p:cNvPr id="13" name="Text 10"/>
          <p:cNvSpPr/>
          <p:nvPr/>
        </p:nvSpPr>
        <p:spPr>
          <a:xfrm>
            <a:off x="8458200" y="2560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Cloud took about 5.4× longer</a:t>
            </a:r>
            <a:endParaRPr lang="en-US" sz="1050"/>
          </a:p>
        </p:txBody>
      </p:sp>
      <p:sp>
        <p:nvSpPr>
          <p:cNvPr id="14" name="Text 11"/>
          <p:cNvSpPr/>
          <p:nvPr/>
        </p:nvSpPr>
        <p:spPr>
          <a:xfrm>
            <a:off x="8458200" y="33375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HSHL Wi‑Fi</a:t>
            </a:r>
            <a:endParaRPr lang="en-US" sz="1100"/>
          </a:p>
        </p:txBody>
      </p:sp>
      <p:sp>
        <p:nvSpPr>
          <p:cNvPr id="15" name="Text 12"/>
          <p:cNvSpPr/>
          <p:nvPr/>
        </p:nvSpPr>
        <p:spPr>
          <a:xfrm>
            <a:off x="8458200" y="36576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422 vs 2170 ms</a:t>
            </a:r>
            <a:endParaRPr lang="en-US" sz="2800"/>
          </a:p>
        </p:txBody>
      </p:sp>
      <p:sp>
        <p:nvSpPr>
          <p:cNvPr id="16" name="Text 13"/>
          <p:cNvSpPr/>
          <p:nvPr/>
        </p:nvSpPr>
        <p:spPr>
          <a:xfrm>
            <a:off x="8458200" y="42062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Cloud took about 5.1× longer</a:t>
            </a:r>
            <a:endParaRPr lang="en-US"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 Formulation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 = X / L + D / R</a:t>
            </a:r>
            <a:endParaRPr lang="en-US" sz="380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172A"/>
                </a:solidFill>
              </a:rPr>
              <a:t>C = latency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914400" y="26974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40">
                <a:solidFill>
                  <a:srgbClr val="64748B"/>
                </a:solidFill>
              </a:rPr>
              <a:t>X = distance  •  L = bandwidth  •  D = data rate  •  R = computing resources</a:t>
            </a:r>
            <a:endParaRPr lang="en-US" sz="124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0B981"/>
                </a:solidFill>
              </a:rPr>
              <a:t>Edge path</a:t>
            </a:r>
            <a:endParaRPr lang="en-US" sz="1500"/>
          </a:p>
        </p:txBody>
      </p:sp>
      <p:sp>
        <p:nvSpPr>
          <p:cNvPr id="12" name="Shape 10"/>
          <p:cNvSpPr/>
          <p:nvPr/>
        </p:nvSpPr>
        <p:spPr>
          <a:xfrm>
            <a:off x="2103120" y="3822192"/>
            <a:ext cx="2743200" cy="0"/>
          </a:xfrm>
          <a:prstGeom prst="line">
            <a:avLst/>
          </a:prstGeom>
          <a:noFill/>
          <a:ln w="50800">
            <a:solidFill>
              <a:srgbClr val="10B981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2834640" y="4041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0B981"/>
                </a:solidFill>
              </a:rPr>
              <a:t>short X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82296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59E0B"/>
                </a:solidFill>
              </a:rPr>
              <a:t>Cloud path</a:t>
            </a:r>
            <a:endParaRPr lang="en-US" sz="1500"/>
          </a:p>
        </p:txBody>
      </p:sp>
      <p:sp>
        <p:nvSpPr>
          <p:cNvPr id="15" name="Shape 13"/>
          <p:cNvSpPr/>
          <p:nvPr/>
        </p:nvSpPr>
        <p:spPr>
          <a:xfrm>
            <a:off x="2103120" y="4873752"/>
            <a:ext cx="4754880" cy="0"/>
          </a:xfrm>
          <a:prstGeom prst="line">
            <a:avLst/>
          </a:prstGeom>
          <a:noFill/>
          <a:ln w="508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3840480" y="509320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F59E0B"/>
                </a:solidFill>
              </a:rPr>
              <a:t>large internet X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7360920" y="1508760"/>
            <a:ext cx="3886200" cy="443484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768096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increases delay?</a:t>
            </a:r>
            <a:endParaRPr lang="en-US" sz="1800"/>
          </a:p>
        </p:txBody>
      </p:sp>
      <p:sp>
        <p:nvSpPr>
          <p:cNvPr id="19" name="Shape 17"/>
          <p:cNvSpPr/>
          <p:nvPr/>
        </p:nvSpPr>
        <p:spPr>
          <a:xfrm>
            <a:off x="7699248" y="2574036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Text 18"/>
          <p:cNvSpPr/>
          <p:nvPr/>
        </p:nvSpPr>
        <p:spPr>
          <a:xfrm>
            <a:off x="7863840" y="2514600"/>
            <a:ext cx="3154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</a:rPr>
              <a:t>Edge reduces the distance X because processing is local.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7699248" y="3305556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7863840" y="3246120"/>
            <a:ext cx="3154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20">
                <a:solidFill>
                  <a:srgbClr val="1E293B"/>
                </a:solidFill>
              </a:rPr>
              <a:t>A shared network lowers available bandwidth L.</a:t>
            </a:r>
            <a:endParaRPr lang="en-US" sz="1220"/>
          </a:p>
        </p:txBody>
      </p:sp>
      <p:sp>
        <p:nvSpPr>
          <p:cNvPr id="23" name="Shape 21"/>
          <p:cNvSpPr/>
          <p:nvPr/>
        </p:nvSpPr>
        <p:spPr>
          <a:xfrm>
            <a:off x="7699248" y="4037076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Text 22"/>
          <p:cNvSpPr/>
          <p:nvPr/>
        </p:nvSpPr>
        <p:spPr>
          <a:xfrm>
            <a:off x="7863840" y="3977640"/>
            <a:ext cx="3154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</a:rPr>
              <a:t>Cloud routes are longer, so strict millisecond response is harder.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0F1C2E"/>
          </a:solidFill>
          <a:ln w="12700">
            <a:solidFill>
              <a:srgbClr val="0F1C2E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3" name="Text 1"/>
          <p:cNvSpPr/>
          <p:nvPr/>
        </p:nvSpPr>
        <p:spPr>
          <a:xfrm>
            <a:off x="609600" y="0"/>
            <a:ext cx="9509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vs. Cloud: Full Comparison</a:t>
            </a:r>
            <a:endParaRPr lang="en-US" sz="3467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223678"/>
              </p:ext>
            </p:extLst>
          </p:nvPr>
        </p:nvGraphicFramePr>
        <p:xfrm>
          <a:off x="475881" y="1923189"/>
          <a:ext cx="11338560" cy="3998976"/>
        </p:xfrm>
        <a:graphic>
          <a:graphicData uri="http://schemas.openxmlformats.org/drawingml/2006/table">
            <a:tbl>
              <a:tblPr/>
              <a:tblGrid>
                <a:gridCol w="4693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2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Computing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Computing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2D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(stable network)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(shared network)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2,170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advantage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1D4E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5.1× – 5.4× faster in every test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operation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Suitable for real-time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dependency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network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required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&amp; analysis scale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High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" name="Text 34"/>
          <p:cNvSpPr/>
          <p:nvPr/>
        </p:nvSpPr>
        <p:spPr>
          <a:xfrm>
            <a:off x="854915" y="6268161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>
                <a:solidFill>
                  <a:srgbClr val="0B172A"/>
                </a:solidFill>
              </a:rPr>
              <a:t>Edge is best for fast local actions. Cloud is best for heavy storage, training, reporting, and long-term analytics.</a:t>
            </a:r>
            <a:endParaRPr lang="en-US" sz="15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33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Benefits</a:t>
            </a:r>
            <a:endParaRPr lang="en-US" sz="4533" dirty="0"/>
          </a:p>
        </p:txBody>
      </p:sp>
      <p:sp>
        <p:nvSpPr>
          <p:cNvPr id="3" name="Shape 1"/>
          <p:cNvSpPr/>
          <p:nvPr/>
        </p:nvSpPr>
        <p:spPr>
          <a:xfrm>
            <a:off x="548640" y="134112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4" name="Shape 2"/>
          <p:cNvSpPr/>
          <p:nvPr/>
        </p:nvSpPr>
        <p:spPr>
          <a:xfrm>
            <a:off x="816864" y="160934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016" y="1682496"/>
            <a:ext cx="609600" cy="60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43456" y="164592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Latency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686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near the source cuts response times to milliseconds — essential for autonomous vehicles, robotics, and emergency healthcare.</a:t>
            </a:r>
            <a:endParaRPr lang="en-US" sz="1467" dirty="0"/>
          </a:p>
        </p:txBody>
      </p:sp>
      <p:sp>
        <p:nvSpPr>
          <p:cNvPr id="8" name="Shape 5"/>
          <p:cNvSpPr/>
          <p:nvPr/>
        </p:nvSpPr>
        <p:spPr>
          <a:xfrm>
            <a:off x="6461760" y="134112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9" name="Shape 6"/>
          <p:cNvSpPr/>
          <p:nvPr/>
        </p:nvSpPr>
        <p:spPr>
          <a:xfrm>
            <a:off x="6729984" y="160934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1682496"/>
            <a:ext cx="609600" cy="609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56576" y="164592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Reduced Bandwidth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672998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key results (alarms, status updates) travel to the cloud. Raw data stays local, saving network capacity.</a:t>
            </a:r>
            <a:endParaRPr lang="en-US" sz="1467" dirty="0"/>
          </a:p>
        </p:txBody>
      </p:sp>
      <p:sp>
        <p:nvSpPr>
          <p:cNvPr id="13" name="Shape 9"/>
          <p:cNvSpPr/>
          <p:nvPr/>
        </p:nvSpPr>
        <p:spPr>
          <a:xfrm>
            <a:off x="548640" y="402336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4" name="Shape 10"/>
          <p:cNvSpPr/>
          <p:nvPr/>
        </p:nvSpPr>
        <p:spPr>
          <a:xfrm>
            <a:off x="816864" y="429158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016" y="4364736"/>
            <a:ext cx="609600" cy="609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43456" y="432816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Privacy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81686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(e.g. patient records) stays on-premise. Only necessary summaries reach the cloud.</a:t>
            </a:r>
            <a:endParaRPr lang="en-US" sz="1467" dirty="0"/>
          </a:p>
        </p:txBody>
      </p:sp>
      <p:sp>
        <p:nvSpPr>
          <p:cNvPr id="18" name="Shape 13"/>
          <p:cNvSpPr/>
          <p:nvPr/>
        </p:nvSpPr>
        <p:spPr>
          <a:xfrm>
            <a:off x="6461760" y="402336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9" name="Shape 14"/>
          <p:cNvSpPr/>
          <p:nvPr/>
        </p:nvSpPr>
        <p:spPr>
          <a:xfrm>
            <a:off x="6729984" y="429158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36" y="4364736"/>
            <a:ext cx="609600" cy="609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56576" y="432816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Reliability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72998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systems continue operating when cloud connectivity is poor or lost — critical for remote factories.</a:t>
            </a:r>
            <a:endParaRPr lang="en-US" sz="1467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533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Areas</a:t>
            </a:r>
            <a:endParaRPr lang="en-US" sz="4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87680" y="13411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776" y="1560576"/>
            <a:ext cx="682752" cy="6827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768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of Things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487680" y="28285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homes, factories &amp; agriculture process sensor data locally for instant reactions.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65120" y="13411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3216" y="1560576"/>
            <a:ext cx="682752" cy="682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6512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2865120" y="28285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and LIDAR data processed on-vehicle — cloud round-trips are too slow for safety.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242560" y="13411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656" y="1560576"/>
            <a:ext cx="682752" cy="6827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24256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9"/>
          <p:cNvSpPr/>
          <p:nvPr/>
        </p:nvSpPr>
        <p:spPr>
          <a:xfrm>
            <a:off x="5242560" y="28285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 and patient monitors trigger local emergency alerts within milliseconds.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1682496" y="37795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0592" y="3998976"/>
            <a:ext cx="682752" cy="6827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82496" y="47792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Automation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1682496" y="52669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detection, quality control, and real-time machine monitoring on the factory floor.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4059936" y="37795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2" y="3998976"/>
            <a:ext cx="682752" cy="68275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059936" y="47792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Cities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4059936" y="52669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sensors and cameras analysed locally to reduce congestion and improve safety.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16"/>
          <p:cNvSpPr/>
          <p:nvPr/>
        </p:nvSpPr>
        <p:spPr>
          <a:xfrm>
            <a:off x="8461248" y="1280160"/>
            <a:ext cx="3243072" cy="4876800"/>
          </a:xfrm>
          <a:prstGeom prst="roundRect">
            <a:avLst>
              <a:gd name="adj" fmla="val 3000"/>
            </a:avLst>
          </a:prstGeom>
          <a:solidFill>
            <a:srgbClr val="031E30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6949440" y="146304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8652387" y="2133600"/>
            <a:ext cx="2869053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domain, the unifying theme is the same: decisions that matter happen in real time, and real time means milliseconds — not the 500 ms+ of a cloud round-trip.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5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 bridges the gap between raw sensor data and timely, local intelligence.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33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Limitations</a:t>
            </a:r>
            <a:endParaRPr lang="en-US" sz="4533" dirty="0"/>
          </a:p>
        </p:txBody>
      </p:sp>
      <p:sp>
        <p:nvSpPr>
          <p:cNvPr id="3" name="Shape 1"/>
          <p:cNvSpPr/>
          <p:nvPr/>
        </p:nvSpPr>
        <p:spPr>
          <a:xfrm>
            <a:off x="487680" y="134112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4" name="Shape 2"/>
          <p:cNvSpPr/>
          <p:nvPr/>
        </p:nvSpPr>
        <p:spPr>
          <a:xfrm>
            <a:off x="755904" y="160934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56" y="1682496"/>
            <a:ext cx="609600" cy="60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82496" y="164592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Risks</a:t>
            </a:r>
            <a:endParaRPr lang="en-US" sz="1867" dirty="0"/>
          </a:p>
        </p:txBody>
      </p:sp>
      <p:sp>
        <p:nvSpPr>
          <p:cNvPr id="7" name="Text 4"/>
          <p:cNvSpPr/>
          <p:nvPr/>
        </p:nvSpPr>
        <p:spPr>
          <a:xfrm>
            <a:off x="75590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devices are distributed across many sites, making centralised protection difficult. A compromised device can impact the whole system.</a:t>
            </a:r>
            <a:endParaRPr lang="en-US" sz="1467" dirty="0"/>
          </a:p>
        </p:txBody>
      </p:sp>
      <p:sp>
        <p:nvSpPr>
          <p:cNvPr id="8" name="Shape 5"/>
          <p:cNvSpPr/>
          <p:nvPr/>
        </p:nvSpPr>
        <p:spPr>
          <a:xfrm>
            <a:off x="6400800" y="134112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9" name="Shape 6"/>
          <p:cNvSpPr/>
          <p:nvPr/>
        </p:nvSpPr>
        <p:spPr>
          <a:xfrm>
            <a:off x="6669024" y="160934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176" y="1682496"/>
            <a:ext cx="609600" cy="609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95616" y="164592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Resources</a:t>
            </a:r>
            <a:endParaRPr lang="en-US" sz="1867" dirty="0"/>
          </a:p>
        </p:txBody>
      </p:sp>
      <p:sp>
        <p:nvSpPr>
          <p:cNvPr id="12" name="Text 8"/>
          <p:cNvSpPr/>
          <p:nvPr/>
        </p:nvSpPr>
        <p:spPr>
          <a:xfrm>
            <a:off x="666902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hardware has less compute, memory, and storage than cloud servers. Applications must be carefully optimised.</a:t>
            </a:r>
            <a:endParaRPr lang="en-US" sz="1467" dirty="0"/>
          </a:p>
        </p:txBody>
      </p:sp>
      <p:sp>
        <p:nvSpPr>
          <p:cNvPr id="13" name="Shape 9"/>
          <p:cNvSpPr/>
          <p:nvPr/>
        </p:nvSpPr>
        <p:spPr>
          <a:xfrm>
            <a:off x="487680" y="402336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4" name="Shape 10"/>
          <p:cNvSpPr/>
          <p:nvPr/>
        </p:nvSpPr>
        <p:spPr>
          <a:xfrm>
            <a:off x="755904" y="429158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056" y="4364736"/>
            <a:ext cx="609600" cy="609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82496" y="432816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Complexity</a:t>
            </a:r>
            <a:endParaRPr lang="en-US" sz="1867" dirty="0"/>
          </a:p>
        </p:txBody>
      </p:sp>
      <p:sp>
        <p:nvSpPr>
          <p:cNvPr id="17" name="Text 12"/>
          <p:cNvSpPr/>
          <p:nvPr/>
        </p:nvSpPr>
        <p:spPr>
          <a:xfrm>
            <a:off x="75590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software updates, monitoring, and fault detection across hundreds of edge nodes is a significant operational challenge.</a:t>
            </a:r>
            <a:endParaRPr lang="en-US" sz="1467" dirty="0"/>
          </a:p>
        </p:txBody>
      </p:sp>
      <p:sp>
        <p:nvSpPr>
          <p:cNvPr id="18" name="Shape 13"/>
          <p:cNvSpPr/>
          <p:nvPr/>
        </p:nvSpPr>
        <p:spPr>
          <a:xfrm>
            <a:off x="6400800" y="402336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9" name="Shape 14"/>
          <p:cNvSpPr/>
          <p:nvPr/>
        </p:nvSpPr>
        <p:spPr>
          <a:xfrm>
            <a:off x="6669024" y="429158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2176" y="4364736"/>
            <a:ext cx="609600" cy="609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595616" y="432816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Consistency</a:t>
            </a:r>
            <a:endParaRPr lang="en-US" sz="1867" dirty="0"/>
          </a:p>
        </p:txBody>
      </p:sp>
      <p:sp>
        <p:nvSpPr>
          <p:cNvPr id="22" name="Text 16"/>
          <p:cNvSpPr/>
          <p:nvPr/>
        </p:nvSpPr>
        <p:spPr>
          <a:xfrm>
            <a:off x="666902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data at multiple sites makes it harder to maintain a single consistent view between edge and cloud systems.</a:t>
            </a:r>
            <a:endParaRPr lang="en-US" sz="146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1231</Words>
  <Application>Microsoft Office PowerPoint</Application>
  <PresentationFormat>Widescreen</PresentationFormat>
  <Paragraphs>206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Consolas</vt:lpstr>
      <vt:lpstr>Courier New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vs Cloud Latency Test</dc:title>
  <dc:subject>Edge vs Cloud Latency Test</dc:subject>
  <dc:creator>OpenAI</dc:creator>
  <cp:lastModifiedBy>M R Sohan</cp:lastModifiedBy>
  <cp:revision>5</cp:revision>
  <dcterms:created xsi:type="dcterms:W3CDTF">2026-06-22T21:01:43Z</dcterms:created>
  <dcterms:modified xsi:type="dcterms:W3CDTF">2026-06-23T09:42:15Z</dcterms:modified>
</cp:coreProperties>
</file>