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61" r:id="rId3"/>
    <p:sldId id="270" r:id="rId4"/>
    <p:sldId id="257" r:id="rId5"/>
    <p:sldId id="268" r:id="rId6"/>
    <p:sldId id="258" r:id="rId7"/>
    <p:sldId id="259" r:id="rId8"/>
    <p:sldId id="260" r:id="rId9"/>
    <p:sldId id="263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computing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Home Wi‑Fi</c:v>
                </c:pt>
                <c:pt idx="1">
                  <c:v>HSHL central Wi‑Fi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3A-4DA0-921F-9F809ED0B2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 computing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Home Wi‑Fi</c:v>
                </c:pt>
                <c:pt idx="1">
                  <c:v>HSHL central Wi‑Fi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510</c:v>
                </c:pt>
                <c:pt idx="1">
                  <c:v>2170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3A-4DA0-921F-9F809ED0B2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0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layer from bottom to top: devices create data, edge reacts quickly, fog helps aggregate, cloud stores and analyses for the long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and cloud are complementary, not competing. The hybrid model uses each for what it does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difference is not just technology. The main question is where the data is processed. Cloud is far but powerful. Edge is close and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latency means the full round-trip time. The test used a mobile phone as the client, a laptop as the local edge server, and an external internet server for cloud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D3CC-7D84-F18C-673B-6219129F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12D27-7ADB-1645-DBB0-3D13C0B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42DB5-B9B2-A733-A73E-B8C58624D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that in the edge test, the laptop acts like a small local server. The phone sends data over the same Wi-Fi network, the laptop processes it, and the response comes back without going to a remote cloud server.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4C515-0AE6-2916-1A41-FD0978E45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40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in the edge test, the laptop acts like a small local server. The phone sends data over the same Wi-Fi network, the laptop processes it, and the response comes back without going to a remote cloud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cloud test used a remote HTTP server. The request must go through the public internet, reach the server, and return. This adds round-trip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DGE_MASTER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7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746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of Edge Computing</a:t>
            </a:r>
            <a:endParaRPr lang="en-US" sz="2600" dirty="0"/>
          </a:p>
        </p:txBody>
      </p:sp>
      <p:pic>
        <p:nvPicPr>
          <p:cNvPr id="6" name="Image 0" descr="/mnt/data/edge_assets/img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78" y="1379920"/>
            <a:ext cx="6570482" cy="45370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23760" y="1900705"/>
            <a:ext cx="1508760" cy="530352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layer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897112" y="190070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storage, dashboards, model training, ERP/MES reporting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860825"/>
            <a:ext cx="1508760" cy="530352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 layer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897112" y="286082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Buffers and aggregates data between edge and cloud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3820945"/>
            <a:ext cx="1508760" cy="53035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layer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897112" y="382094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processing, AI/fault detection, protocol translation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4781065"/>
            <a:ext cx="1508760" cy="53035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devices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897112" y="4781065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Sensors, cameras, PLCs, robots and IoT modules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vs. Edge Computing</a:t>
            </a:r>
            <a:endParaRPr lang="en-US" sz="4533" dirty="0"/>
          </a:p>
        </p:txBody>
      </p:sp>
      <p:sp>
        <p:nvSpPr>
          <p:cNvPr id="3" name="Shape 1"/>
          <p:cNvSpPr/>
          <p:nvPr/>
        </p:nvSpPr>
        <p:spPr>
          <a:xfrm>
            <a:off x="3962400" y="1280160"/>
            <a:ext cx="3718560" cy="670560"/>
          </a:xfrm>
          <a:prstGeom prst="roundRect">
            <a:avLst>
              <a:gd name="adj" fmla="val 1272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4" name="Text 2"/>
          <p:cNvSpPr/>
          <p:nvPr/>
        </p:nvSpPr>
        <p:spPr>
          <a:xfrm>
            <a:off x="3962400" y="1280160"/>
            <a:ext cx="3718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8046720" y="1280160"/>
            <a:ext cx="3718560" cy="670560"/>
          </a:xfrm>
          <a:prstGeom prst="roundRect">
            <a:avLst>
              <a:gd name="adj" fmla="val 1272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6" name="Text 4"/>
          <p:cNvSpPr/>
          <p:nvPr/>
        </p:nvSpPr>
        <p:spPr>
          <a:xfrm>
            <a:off x="8046720" y="1280160"/>
            <a:ext cx="3718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487680" y="2072640"/>
            <a:ext cx="11216640" cy="707136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8" name="Text 6"/>
          <p:cNvSpPr/>
          <p:nvPr/>
        </p:nvSpPr>
        <p:spPr>
          <a:xfrm>
            <a:off x="609600" y="207264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Location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3962400" y="20726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cloud servers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8046720" y="20726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device/user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87680" y="2804160"/>
            <a:ext cx="1121664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2" name="Text 10"/>
          <p:cNvSpPr/>
          <p:nvPr/>
        </p:nvSpPr>
        <p:spPr>
          <a:xfrm>
            <a:off x="609600" y="280416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3962400" y="280416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(≥ 500 ms)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8046720" y="280416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 100 ms local)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87680" y="3535680"/>
            <a:ext cx="11216640" cy="707136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16" name="Text 14"/>
          <p:cNvSpPr/>
          <p:nvPr/>
        </p:nvSpPr>
        <p:spPr>
          <a:xfrm>
            <a:off x="609600" y="353568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Use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3962400" y="353568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all data to cloud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8046720" y="353568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only summaries sent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4267200"/>
            <a:ext cx="1121664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0" name="Text 18"/>
          <p:cNvSpPr/>
          <p:nvPr/>
        </p:nvSpPr>
        <p:spPr>
          <a:xfrm>
            <a:off x="609600" y="426720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Capacity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3962400" y="426720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(unlimited)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8046720" y="426720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(local storage)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487680" y="4998720"/>
            <a:ext cx="11216640" cy="707136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4" name="Text 22"/>
          <p:cNvSpPr/>
          <p:nvPr/>
        </p:nvSpPr>
        <p:spPr>
          <a:xfrm>
            <a:off x="609600" y="499872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3962400" y="499872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046720" y="499872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487680" y="5730240"/>
            <a:ext cx="11216640" cy="707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28" name="Text 26"/>
          <p:cNvSpPr/>
          <p:nvPr/>
        </p:nvSpPr>
        <p:spPr>
          <a:xfrm>
            <a:off x="609600" y="5730240"/>
            <a:ext cx="32308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3962400" y="57302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· ML training · ERP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8046720" y="5730240"/>
            <a:ext cx="37185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· Safety</a:t>
            </a:r>
            <a:endParaRPr lang="en-US" sz="14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9669" y="401089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computing vs. Edge computing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4709160" cy="502920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computing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711696" y="1298448"/>
            <a:ext cx="4709160" cy="50292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location</a:t>
            </a:r>
            <a:endParaRPr lang="en-US" sz="126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057400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cloud server</a:t>
            </a:r>
            <a:endParaRPr lang="en-US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6711696" y="2057400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the device or user</a:t>
            </a:r>
            <a:endParaRPr lang="en-US" sz="127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62072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62072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</a:t>
            </a:r>
            <a:endParaRPr lang="en-US" sz="127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2862072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</a:t>
            </a:r>
            <a:endParaRPr lang="en-US" sz="127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66744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Bandwidth use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raw data sent to cloud</a:t>
            </a:r>
            <a:endParaRPr lang="en-US" sz="127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3666744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data leaves the factory</a:t>
            </a:r>
            <a:endParaRPr lang="en-US" sz="127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71416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471416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storage and long-term analytics</a:t>
            </a:r>
            <a:endParaRPr lang="en-US" sz="127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4471416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local response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test Setup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72A"/>
                </a:solidFill>
              </a:rPr>
              <a:t>Latency Definition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3578047" y="5628131"/>
            <a:ext cx="6035040" cy="3657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E293B"/>
                </a:solidFill>
              </a:rPr>
              <a:t>Time from sending a request until the response is received.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Client device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58368" y="31089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phone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658368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Generated sensor-like data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388620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Edge server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3886200" y="31089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Ubuntu laptop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886200" y="3657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Processed the request locally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7269480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Cloud target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7269480" y="31089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 server</a:t>
            </a:r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72694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External online server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1097280" y="5349240"/>
            <a:ext cx="96926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1005840" y="525780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0698480" y="52578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77240" y="5559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Request sent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10058400" y="5559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Response received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54880" y="4983481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B172A"/>
                </a:solidFill>
              </a:rPr>
              <a:t>Measured latency</a:t>
            </a:r>
            <a:endParaRPr lang="en-US" sz="15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8BDE60-736E-D0C2-FCA8-713757DCD0F8}"/>
              </a:ext>
            </a:extLst>
          </p:cNvPr>
          <p:cNvSpPr txBox="1"/>
          <p:nvPr/>
        </p:nvSpPr>
        <p:spPr>
          <a:xfrm>
            <a:off x="548528" y="1711305"/>
            <a:ext cx="1115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Tested in two environments: </a:t>
            </a:r>
            <a:r>
              <a:rPr lang="en-US"/>
              <a:t>Paderborn home Wi-Fi (stable, private)  ·  HSHL central Wi-Fi (shared, congested)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0459A-53A9-BD5B-5EEF-0B4F2007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DD03136-E4C0-0DAA-28DA-2BD5E6A07FA6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E7F8F0-1F0C-387B-4448-78239C79AF0C}"/>
              </a:ext>
            </a:extLst>
          </p:cNvPr>
          <p:cNvSpPr/>
          <p:nvPr/>
        </p:nvSpPr>
        <p:spPr>
          <a:xfrm>
            <a:off x="1188720" y="2742784"/>
            <a:ext cx="5658889" cy="686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Only “HSHL”  </a:t>
            </a:r>
            <a:r>
              <a:rPr lang="en-US" sz="4000" b="1" dirty="0" err="1">
                <a:solidFill>
                  <a:schemeClr val="accent2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Wifi</a:t>
            </a:r>
            <a:r>
              <a:rPr lang="en-US" sz="4000" b="1" dirty="0">
                <a:solidFill>
                  <a:schemeClr val="accent2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 USER</a:t>
            </a:r>
            <a:endParaRPr lang="en-US" sz="4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48FF9C-25A3-A045-BC25-D28645176F15}"/>
              </a:ext>
            </a:extLst>
          </p:cNvPr>
          <p:cNvSpPr/>
          <p:nvPr/>
        </p:nvSpPr>
        <p:spPr>
          <a:xfrm>
            <a:off x="50292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12924C-D3D3-A054-49F3-F49585B21B4A}"/>
              </a:ext>
            </a:extLst>
          </p:cNvPr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48068-6652-E8D2-22A6-D11BEB80D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534" y="1039091"/>
            <a:ext cx="3574964" cy="46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1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Latency Test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02920" y="6492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7315200" y="4343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Stable local network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7315200" y="466344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 ms</a:t>
            </a:r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7315200" y="5212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Paderborn home Wi‑Fi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960120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Shared network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9601200" y="46634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422 ms</a:t>
            </a:r>
            <a:endParaRPr lang="en-US" sz="2800"/>
          </a:p>
        </p:txBody>
      </p:sp>
      <p:sp>
        <p:nvSpPr>
          <p:cNvPr id="31" name="Text 29"/>
          <p:cNvSpPr/>
          <p:nvPr/>
        </p:nvSpPr>
        <p:spPr>
          <a:xfrm>
            <a:off x="9601200" y="5212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HSHL central Wi‑Fi</a:t>
            </a:r>
            <a:endParaRPr lang="en-US" sz="105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85871834-A737-5935-230C-D6D183FD7CD8}"/>
              </a:ext>
            </a:extLst>
          </p:cNvPr>
          <p:cNvSpPr/>
          <p:nvPr/>
        </p:nvSpPr>
        <p:spPr>
          <a:xfrm>
            <a:off x="685800" y="3840545"/>
            <a:ext cx="3946767" cy="2464424"/>
          </a:xfrm>
          <a:prstGeom prst="roundRect">
            <a:avLst>
              <a:gd name="adj" fmla="val 2410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9DCD7F8F-A20B-0EF4-55BB-FE1CC7778FFD}"/>
              </a:ext>
            </a:extLst>
          </p:cNvPr>
          <p:cNvSpPr/>
          <p:nvPr/>
        </p:nvSpPr>
        <p:spPr>
          <a:xfrm>
            <a:off x="1259905" y="3950273"/>
            <a:ext cx="2204294" cy="36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Procedure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303A1E8-3446-A622-FD51-EC338289595B}"/>
              </a:ext>
            </a:extLst>
          </p:cNvPr>
          <p:cNvSpPr/>
          <p:nvPr/>
        </p:nvSpPr>
        <p:spPr>
          <a:xfrm>
            <a:off x="823158" y="4243804"/>
            <a:ext cx="3218688" cy="1142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running Python Flask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endParaRPr lang="en-US" sz="1200"/>
          </a:p>
          <a:p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→ http://192.168.178.78:5000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log:</a:t>
            </a:r>
            <a:endParaRPr lang="en-US" sz="1200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B6309E4E-9632-44EB-B7B7-60EC75C3457F}"/>
              </a:ext>
            </a:extLst>
          </p:cNvPr>
          <p:cNvSpPr/>
          <p:nvPr/>
        </p:nvSpPr>
        <p:spPr>
          <a:xfrm>
            <a:off x="823158" y="5139387"/>
            <a:ext cx="3294690" cy="682095"/>
          </a:xfrm>
          <a:prstGeom prst="roundRect">
            <a:avLst>
              <a:gd name="adj" fmla="val 8333"/>
            </a:avLst>
          </a:prstGeom>
          <a:solidFill>
            <a:srgbClr val="162440"/>
          </a:solidFill>
          <a:ln/>
        </p:spPr>
        <p:txBody>
          <a:bodyPr/>
          <a:lstStyle/>
          <a:p>
            <a:endParaRPr lang="en-DE" sz="240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8ED202C2-BBA9-962D-5181-3572D42DF858}"/>
              </a:ext>
            </a:extLst>
          </p:cNvPr>
          <p:cNvSpPr/>
          <p:nvPr/>
        </p:nvSpPr>
        <p:spPr>
          <a:xfrm>
            <a:off x="917448" y="5017115"/>
            <a:ext cx="3577467" cy="789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/process HTTP/1.1" 200</a:t>
            </a:r>
            <a:endParaRPr lang="en-US" sz="1200"/>
          </a:p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192.168.178.117 → .78:5000</a:t>
            </a:r>
            <a:endParaRPr lang="en-US" sz="120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96C6CB1F-073B-DCD1-C084-2369A9603D3E}"/>
              </a:ext>
            </a:extLst>
          </p:cNvPr>
          <p:cNvSpPr/>
          <p:nvPr/>
        </p:nvSpPr>
        <p:spPr>
          <a:xfrm>
            <a:off x="874776" y="5676754"/>
            <a:ext cx="4583700" cy="51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200 OK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successful edge communication.</a:t>
            </a:r>
            <a:endParaRPr lang="en-US" sz="12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6AF6F-B879-93F2-F14D-F4379335E0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0744" r="-266" b="20744"/>
          <a:stretch>
            <a:fillRect/>
          </a:stretch>
        </p:blipFill>
        <p:spPr bwMode="auto">
          <a:xfrm>
            <a:off x="2599886" y="1306836"/>
            <a:ext cx="7046075" cy="20586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Latency Test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1051560" y="4379976"/>
            <a:ext cx="48463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DCF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-w "Total time: %{time_total} seconds"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DCF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https://httpbin.org/get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7040880" y="4160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Measured cloud latency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040880" y="44805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510 ms</a:t>
            </a:r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932688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Worst shared network result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9326880" y="44805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2170 ms</a:t>
            </a:r>
            <a:endParaRPr lang="en-US" sz="2800"/>
          </a:p>
        </p:txBody>
      </p:sp>
      <p:sp>
        <p:nvSpPr>
          <p:cNvPr id="26" name="Text 24"/>
          <p:cNvSpPr/>
          <p:nvPr/>
        </p:nvSpPr>
        <p:spPr>
          <a:xfrm>
            <a:off x="9436018" y="5029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HSHL central Wi‑Fi</a:t>
            </a:r>
            <a:endParaRPr lang="en-US" sz="105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8203E6DC-67BD-FB27-94D8-1F598C2ACDB4}"/>
              </a:ext>
            </a:extLst>
          </p:cNvPr>
          <p:cNvSpPr/>
          <p:nvPr/>
        </p:nvSpPr>
        <p:spPr>
          <a:xfrm>
            <a:off x="670560" y="3766835"/>
            <a:ext cx="3517982" cy="2394698"/>
          </a:xfrm>
          <a:prstGeom prst="roundRect">
            <a:avLst>
              <a:gd name="adj" fmla="val 2410"/>
            </a:avLst>
          </a:prstGeom>
          <a:solidFill>
            <a:srgbClr val="FFF7ED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sz="240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B0AF9283-CA5D-5EA0-A88D-234AA2F85E86}"/>
              </a:ext>
            </a:extLst>
          </p:cNvPr>
          <p:cNvSpPr/>
          <p:nvPr/>
        </p:nvSpPr>
        <p:spPr>
          <a:xfrm>
            <a:off x="1119939" y="3882576"/>
            <a:ext cx="2204294" cy="36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kern="0" spc="267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Procedure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3A74130-AF13-4964-DD0F-F2EFA7FA2CF0}"/>
              </a:ext>
            </a:extLst>
          </p:cNvPr>
          <p:cNvSpPr/>
          <p:nvPr/>
        </p:nvSpPr>
        <p:spPr>
          <a:xfrm>
            <a:off x="823158" y="4243804"/>
            <a:ext cx="3218688" cy="11429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via public internet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endParaRPr lang="en-US" sz="1200"/>
          </a:p>
          <a:p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https://httpbin.org/get</a:t>
            </a:r>
            <a:endParaRPr lang="en-US" sz="1200"/>
          </a:p>
          <a:p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</a:t>
            </a:r>
            <a:endParaRPr lang="en-US" sz="120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A1FD7C37-ACC6-EE8F-2F59-30C95481428D}"/>
              </a:ext>
            </a:extLst>
          </p:cNvPr>
          <p:cNvSpPr/>
          <p:nvPr/>
        </p:nvSpPr>
        <p:spPr>
          <a:xfrm>
            <a:off x="823158" y="5139387"/>
            <a:ext cx="2641041" cy="682095"/>
          </a:xfrm>
          <a:prstGeom prst="roundRect">
            <a:avLst>
              <a:gd name="adj" fmla="val 8333"/>
            </a:avLst>
          </a:prstGeom>
          <a:solidFill>
            <a:srgbClr val="162440"/>
          </a:solidFill>
          <a:ln/>
        </p:spPr>
        <p:txBody>
          <a:bodyPr/>
          <a:lstStyle/>
          <a:p>
            <a:endParaRPr lang="en-DE" sz="240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9785384-81FF-FD73-8060-D2427F10BA07}"/>
              </a:ext>
            </a:extLst>
          </p:cNvPr>
          <p:cNvSpPr/>
          <p:nvPr/>
        </p:nvSpPr>
        <p:spPr>
          <a:xfrm>
            <a:off x="870302" y="5070057"/>
            <a:ext cx="2546751" cy="789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-w "%{</a:t>
            </a:r>
            <a:r>
              <a:rPr lang="en-US" sz="1200" err="1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time_total</a:t>
            </a:r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}s"</a:t>
            </a:r>
            <a:endParaRPr lang="en-US" sz="1200"/>
          </a:p>
          <a:p>
            <a:r>
              <a:rPr lang="en-US" sz="1200">
                <a:solidFill>
                  <a:srgbClr val="7D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https://httpbin.org/get</a:t>
            </a:r>
            <a:endParaRPr lang="en-US" sz="120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C0D297FE-7D2A-BAA2-EB95-6A8726BC657E}"/>
              </a:ext>
            </a:extLst>
          </p:cNvPr>
          <p:cNvSpPr/>
          <p:nvPr/>
        </p:nvSpPr>
        <p:spPr>
          <a:xfrm>
            <a:off x="823158" y="5738348"/>
            <a:ext cx="3269717" cy="513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0.510079 s = </a:t>
            </a:r>
            <a:r>
              <a:rPr lang="en-US" sz="120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</a:t>
            </a:r>
            <a:r>
              <a:rPr lang="en-US" sz="1200" b="1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internet round-trip.</a:t>
            </a:r>
            <a:endParaRPr lang="en-US" sz="120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CC7BCEA-7C16-450C-0713-96C5488C24AF}"/>
              </a:ext>
            </a:extLst>
          </p:cNvPr>
          <p:cNvSpPr/>
          <p:nvPr/>
        </p:nvSpPr>
        <p:spPr>
          <a:xfrm>
            <a:off x="7040880" y="503018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Paderborn home Wi‑Fi</a:t>
            </a:r>
            <a:endParaRPr lang="en-US" sz="10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482F7-053A-6314-82D6-CFADE3A2A9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4322" r="400" b="14070"/>
          <a:stretch>
            <a:fillRect/>
          </a:stretch>
        </p:blipFill>
        <p:spPr bwMode="auto">
          <a:xfrm>
            <a:off x="2429551" y="810183"/>
            <a:ext cx="7639921" cy="29109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Results: Edge vs Cloud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30352" y="8686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480155006"/>
              </p:ext>
            </p:extLst>
          </p:nvPr>
        </p:nvGraphicFramePr>
        <p:xfrm>
          <a:off x="731520" y="1508760"/>
          <a:ext cx="6675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>
                <a:solidFill>
                  <a:srgbClr val="64748B"/>
                </a:solidFill>
              </a:rPr>
              <a:t>Latency in milliseconds (lower is better)</a:t>
            </a:r>
            <a:endParaRPr lang="en-US" sz="1080"/>
          </a:p>
        </p:txBody>
      </p:sp>
      <p:sp>
        <p:nvSpPr>
          <p:cNvPr id="10" name="Shape 7"/>
          <p:cNvSpPr/>
          <p:nvPr/>
        </p:nvSpPr>
        <p:spPr>
          <a:xfrm>
            <a:off x="8001000" y="1508760"/>
            <a:ext cx="0" cy="43434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845820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Home Wi‑Fi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458200" y="20116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 vs 510 ms</a:t>
            </a:r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8458200" y="2560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Cloud took about 5.4× longer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8458200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64748B"/>
                </a:solidFill>
              </a:rPr>
              <a:t>HSHL Wi‑Fi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8458200" y="36576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422 vs 2170 ms</a:t>
            </a:r>
            <a:endParaRPr lang="en-US" sz="2800"/>
          </a:p>
        </p:txBody>
      </p:sp>
      <p:sp>
        <p:nvSpPr>
          <p:cNvPr id="16" name="Text 13"/>
          <p:cNvSpPr/>
          <p:nvPr/>
        </p:nvSpPr>
        <p:spPr>
          <a:xfrm>
            <a:off x="8458200" y="4206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</a:rPr>
              <a:t>Cloud took about 5.1× longer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Formulation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1138428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X / L + D / R</a:t>
            </a:r>
            <a:endParaRPr lang="en-US" sz="380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72A"/>
                </a:solidFill>
              </a:rPr>
              <a:t>C = latency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>
                <a:solidFill>
                  <a:srgbClr val="64748B"/>
                </a:solidFill>
              </a:rPr>
              <a:t>X = distance  •  L = bandwidth  •  D = data rate  •  R = computing resources</a:t>
            </a:r>
            <a:endParaRPr lang="en-US" sz="124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981"/>
                </a:solidFill>
              </a:rPr>
              <a:t>Edge path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2103120" y="3822192"/>
            <a:ext cx="2743200" cy="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2834640" y="4041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0B981"/>
                </a:solidFill>
              </a:rPr>
              <a:t>short X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9E0B"/>
                </a:solidFill>
              </a:rPr>
              <a:t>Cloud path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2103120" y="4873752"/>
            <a:ext cx="475488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840480" y="5093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59E0B"/>
                </a:solidFill>
              </a:rPr>
              <a:t>large internet X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7360920" y="1508760"/>
            <a:ext cx="3886200" cy="443484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68096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B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increases delay?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7699248" y="2574036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Edge reduces the distance X because processing is local.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7699248" y="3305556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863840" y="324612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>
                <a:solidFill>
                  <a:srgbClr val="1E293B"/>
                </a:solidFill>
              </a:rPr>
              <a:t>A shared network lowers available bandwidth L.</a:t>
            </a:r>
            <a:endParaRPr lang="en-US" sz="1220"/>
          </a:p>
        </p:txBody>
      </p:sp>
      <p:sp>
        <p:nvSpPr>
          <p:cNvPr id="23" name="Shape 21"/>
          <p:cNvSpPr/>
          <p:nvPr/>
        </p:nvSpPr>
        <p:spPr>
          <a:xfrm>
            <a:off x="7699248" y="4037076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7863840" y="397764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</a:rPr>
              <a:t>Cloud routes are longer, so strict millisecond response is harder.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  <p:txBody>
          <a:bodyPr/>
          <a:lstStyle/>
          <a:p>
            <a:endParaRPr lang="en-DE" sz="240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vs. Cloud: Full Comparison</a:t>
            </a:r>
            <a:endParaRPr lang="en-US" sz="3467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223678"/>
              </p:ext>
            </p:extLst>
          </p:nvPr>
        </p:nvGraphicFramePr>
        <p:xfrm>
          <a:off x="475881" y="1923189"/>
          <a:ext cx="11338560" cy="3998976"/>
        </p:xfrm>
        <a:graphic>
          <a:graphicData uri="http://schemas.openxmlformats.org/drawingml/2006/table">
            <a:tbl>
              <a:tblPr/>
              <a:tblGrid>
                <a:gridCol w="469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Computing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Computing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2D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(stable network)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(shared network)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2,170 ms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advantage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5.1× – 5.4× faster in every test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operation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for real-time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dependency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network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required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analysis scale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High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Text 34"/>
          <p:cNvSpPr/>
          <p:nvPr/>
        </p:nvSpPr>
        <p:spPr>
          <a:xfrm>
            <a:off x="854915" y="6268161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B172A"/>
                </a:solidFill>
              </a:rPr>
              <a:t>Edge is best for fast local actions. Cloud is best for heavy storage, training, reporting, and long-term analytics.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860</Words>
  <Application>Microsoft Office PowerPoint</Application>
  <PresentationFormat>Widescreen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vs Cloud Latency Test</dc:title>
  <dc:subject>Edge vs Cloud Latency Test</dc:subject>
  <dc:creator>OpenAI</dc:creator>
  <cp:lastModifiedBy>M R Sohan</cp:lastModifiedBy>
  <cp:revision>4</cp:revision>
  <dcterms:created xsi:type="dcterms:W3CDTF">2026-06-22T21:01:43Z</dcterms:created>
  <dcterms:modified xsi:type="dcterms:W3CDTF">2026-06-23T09:30:36Z</dcterms:modified>
</cp:coreProperties>
</file>