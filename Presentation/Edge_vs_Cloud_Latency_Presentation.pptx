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7" r:id="rId2"/>
    <p:sldId id="258" r:id="rId3"/>
    <p:sldId id="259" r:id="rId4"/>
    <p:sldId id="260" r:id="rId5"/>
    <p:sldId id="263" r:id="rId6"/>
    <p:sldId id="267"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Edge computing</c:v>
                </c:pt>
              </c:strCache>
            </c:strRef>
          </c:tx>
          <c:spPr>
            <a:solidFill>
              <a:srgbClr val="14B8A6"/>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Home Wi‑Fi</c:v>
                </c:pt>
                <c:pt idx="1">
                  <c:v>HSHL central Wi‑Fi</c:v>
                </c:pt>
              </c:strCache>
            </c:strRef>
          </c:cat>
          <c:val>
            <c:numRef>
              <c:f>Sheet1!$B$2:$B$3</c:f>
              <c:numCache>
                <c:formatCode>General</c:formatCode>
                <c:ptCount val="2"/>
                <c:pt idx="0">
                  <c:v>95</c:v>
                </c:pt>
                <c:pt idx="1">
                  <c:v>422</c:v>
                </c:pt>
              </c:numCache>
            </c:numRef>
          </c:val>
          <c:extLst>
            <c:ext xmlns:c16="http://schemas.microsoft.com/office/drawing/2014/chart" uri="{C3380CC4-5D6E-409C-BE32-E72D297353CC}">
              <c16:uniqueId val="{00000000-1A3A-4DA0-921F-9F809ED0B234}"/>
            </c:ext>
          </c:extLst>
        </c:ser>
        <c:ser>
          <c:idx val="1"/>
          <c:order val="1"/>
          <c:tx>
            <c:strRef>
              <c:f>Sheet1!$C$1</c:f>
              <c:strCache>
                <c:ptCount val="1"/>
                <c:pt idx="0">
                  <c:v>Cloud computing</c:v>
                </c:pt>
              </c:strCache>
            </c:strRef>
          </c:tx>
          <c:spPr>
            <a:solidFill>
              <a:srgbClr val="F59E0B"/>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Home Wi‑Fi</c:v>
                </c:pt>
                <c:pt idx="1">
                  <c:v>HSHL central Wi‑Fi</c:v>
                </c:pt>
              </c:strCache>
            </c:strRef>
          </c:cat>
          <c:val>
            <c:numRef>
              <c:f>Sheet1!$C$2:$C$3</c:f>
              <c:numCache>
                <c:formatCode>General</c:formatCode>
                <c:ptCount val="2"/>
                <c:pt idx="0">
                  <c:v>510</c:v>
                </c:pt>
                <c:pt idx="1">
                  <c:v>2170</c:v>
                </c:pt>
              </c:numCache>
            </c:numRef>
          </c:val>
          <c:extLst>
            <c:ext xmlns:c16="http://schemas.microsoft.com/office/drawing/2014/chart" uri="{C3380CC4-5D6E-409C-BE32-E72D297353CC}">
              <c16:uniqueId val="{00000001-1A3A-4DA0-921F-9F809ED0B23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2400"/>
          <c:min val="0"/>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majorUnit val="400"/>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605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that latency means the full round-trip time. The test used a mobile phone as the client, a laptop as the local edge server, and an external internet server for cloud comparison.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that in the edge test, the laptop acts like a small local server. The phone sends data over the same Wi-Fi network, the laptop processes it, and the response comes back without going to a remote cloud server.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that the cloud test used a remote HTTP server. The request must go through the public internet, reach the server, and return. This adds round-trip delay.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chart to show the numbers. At home, edge latency was 95 ms and cloud was 510 ms. At HSHL, edge was 422 ms and cloud was 2170 ms. The direction is the same: edge is lower.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explains the equation in easy words. Edge reduces X because data travels a short local distance. Shared Wi-Fi reduces effective bandwidth, so latency rises. Cloud has a much longer internet route.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Table III from the paper summarises all key dimensions. Notice that storage and analysis scale is the ONE area where cloud wins. This is why the paper recommends a hybrid approach: edge handles all time-sensitive operations, cloud handles everything that doesn't require an immediate response (storage, analytics, AI model retraining).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a:p>
            <a:endParaRPr lang="en-US"/>
          </a:p>
          <a:p>
            <a:endParaRPr lang="en-US"/>
          </a:p>
          <a:p>
            <a:endParaRPr lang="en-US"/>
          </a:p>
          <a:p>
            <a:endParaRPr lang="en-US"/>
          </a:p>
        </p:txBody>
      </p:sp>
      <p:sp>
        <p:nvSpPr>
          <p:cNvPr id="3" name="Shape 1"/>
          <p:cNvSpPr/>
          <p:nvPr/>
        </p:nvSpPr>
        <p:spPr>
          <a:xfrm>
            <a:off x="0" y="0"/>
            <a:ext cx="128016" cy="6858000"/>
          </a:xfrm>
          <a:prstGeom prst="rect">
            <a:avLst/>
          </a:prstGeom>
          <a:solidFill>
            <a:srgbClr val="2563EB"/>
          </a:solidFill>
          <a:ln w="12700">
            <a:solidFill>
              <a:srgbClr val="2563EB">
                <a:alpha val="0"/>
              </a:srgbClr>
            </a:solidFill>
            <a:prstDash val="solid"/>
          </a:ln>
        </p:spPr>
        <p:txBody>
          <a:bodyPr/>
          <a:lstStyle/>
          <a:p>
            <a:endParaRPr lang="en-DE"/>
          </a:p>
        </p:txBody>
      </p:sp>
      <p:sp>
        <p:nvSpPr>
          <p:cNvPr id="4" name="Text 2"/>
          <p:cNvSpPr/>
          <p:nvPr/>
        </p:nvSpPr>
        <p:spPr>
          <a:xfrm>
            <a:off x="502920" y="384048"/>
            <a:ext cx="10881360" cy="438912"/>
          </a:xfrm>
          <a:prstGeom prst="rect">
            <a:avLst/>
          </a:prstGeom>
          <a:noFill/>
          <a:ln/>
        </p:spPr>
        <p:txBody>
          <a:bodyPr wrap="square" lIns="0" tIns="0" rIns="0" bIns="0" rtlCol="0" anchor="ctr">
            <a:normAutofit/>
          </a:bodyPr>
          <a:lstStyle/>
          <a:p>
            <a:pPr marL="0" indent="0">
              <a:buNone/>
            </a:pPr>
            <a:r>
              <a:rPr lang="en-US" sz="2800" b="1">
                <a:solidFill>
                  <a:srgbClr val="0B172A"/>
                </a:solidFill>
                <a:latin typeface="Aptos Display" pitchFamily="34" charset="0"/>
                <a:ea typeface="Aptos Display" pitchFamily="34" charset="-122"/>
                <a:cs typeface="Aptos Display" pitchFamily="34" charset="-120"/>
              </a:rPr>
              <a:t>Latency test Setup</a:t>
            </a:r>
            <a:endParaRPr lang="en-US" sz="2800"/>
          </a:p>
        </p:txBody>
      </p:sp>
      <p:sp>
        <p:nvSpPr>
          <p:cNvPr id="7" name="Text 5"/>
          <p:cNvSpPr/>
          <p:nvPr/>
        </p:nvSpPr>
        <p:spPr>
          <a:xfrm>
            <a:off x="11384280" y="6446520"/>
            <a:ext cx="320040" cy="228600"/>
          </a:xfrm>
          <a:prstGeom prst="rect">
            <a:avLst/>
          </a:prstGeom>
          <a:noFill/>
          <a:ln/>
        </p:spPr>
        <p:txBody>
          <a:bodyPr wrap="square" lIns="0" tIns="0" rIns="0" bIns="0" rtlCol="0" anchor="ctr"/>
          <a:lstStyle/>
          <a:p>
            <a:pPr marL="0" indent="0" algn="r">
              <a:buNone/>
            </a:pPr>
            <a:r>
              <a:rPr lang="en-US" sz="850" b="1">
                <a:solidFill>
                  <a:srgbClr val="64748B"/>
                </a:solidFill>
                <a:latin typeface="Aptos" pitchFamily="34" charset="0"/>
                <a:ea typeface="Aptos" pitchFamily="34" charset="-122"/>
                <a:cs typeface="Aptos" pitchFamily="34" charset="-120"/>
              </a:rPr>
              <a:t>02</a:t>
            </a:r>
            <a:endParaRPr lang="en-US" sz="850"/>
          </a:p>
        </p:txBody>
      </p:sp>
      <p:sp>
        <p:nvSpPr>
          <p:cNvPr id="8" name="Text 6"/>
          <p:cNvSpPr/>
          <p:nvPr/>
        </p:nvSpPr>
        <p:spPr>
          <a:xfrm>
            <a:off x="658368" y="1417320"/>
            <a:ext cx="3474720" cy="301752"/>
          </a:xfrm>
          <a:prstGeom prst="rect">
            <a:avLst/>
          </a:prstGeom>
          <a:noFill/>
          <a:ln/>
        </p:spPr>
        <p:txBody>
          <a:bodyPr wrap="square" lIns="0" tIns="0" rIns="0" bIns="0" rtlCol="0" anchor="ctr"/>
          <a:lstStyle/>
          <a:p>
            <a:pPr marL="0" indent="0">
              <a:buNone/>
            </a:pPr>
            <a:r>
              <a:rPr lang="en-US" sz="1800" b="1">
                <a:solidFill>
                  <a:srgbClr val="0B172A"/>
                </a:solidFill>
              </a:rPr>
              <a:t>Latency Definition</a:t>
            </a:r>
            <a:endParaRPr lang="en-US" sz="1800"/>
          </a:p>
        </p:txBody>
      </p:sp>
      <p:sp>
        <p:nvSpPr>
          <p:cNvPr id="9" name="Text 7"/>
          <p:cNvSpPr/>
          <p:nvPr/>
        </p:nvSpPr>
        <p:spPr>
          <a:xfrm>
            <a:off x="3578047" y="5628131"/>
            <a:ext cx="6035040" cy="365761"/>
          </a:xfrm>
          <a:prstGeom prst="rect">
            <a:avLst/>
          </a:prstGeom>
          <a:noFill/>
          <a:ln/>
        </p:spPr>
        <p:txBody>
          <a:bodyPr wrap="square" lIns="0" tIns="0" rIns="0" bIns="0" rtlCol="0" anchor="ctr">
            <a:normAutofit/>
          </a:bodyPr>
          <a:lstStyle/>
          <a:p>
            <a:pPr marL="0" indent="0">
              <a:buNone/>
            </a:pPr>
            <a:r>
              <a:rPr lang="en-US" sz="1700">
                <a:solidFill>
                  <a:srgbClr val="1E293B"/>
                </a:solidFill>
              </a:rPr>
              <a:t>Time from sending a request until the response is received.</a:t>
            </a:r>
            <a:endParaRPr lang="en-US" sz="1700"/>
          </a:p>
        </p:txBody>
      </p:sp>
      <p:sp>
        <p:nvSpPr>
          <p:cNvPr id="10" name="Text 8"/>
          <p:cNvSpPr/>
          <p:nvPr/>
        </p:nvSpPr>
        <p:spPr>
          <a:xfrm>
            <a:off x="658368" y="2788920"/>
            <a:ext cx="2926080" cy="228600"/>
          </a:xfrm>
          <a:prstGeom prst="rect">
            <a:avLst/>
          </a:prstGeom>
          <a:noFill/>
          <a:ln/>
        </p:spPr>
        <p:txBody>
          <a:bodyPr wrap="square" lIns="0" tIns="0" rIns="0" bIns="0" rtlCol="0" anchor="ctr">
            <a:normAutofit/>
          </a:bodyPr>
          <a:lstStyle/>
          <a:p>
            <a:pPr marL="0" indent="0">
              <a:buNone/>
            </a:pPr>
            <a:r>
              <a:rPr lang="en-US" sz="1100" b="1">
                <a:solidFill>
                  <a:srgbClr val="64748B"/>
                </a:solidFill>
              </a:rPr>
              <a:t>Client device</a:t>
            </a:r>
            <a:endParaRPr lang="en-US" sz="1100"/>
          </a:p>
        </p:txBody>
      </p:sp>
      <p:sp>
        <p:nvSpPr>
          <p:cNvPr id="11" name="Text 9"/>
          <p:cNvSpPr/>
          <p:nvPr/>
        </p:nvSpPr>
        <p:spPr>
          <a:xfrm>
            <a:off x="658368" y="3108960"/>
            <a:ext cx="2926080" cy="512064"/>
          </a:xfrm>
          <a:prstGeom prst="rect">
            <a:avLst/>
          </a:prstGeom>
          <a:noFill/>
          <a:ln/>
        </p:spPr>
        <p:txBody>
          <a:bodyPr wrap="square" lIns="0" tIns="0" rIns="0" bIns="0" rtlCol="0" anchor="ctr">
            <a:normAutofit/>
          </a:bodyPr>
          <a:lstStyle/>
          <a:p>
            <a:pPr marL="0" indent="0">
              <a:buNone/>
            </a:pPr>
            <a:r>
              <a:rPr lang="en-US" sz="2800" b="1">
                <a:solidFill>
                  <a:srgbClr val="2563EB"/>
                </a:solidFill>
                <a:latin typeface="Aptos Display" pitchFamily="34" charset="0"/>
                <a:ea typeface="Aptos Display" pitchFamily="34" charset="-122"/>
                <a:cs typeface="Aptos Display" pitchFamily="34" charset="-120"/>
              </a:rPr>
              <a:t>Mobile phone</a:t>
            </a:r>
            <a:endParaRPr lang="en-US" sz="2800"/>
          </a:p>
        </p:txBody>
      </p:sp>
      <p:sp>
        <p:nvSpPr>
          <p:cNvPr id="12" name="Text 10"/>
          <p:cNvSpPr/>
          <p:nvPr/>
        </p:nvSpPr>
        <p:spPr>
          <a:xfrm>
            <a:off x="658368" y="3657600"/>
            <a:ext cx="2926080" cy="292608"/>
          </a:xfrm>
          <a:prstGeom prst="rect">
            <a:avLst/>
          </a:prstGeom>
          <a:noFill/>
          <a:ln/>
        </p:spPr>
        <p:txBody>
          <a:bodyPr wrap="square" lIns="0" tIns="0" rIns="0" bIns="0" rtlCol="0" anchor="ctr">
            <a:normAutofit/>
          </a:bodyPr>
          <a:lstStyle/>
          <a:p>
            <a:pPr marL="0" indent="0">
              <a:buNone/>
            </a:pPr>
            <a:r>
              <a:rPr lang="en-US" sz="1050">
                <a:solidFill>
                  <a:srgbClr val="64748B"/>
                </a:solidFill>
              </a:rPr>
              <a:t>Generated sensor-like data</a:t>
            </a:r>
            <a:endParaRPr lang="en-US" sz="1050"/>
          </a:p>
        </p:txBody>
      </p:sp>
      <p:sp>
        <p:nvSpPr>
          <p:cNvPr id="13" name="Text 11"/>
          <p:cNvSpPr/>
          <p:nvPr/>
        </p:nvSpPr>
        <p:spPr>
          <a:xfrm>
            <a:off x="3886200" y="2788920"/>
            <a:ext cx="3108960" cy="228600"/>
          </a:xfrm>
          <a:prstGeom prst="rect">
            <a:avLst/>
          </a:prstGeom>
          <a:noFill/>
          <a:ln/>
        </p:spPr>
        <p:txBody>
          <a:bodyPr wrap="square" lIns="0" tIns="0" rIns="0" bIns="0" rtlCol="0" anchor="ctr">
            <a:normAutofit/>
          </a:bodyPr>
          <a:lstStyle/>
          <a:p>
            <a:pPr marL="0" indent="0">
              <a:buNone/>
            </a:pPr>
            <a:r>
              <a:rPr lang="en-US" sz="1100" b="1">
                <a:solidFill>
                  <a:srgbClr val="64748B"/>
                </a:solidFill>
              </a:rPr>
              <a:t>Edge server</a:t>
            </a:r>
            <a:endParaRPr lang="en-US" sz="1100"/>
          </a:p>
        </p:txBody>
      </p:sp>
      <p:sp>
        <p:nvSpPr>
          <p:cNvPr id="14" name="Text 12"/>
          <p:cNvSpPr/>
          <p:nvPr/>
        </p:nvSpPr>
        <p:spPr>
          <a:xfrm>
            <a:off x="3886200" y="3108960"/>
            <a:ext cx="3108960" cy="512064"/>
          </a:xfrm>
          <a:prstGeom prst="rect">
            <a:avLst/>
          </a:prstGeom>
          <a:noFill/>
          <a:ln/>
        </p:spPr>
        <p:txBody>
          <a:bodyPr wrap="square" lIns="0" tIns="0" rIns="0" bIns="0" rtlCol="0" anchor="ctr">
            <a:normAutofit/>
          </a:bodyPr>
          <a:lstStyle/>
          <a:p>
            <a:pPr marL="0" indent="0">
              <a:buNone/>
            </a:pPr>
            <a:r>
              <a:rPr lang="en-US" sz="2800" b="1">
                <a:solidFill>
                  <a:srgbClr val="14B8A6"/>
                </a:solidFill>
                <a:latin typeface="Aptos Display" pitchFamily="34" charset="0"/>
                <a:ea typeface="Aptos Display" pitchFamily="34" charset="-122"/>
                <a:cs typeface="Aptos Display" pitchFamily="34" charset="-120"/>
              </a:rPr>
              <a:t>Ubuntu laptop</a:t>
            </a:r>
            <a:endParaRPr lang="en-US" sz="2800"/>
          </a:p>
        </p:txBody>
      </p:sp>
      <p:sp>
        <p:nvSpPr>
          <p:cNvPr id="15" name="Text 13"/>
          <p:cNvSpPr/>
          <p:nvPr/>
        </p:nvSpPr>
        <p:spPr>
          <a:xfrm>
            <a:off x="3886200" y="3657600"/>
            <a:ext cx="3108960" cy="292608"/>
          </a:xfrm>
          <a:prstGeom prst="rect">
            <a:avLst/>
          </a:prstGeom>
          <a:noFill/>
          <a:ln/>
        </p:spPr>
        <p:txBody>
          <a:bodyPr wrap="square" lIns="0" tIns="0" rIns="0" bIns="0" rtlCol="0" anchor="ctr">
            <a:normAutofit/>
          </a:bodyPr>
          <a:lstStyle/>
          <a:p>
            <a:pPr marL="0" indent="0">
              <a:buNone/>
            </a:pPr>
            <a:r>
              <a:rPr lang="en-US" sz="1050">
                <a:solidFill>
                  <a:srgbClr val="64748B"/>
                </a:solidFill>
              </a:rPr>
              <a:t>Processed the request locally</a:t>
            </a:r>
            <a:endParaRPr lang="en-US" sz="1050"/>
          </a:p>
        </p:txBody>
      </p:sp>
      <p:sp>
        <p:nvSpPr>
          <p:cNvPr id="16" name="Text 14"/>
          <p:cNvSpPr/>
          <p:nvPr/>
        </p:nvSpPr>
        <p:spPr>
          <a:xfrm>
            <a:off x="7269480" y="2788920"/>
            <a:ext cx="2926080" cy="228600"/>
          </a:xfrm>
          <a:prstGeom prst="rect">
            <a:avLst/>
          </a:prstGeom>
          <a:noFill/>
          <a:ln/>
        </p:spPr>
        <p:txBody>
          <a:bodyPr wrap="square" lIns="0" tIns="0" rIns="0" bIns="0" rtlCol="0" anchor="ctr">
            <a:normAutofit/>
          </a:bodyPr>
          <a:lstStyle/>
          <a:p>
            <a:pPr marL="0" indent="0">
              <a:buNone/>
            </a:pPr>
            <a:r>
              <a:rPr lang="en-US" sz="1100" b="1">
                <a:solidFill>
                  <a:srgbClr val="64748B"/>
                </a:solidFill>
              </a:rPr>
              <a:t>Cloud target</a:t>
            </a:r>
            <a:endParaRPr lang="en-US" sz="1100"/>
          </a:p>
        </p:txBody>
      </p:sp>
      <p:sp>
        <p:nvSpPr>
          <p:cNvPr id="17" name="Text 15"/>
          <p:cNvSpPr/>
          <p:nvPr/>
        </p:nvSpPr>
        <p:spPr>
          <a:xfrm>
            <a:off x="7269480" y="3108960"/>
            <a:ext cx="2926080" cy="512064"/>
          </a:xfrm>
          <a:prstGeom prst="rect">
            <a:avLst/>
          </a:prstGeom>
          <a:noFill/>
          <a:ln/>
        </p:spPr>
        <p:txBody>
          <a:bodyPr wrap="square" lIns="0" tIns="0" rIns="0" bIns="0" rtlCol="0" anchor="ctr">
            <a:normAutofit/>
          </a:bodyPr>
          <a:lstStyle/>
          <a:p>
            <a:pPr marL="0" indent="0">
              <a:buNone/>
            </a:pPr>
            <a:r>
              <a:rPr lang="en-US" sz="2800" b="1">
                <a:solidFill>
                  <a:srgbClr val="F59E0B"/>
                </a:solidFill>
                <a:latin typeface="Aptos Display" pitchFamily="34" charset="0"/>
                <a:ea typeface="Aptos Display" pitchFamily="34" charset="-122"/>
                <a:cs typeface="Aptos Display" pitchFamily="34" charset="-120"/>
              </a:rPr>
              <a:t>Internet server</a:t>
            </a:r>
            <a:endParaRPr lang="en-US" sz="2800"/>
          </a:p>
        </p:txBody>
      </p:sp>
      <p:sp>
        <p:nvSpPr>
          <p:cNvPr id="18" name="Text 16"/>
          <p:cNvSpPr/>
          <p:nvPr/>
        </p:nvSpPr>
        <p:spPr>
          <a:xfrm>
            <a:off x="7269480" y="3657600"/>
            <a:ext cx="2926080" cy="292608"/>
          </a:xfrm>
          <a:prstGeom prst="rect">
            <a:avLst/>
          </a:prstGeom>
          <a:noFill/>
          <a:ln/>
        </p:spPr>
        <p:txBody>
          <a:bodyPr wrap="square" lIns="0" tIns="0" rIns="0" bIns="0" rtlCol="0" anchor="ctr">
            <a:normAutofit/>
          </a:bodyPr>
          <a:lstStyle/>
          <a:p>
            <a:pPr marL="0" indent="0">
              <a:buNone/>
            </a:pPr>
            <a:r>
              <a:rPr lang="en-US" sz="1050">
                <a:solidFill>
                  <a:srgbClr val="64748B"/>
                </a:solidFill>
              </a:rPr>
              <a:t>External online server</a:t>
            </a:r>
            <a:endParaRPr lang="en-US" sz="1050"/>
          </a:p>
        </p:txBody>
      </p:sp>
      <p:sp>
        <p:nvSpPr>
          <p:cNvPr id="19" name="Shape 17"/>
          <p:cNvSpPr/>
          <p:nvPr/>
        </p:nvSpPr>
        <p:spPr>
          <a:xfrm>
            <a:off x="1097280" y="5349240"/>
            <a:ext cx="9692640" cy="0"/>
          </a:xfrm>
          <a:prstGeom prst="line">
            <a:avLst/>
          </a:prstGeom>
          <a:noFill/>
          <a:ln w="38100">
            <a:solidFill>
              <a:srgbClr val="E2E8F0"/>
            </a:solidFill>
            <a:prstDash val="solid"/>
          </a:ln>
        </p:spPr>
        <p:txBody>
          <a:bodyPr/>
          <a:lstStyle/>
          <a:p>
            <a:endParaRPr lang="en-DE"/>
          </a:p>
        </p:txBody>
      </p:sp>
      <p:sp>
        <p:nvSpPr>
          <p:cNvPr id="20" name="Shape 18"/>
          <p:cNvSpPr/>
          <p:nvPr/>
        </p:nvSpPr>
        <p:spPr>
          <a:xfrm>
            <a:off x="1005840" y="5257800"/>
            <a:ext cx="201168" cy="201168"/>
          </a:xfrm>
          <a:prstGeom prst="ellipse">
            <a:avLst/>
          </a:prstGeom>
          <a:solidFill>
            <a:srgbClr val="2563EB"/>
          </a:solidFill>
          <a:ln w="12700">
            <a:solidFill>
              <a:srgbClr val="2563EB">
                <a:alpha val="0"/>
              </a:srgbClr>
            </a:solidFill>
            <a:prstDash val="solid"/>
          </a:ln>
        </p:spPr>
        <p:txBody>
          <a:bodyPr/>
          <a:lstStyle/>
          <a:p>
            <a:endParaRPr lang="en-DE"/>
          </a:p>
        </p:txBody>
      </p:sp>
      <p:sp>
        <p:nvSpPr>
          <p:cNvPr id="21" name="Shape 19"/>
          <p:cNvSpPr/>
          <p:nvPr/>
        </p:nvSpPr>
        <p:spPr>
          <a:xfrm>
            <a:off x="10698480" y="5257800"/>
            <a:ext cx="201168" cy="201168"/>
          </a:xfrm>
          <a:prstGeom prst="ellipse">
            <a:avLst/>
          </a:prstGeom>
          <a:solidFill>
            <a:srgbClr val="10B981"/>
          </a:solidFill>
          <a:ln w="12700">
            <a:solidFill>
              <a:srgbClr val="10B981">
                <a:alpha val="0"/>
              </a:srgbClr>
            </a:solidFill>
            <a:prstDash val="solid"/>
          </a:ln>
        </p:spPr>
        <p:txBody>
          <a:bodyPr/>
          <a:lstStyle/>
          <a:p>
            <a:endParaRPr lang="en-DE"/>
          </a:p>
        </p:txBody>
      </p:sp>
      <p:sp>
        <p:nvSpPr>
          <p:cNvPr id="22" name="Text 20"/>
          <p:cNvSpPr/>
          <p:nvPr/>
        </p:nvSpPr>
        <p:spPr>
          <a:xfrm>
            <a:off x="777240" y="5559552"/>
            <a:ext cx="1097280" cy="201168"/>
          </a:xfrm>
          <a:prstGeom prst="rect">
            <a:avLst/>
          </a:prstGeom>
          <a:noFill/>
          <a:ln/>
        </p:spPr>
        <p:txBody>
          <a:bodyPr wrap="square" lIns="0" tIns="0" rIns="0" bIns="0" rtlCol="0" anchor="ctr"/>
          <a:lstStyle/>
          <a:p>
            <a:pPr marL="0" indent="0" algn="ctr">
              <a:buNone/>
            </a:pPr>
            <a:r>
              <a:rPr lang="en-US" sz="1050">
                <a:solidFill>
                  <a:srgbClr val="64748B"/>
                </a:solidFill>
              </a:rPr>
              <a:t>Request sent</a:t>
            </a:r>
            <a:endParaRPr lang="en-US" sz="1050"/>
          </a:p>
        </p:txBody>
      </p:sp>
      <p:sp>
        <p:nvSpPr>
          <p:cNvPr id="23" name="Text 21"/>
          <p:cNvSpPr/>
          <p:nvPr/>
        </p:nvSpPr>
        <p:spPr>
          <a:xfrm>
            <a:off x="10058400" y="5559552"/>
            <a:ext cx="1508760" cy="201168"/>
          </a:xfrm>
          <a:prstGeom prst="rect">
            <a:avLst/>
          </a:prstGeom>
          <a:noFill/>
          <a:ln/>
        </p:spPr>
        <p:txBody>
          <a:bodyPr wrap="square" lIns="0" tIns="0" rIns="0" bIns="0" rtlCol="0" anchor="ctr"/>
          <a:lstStyle/>
          <a:p>
            <a:pPr marL="0" indent="0" algn="ctr">
              <a:buNone/>
            </a:pPr>
            <a:r>
              <a:rPr lang="en-US" sz="1050">
                <a:solidFill>
                  <a:srgbClr val="64748B"/>
                </a:solidFill>
              </a:rPr>
              <a:t>Response received</a:t>
            </a:r>
            <a:endParaRPr lang="en-US" sz="1050"/>
          </a:p>
        </p:txBody>
      </p:sp>
      <p:sp>
        <p:nvSpPr>
          <p:cNvPr id="24" name="Text 22"/>
          <p:cNvSpPr/>
          <p:nvPr/>
        </p:nvSpPr>
        <p:spPr>
          <a:xfrm>
            <a:off x="4754880" y="4983481"/>
            <a:ext cx="2377440" cy="256032"/>
          </a:xfrm>
          <a:prstGeom prst="rect">
            <a:avLst/>
          </a:prstGeom>
          <a:noFill/>
          <a:ln/>
        </p:spPr>
        <p:txBody>
          <a:bodyPr wrap="square" lIns="0" tIns="0" rIns="0" bIns="0" rtlCol="0" anchor="ctr"/>
          <a:lstStyle/>
          <a:p>
            <a:pPr marL="0" indent="0" algn="ctr">
              <a:buNone/>
            </a:pPr>
            <a:r>
              <a:rPr lang="en-US" sz="1500" b="1">
                <a:solidFill>
                  <a:srgbClr val="0B172A"/>
                </a:solidFill>
              </a:rPr>
              <a:t>Measured latency</a:t>
            </a:r>
            <a:endParaRPr lang="en-US" sz="1500"/>
          </a:p>
        </p:txBody>
      </p:sp>
      <p:sp>
        <p:nvSpPr>
          <p:cNvPr id="25" name="TextBox 24">
            <a:extLst>
              <a:ext uri="{FF2B5EF4-FFF2-40B4-BE49-F238E27FC236}">
                <a16:creationId xmlns:a16="http://schemas.microsoft.com/office/drawing/2014/main" id="{6A8BDE60-736E-D0C2-FCA8-713757DCD0F8}"/>
              </a:ext>
            </a:extLst>
          </p:cNvPr>
          <p:cNvSpPr txBox="1"/>
          <p:nvPr/>
        </p:nvSpPr>
        <p:spPr>
          <a:xfrm>
            <a:off x="548528" y="1711305"/>
            <a:ext cx="11155791" cy="369332"/>
          </a:xfrm>
          <a:prstGeom prst="rect">
            <a:avLst/>
          </a:prstGeom>
          <a:noFill/>
        </p:spPr>
        <p:txBody>
          <a:bodyPr wrap="square" rtlCol="0">
            <a:spAutoFit/>
          </a:bodyPr>
          <a:lstStyle/>
          <a:p>
            <a:r>
              <a:rPr lang="en-US" b="1"/>
              <a:t>Tested in two environments: </a:t>
            </a:r>
            <a:r>
              <a:rPr lang="en-US"/>
              <a:t>Paderborn home Wi-Fi (stable, private)  ·  HSHL central Wi-Fi (shared, congested)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3" name="Shape 1"/>
          <p:cNvSpPr/>
          <p:nvPr/>
        </p:nvSpPr>
        <p:spPr>
          <a:xfrm>
            <a:off x="0" y="0"/>
            <a:ext cx="128016" cy="6858000"/>
          </a:xfrm>
          <a:prstGeom prst="rect">
            <a:avLst/>
          </a:prstGeom>
          <a:solidFill>
            <a:srgbClr val="2563EB"/>
          </a:solidFill>
          <a:ln w="12700">
            <a:solidFill>
              <a:srgbClr val="2563EB">
                <a:alpha val="0"/>
              </a:srgbClr>
            </a:solidFill>
            <a:prstDash val="solid"/>
          </a:ln>
        </p:spPr>
        <p:txBody>
          <a:bodyPr/>
          <a:lstStyle/>
          <a:p>
            <a:endParaRPr lang="en-DE"/>
          </a:p>
        </p:txBody>
      </p:sp>
      <p:sp>
        <p:nvSpPr>
          <p:cNvPr id="4" name="Text 2"/>
          <p:cNvSpPr/>
          <p:nvPr/>
        </p:nvSpPr>
        <p:spPr>
          <a:xfrm>
            <a:off x="502920" y="384048"/>
            <a:ext cx="10881360" cy="438912"/>
          </a:xfrm>
          <a:prstGeom prst="rect">
            <a:avLst/>
          </a:prstGeom>
          <a:noFill/>
          <a:ln/>
        </p:spPr>
        <p:txBody>
          <a:bodyPr wrap="square" lIns="0" tIns="0" rIns="0" bIns="0" rtlCol="0" anchor="ctr">
            <a:normAutofit/>
          </a:bodyPr>
          <a:lstStyle/>
          <a:p>
            <a:pPr marL="0" indent="0">
              <a:buNone/>
            </a:pPr>
            <a:r>
              <a:rPr lang="en-US" sz="2800" b="1">
                <a:solidFill>
                  <a:srgbClr val="0B172A"/>
                </a:solidFill>
                <a:latin typeface="Aptos Display" pitchFamily="34" charset="0"/>
                <a:ea typeface="Aptos Display" pitchFamily="34" charset="-122"/>
                <a:cs typeface="Aptos Display" pitchFamily="34" charset="-120"/>
              </a:rPr>
              <a:t>Edge Latency Test</a:t>
            </a:r>
            <a:endParaRPr lang="en-US" sz="2800"/>
          </a:p>
        </p:txBody>
      </p:sp>
      <p:sp>
        <p:nvSpPr>
          <p:cNvPr id="6" name="Text 4"/>
          <p:cNvSpPr/>
          <p:nvPr/>
        </p:nvSpPr>
        <p:spPr>
          <a:xfrm>
            <a:off x="502920" y="6492240"/>
            <a:ext cx="7772400" cy="201168"/>
          </a:xfrm>
          <a:prstGeom prst="rect">
            <a:avLst/>
          </a:prstGeom>
          <a:noFill/>
          <a:ln/>
        </p:spPr>
        <p:txBody>
          <a:bodyPr wrap="square" lIns="0" tIns="0" rIns="0" bIns="0" rtlCol="0" anchor="ctr"/>
          <a:lstStyle/>
          <a:p>
            <a:pPr marL="0" indent="0">
              <a:buNone/>
            </a:pPr>
            <a:endParaRPr lang="en-US" sz="850"/>
          </a:p>
        </p:txBody>
      </p:sp>
      <p:sp>
        <p:nvSpPr>
          <p:cNvPr id="7" name="Text 5"/>
          <p:cNvSpPr/>
          <p:nvPr/>
        </p:nvSpPr>
        <p:spPr>
          <a:xfrm>
            <a:off x="11384280" y="6446520"/>
            <a:ext cx="320040" cy="228600"/>
          </a:xfrm>
          <a:prstGeom prst="rect">
            <a:avLst/>
          </a:prstGeom>
          <a:noFill/>
          <a:ln/>
        </p:spPr>
        <p:txBody>
          <a:bodyPr wrap="square" lIns="0" tIns="0" rIns="0" bIns="0" rtlCol="0" anchor="ctr"/>
          <a:lstStyle/>
          <a:p>
            <a:pPr marL="0" indent="0" algn="r">
              <a:buNone/>
            </a:pPr>
            <a:r>
              <a:rPr lang="en-US" sz="850" b="1">
                <a:solidFill>
                  <a:srgbClr val="64748B"/>
                </a:solidFill>
                <a:latin typeface="Aptos" pitchFamily="34" charset="0"/>
                <a:ea typeface="Aptos" pitchFamily="34" charset="-122"/>
                <a:cs typeface="Aptos" pitchFamily="34" charset="-120"/>
              </a:rPr>
              <a:t>03</a:t>
            </a:r>
            <a:endParaRPr lang="en-US" sz="850"/>
          </a:p>
        </p:txBody>
      </p:sp>
      <p:sp>
        <p:nvSpPr>
          <p:cNvPr id="8" name="Shape 6"/>
          <p:cNvSpPr/>
          <p:nvPr/>
        </p:nvSpPr>
        <p:spPr>
          <a:xfrm>
            <a:off x="2240280" y="2788920"/>
            <a:ext cx="1463040" cy="0"/>
          </a:xfrm>
          <a:prstGeom prst="line">
            <a:avLst/>
          </a:prstGeom>
          <a:noFill/>
          <a:ln w="30480">
            <a:solidFill>
              <a:srgbClr val="14B8A6"/>
            </a:solidFill>
            <a:prstDash val="solid"/>
            <a:headEnd type="none"/>
            <a:tailEnd type="triangle"/>
          </a:ln>
        </p:spPr>
        <p:txBody>
          <a:bodyPr/>
          <a:lstStyle/>
          <a:p>
            <a:endParaRPr lang="en-DE"/>
          </a:p>
        </p:txBody>
      </p:sp>
      <p:sp>
        <p:nvSpPr>
          <p:cNvPr id="9" name="Shape 7"/>
          <p:cNvSpPr/>
          <p:nvPr/>
        </p:nvSpPr>
        <p:spPr>
          <a:xfrm>
            <a:off x="5349240" y="2788920"/>
            <a:ext cx="1645920" cy="0"/>
          </a:xfrm>
          <a:prstGeom prst="line">
            <a:avLst/>
          </a:prstGeom>
          <a:noFill/>
          <a:ln w="30480">
            <a:solidFill>
              <a:srgbClr val="14B8A6"/>
            </a:solidFill>
            <a:prstDash val="solid"/>
            <a:headEnd type="none"/>
            <a:tailEnd type="triangle"/>
          </a:ln>
        </p:spPr>
        <p:txBody>
          <a:bodyPr/>
          <a:lstStyle/>
          <a:p>
            <a:endParaRPr lang="en-DE"/>
          </a:p>
        </p:txBody>
      </p:sp>
      <p:sp>
        <p:nvSpPr>
          <p:cNvPr id="10" name="Shape 8"/>
          <p:cNvSpPr/>
          <p:nvPr/>
        </p:nvSpPr>
        <p:spPr>
          <a:xfrm>
            <a:off x="8641080" y="2788920"/>
            <a:ext cx="1508760" cy="0"/>
          </a:xfrm>
          <a:prstGeom prst="line">
            <a:avLst/>
          </a:prstGeom>
          <a:noFill/>
          <a:ln w="30480">
            <a:solidFill>
              <a:srgbClr val="14B8A6"/>
            </a:solidFill>
            <a:prstDash val="solid"/>
            <a:headEnd type="none"/>
            <a:tailEnd type="triangle"/>
          </a:ln>
        </p:spPr>
        <p:txBody>
          <a:bodyPr/>
          <a:lstStyle/>
          <a:p>
            <a:endParaRPr lang="en-DE"/>
          </a:p>
        </p:txBody>
      </p:sp>
      <p:sp>
        <p:nvSpPr>
          <p:cNvPr id="11" name="Shape 9"/>
          <p:cNvSpPr/>
          <p:nvPr/>
        </p:nvSpPr>
        <p:spPr>
          <a:xfrm>
            <a:off x="685800" y="2212848"/>
            <a:ext cx="1554480" cy="1143000"/>
          </a:xfrm>
          <a:prstGeom prst="roundRect">
            <a:avLst>
              <a:gd name="adj" fmla="val 6400"/>
            </a:avLst>
          </a:prstGeom>
          <a:solidFill>
            <a:srgbClr val="CFFAFE"/>
          </a:solidFill>
          <a:ln w="15240">
            <a:solidFill>
              <a:srgbClr val="06B6D4"/>
            </a:solidFill>
            <a:prstDash val="solid"/>
          </a:ln>
          <a:effectLst>
            <a:outerShdw blurRad="19050" dist="12700" dir="2700000" algn="bl" rotWithShape="0">
              <a:srgbClr val="000000">
                <a:alpha val="10000"/>
              </a:srgbClr>
            </a:outerShdw>
          </a:effectLst>
        </p:spPr>
        <p:txBody>
          <a:bodyPr/>
          <a:lstStyle/>
          <a:p>
            <a:endParaRPr lang="en-DE"/>
          </a:p>
        </p:txBody>
      </p:sp>
      <p:sp>
        <p:nvSpPr>
          <p:cNvPr id="12" name="Text 10"/>
          <p:cNvSpPr/>
          <p:nvPr/>
        </p:nvSpPr>
        <p:spPr>
          <a:xfrm>
            <a:off x="795528" y="2340864"/>
            <a:ext cx="1335024" cy="886968"/>
          </a:xfrm>
          <a:prstGeom prst="rect">
            <a:avLst/>
          </a:prstGeom>
          <a:noFill/>
          <a:ln/>
        </p:spPr>
        <p:txBody>
          <a:bodyPr wrap="square" lIns="0" tIns="0" rIns="0" bIns="0" rtlCol="0" anchor="ctr">
            <a:normAutofit/>
          </a:bodyPr>
          <a:lstStyle/>
          <a:p>
            <a:pPr marL="0" indent="0" algn="ctr">
              <a:buNone/>
            </a:pPr>
            <a:r>
              <a:rPr lang="en-US" sz="1150" b="1">
                <a:solidFill>
                  <a:srgbClr val="0B172A"/>
                </a:solidFill>
                <a:latin typeface="Aptos" pitchFamily="34" charset="0"/>
                <a:ea typeface="Aptos" pitchFamily="34" charset="-122"/>
                <a:cs typeface="Aptos" pitchFamily="34" charset="-120"/>
              </a:rPr>
              <a:t>Mobile</a:t>
            </a:r>
            <a:endParaRPr lang="en-US" sz="1150"/>
          </a:p>
          <a:p>
            <a:pPr marL="0" indent="0" algn="ctr">
              <a:buNone/>
            </a:pPr>
            <a:r>
              <a:rPr lang="en-US" sz="1150" b="1">
                <a:solidFill>
                  <a:srgbClr val="0B172A"/>
                </a:solidFill>
                <a:latin typeface="Aptos" pitchFamily="34" charset="0"/>
                <a:ea typeface="Aptos" pitchFamily="34" charset="-122"/>
                <a:cs typeface="Aptos" pitchFamily="34" charset="-120"/>
              </a:rPr>
              <a:t>phone client</a:t>
            </a:r>
            <a:endParaRPr lang="en-US" sz="1150"/>
          </a:p>
        </p:txBody>
      </p:sp>
      <p:sp>
        <p:nvSpPr>
          <p:cNvPr id="13" name="Shape 11"/>
          <p:cNvSpPr/>
          <p:nvPr/>
        </p:nvSpPr>
        <p:spPr>
          <a:xfrm>
            <a:off x="3703320" y="2212848"/>
            <a:ext cx="1645920" cy="1143000"/>
          </a:xfrm>
          <a:prstGeom prst="roundRect">
            <a:avLst>
              <a:gd name="adj" fmla="val 6400"/>
            </a:avLst>
          </a:prstGeom>
          <a:solidFill>
            <a:srgbClr val="D1FAE5"/>
          </a:solidFill>
          <a:ln w="15240">
            <a:solidFill>
              <a:srgbClr val="14B8A6"/>
            </a:solidFill>
            <a:prstDash val="solid"/>
          </a:ln>
          <a:effectLst>
            <a:outerShdw blurRad="19050" dist="12700" dir="2700000" algn="bl" rotWithShape="0">
              <a:srgbClr val="000000">
                <a:alpha val="10000"/>
              </a:srgbClr>
            </a:outerShdw>
          </a:effectLst>
        </p:spPr>
        <p:txBody>
          <a:bodyPr/>
          <a:lstStyle/>
          <a:p>
            <a:endParaRPr lang="en-DE"/>
          </a:p>
        </p:txBody>
      </p:sp>
      <p:sp>
        <p:nvSpPr>
          <p:cNvPr id="14" name="Text 12"/>
          <p:cNvSpPr/>
          <p:nvPr/>
        </p:nvSpPr>
        <p:spPr>
          <a:xfrm>
            <a:off x="3813048" y="2340864"/>
            <a:ext cx="1426464" cy="886968"/>
          </a:xfrm>
          <a:prstGeom prst="rect">
            <a:avLst/>
          </a:prstGeom>
          <a:noFill/>
          <a:ln/>
        </p:spPr>
        <p:txBody>
          <a:bodyPr wrap="square" lIns="0" tIns="0" rIns="0" bIns="0" rtlCol="0" anchor="ctr">
            <a:normAutofit/>
          </a:bodyPr>
          <a:lstStyle/>
          <a:p>
            <a:pPr marL="0" indent="0" algn="ctr">
              <a:buNone/>
            </a:pPr>
            <a:r>
              <a:rPr lang="en-US" sz="1120" b="1">
                <a:solidFill>
                  <a:srgbClr val="0B172A"/>
                </a:solidFill>
                <a:latin typeface="Aptos" pitchFamily="34" charset="0"/>
                <a:ea typeface="Aptos" pitchFamily="34" charset="-122"/>
                <a:cs typeface="Aptos" pitchFamily="34" charset="-120"/>
              </a:rPr>
              <a:t>Home or HSHL</a:t>
            </a:r>
            <a:endParaRPr lang="en-US" sz="1120"/>
          </a:p>
          <a:p>
            <a:pPr marL="0" indent="0" algn="ctr">
              <a:buNone/>
            </a:pPr>
            <a:r>
              <a:rPr lang="en-US" sz="1120" b="1">
                <a:solidFill>
                  <a:srgbClr val="0B172A"/>
                </a:solidFill>
                <a:latin typeface="Aptos" pitchFamily="34" charset="0"/>
                <a:ea typeface="Aptos" pitchFamily="34" charset="-122"/>
                <a:cs typeface="Aptos" pitchFamily="34" charset="-120"/>
              </a:rPr>
              <a:t>Wi‑Fi network</a:t>
            </a:r>
            <a:endParaRPr lang="en-US" sz="1120"/>
          </a:p>
        </p:txBody>
      </p:sp>
      <p:sp>
        <p:nvSpPr>
          <p:cNvPr id="15" name="Shape 13"/>
          <p:cNvSpPr/>
          <p:nvPr/>
        </p:nvSpPr>
        <p:spPr>
          <a:xfrm>
            <a:off x="6995160" y="2212848"/>
            <a:ext cx="1645920" cy="1143000"/>
          </a:xfrm>
          <a:prstGeom prst="roundRect">
            <a:avLst>
              <a:gd name="adj" fmla="val 6400"/>
            </a:avLst>
          </a:prstGeom>
          <a:solidFill>
            <a:srgbClr val="DBEAFE"/>
          </a:solidFill>
          <a:ln w="15240">
            <a:solidFill>
              <a:srgbClr val="2563EB"/>
            </a:solidFill>
            <a:prstDash val="solid"/>
          </a:ln>
          <a:effectLst>
            <a:outerShdw blurRad="19050" dist="12700" dir="2700000" algn="bl" rotWithShape="0">
              <a:srgbClr val="000000">
                <a:alpha val="10000"/>
              </a:srgbClr>
            </a:outerShdw>
          </a:effectLst>
        </p:spPr>
        <p:txBody>
          <a:bodyPr/>
          <a:lstStyle/>
          <a:p>
            <a:endParaRPr lang="en-DE"/>
          </a:p>
        </p:txBody>
      </p:sp>
      <p:sp>
        <p:nvSpPr>
          <p:cNvPr id="16" name="Text 14"/>
          <p:cNvSpPr/>
          <p:nvPr/>
        </p:nvSpPr>
        <p:spPr>
          <a:xfrm>
            <a:off x="7104888" y="2340864"/>
            <a:ext cx="1426464" cy="886968"/>
          </a:xfrm>
          <a:prstGeom prst="rect">
            <a:avLst/>
          </a:prstGeom>
          <a:noFill/>
          <a:ln/>
        </p:spPr>
        <p:txBody>
          <a:bodyPr wrap="square" lIns="0" tIns="0" rIns="0" bIns="0" rtlCol="0" anchor="ctr">
            <a:normAutofit/>
          </a:bodyPr>
          <a:lstStyle/>
          <a:p>
            <a:pPr marL="0" indent="0" algn="ctr">
              <a:buNone/>
            </a:pPr>
            <a:r>
              <a:rPr lang="en-US" sz="1120" b="1">
                <a:solidFill>
                  <a:srgbClr val="0B172A"/>
                </a:solidFill>
                <a:latin typeface="Aptos" pitchFamily="34" charset="0"/>
                <a:ea typeface="Aptos" pitchFamily="34" charset="-122"/>
                <a:cs typeface="Aptos" pitchFamily="34" charset="-120"/>
              </a:rPr>
              <a:t>Ubuntu laptop</a:t>
            </a:r>
            <a:endParaRPr lang="en-US" sz="1120"/>
          </a:p>
          <a:p>
            <a:pPr marL="0" indent="0" algn="ctr">
              <a:buNone/>
            </a:pPr>
            <a:r>
              <a:rPr lang="en-US" sz="1120" b="1">
                <a:solidFill>
                  <a:srgbClr val="0B172A"/>
                </a:solidFill>
                <a:latin typeface="Aptos" pitchFamily="34" charset="0"/>
                <a:ea typeface="Aptos" pitchFamily="34" charset="-122"/>
                <a:cs typeface="Aptos" pitchFamily="34" charset="-120"/>
              </a:rPr>
              <a:t>Flask server</a:t>
            </a:r>
            <a:endParaRPr lang="en-US" sz="1120"/>
          </a:p>
        </p:txBody>
      </p:sp>
      <p:sp>
        <p:nvSpPr>
          <p:cNvPr id="17" name="Shape 15"/>
          <p:cNvSpPr/>
          <p:nvPr/>
        </p:nvSpPr>
        <p:spPr>
          <a:xfrm>
            <a:off x="10149840" y="2212848"/>
            <a:ext cx="1417320" cy="1143000"/>
          </a:xfrm>
          <a:prstGeom prst="roundRect">
            <a:avLst>
              <a:gd name="adj" fmla="val 6400"/>
            </a:avLst>
          </a:prstGeom>
          <a:solidFill>
            <a:srgbClr val="CFFAFE"/>
          </a:solidFill>
          <a:ln w="15240">
            <a:solidFill>
              <a:srgbClr val="06B6D4"/>
            </a:solidFill>
            <a:prstDash val="solid"/>
          </a:ln>
          <a:effectLst>
            <a:outerShdw blurRad="19050" dist="12700" dir="2700000" algn="bl" rotWithShape="0">
              <a:srgbClr val="000000">
                <a:alpha val="10000"/>
              </a:srgbClr>
            </a:outerShdw>
          </a:effectLst>
        </p:spPr>
        <p:txBody>
          <a:bodyPr/>
          <a:lstStyle/>
          <a:p>
            <a:endParaRPr lang="en-DE"/>
          </a:p>
        </p:txBody>
      </p:sp>
      <p:sp>
        <p:nvSpPr>
          <p:cNvPr id="18" name="Text 16"/>
          <p:cNvSpPr/>
          <p:nvPr/>
        </p:nvSpPr>
        <p:spPr>
          <a:xfrm>
            <a:off x="10259568" y="2340864"/>
            <a:ext cx="1197864" cy="886968"/>
          </a:xfrm>
          <a:prstGeom prst="rect">
            <a:avLst/>
          </a:prstGeom>
          <a:noFill/>
          <a:ln/>
        </p:spPr>
        <p:txBody>
          <a:bodyPr wrap="square" lIns="0" tIns="0" rIns="0" bIns="0" rtlCol="0" anchor="ctr">
            <a:normAutofit/>
          </a:bodyPr>
          <a:lstStyle/>
          <a:p>
            <a:pPr marL="0" indent="0" algn="ctr">
              <a:buNone/>
            </a:pPr>
            <a:r>
              <a:rPr lang="en-US" sz="1120" b="1">
                <a:solidFill>
                  <a:srgbClr val="0B172A"/>
                </a:solidFill>
                <a:latin typeface="Aptos" pitchFamily="34" charset="0"/>
                <a:ea typeface="Aptos" pitchFamily="34" charset="-122"/>
                <a:cs typeface="Aptos" pitchFamily="34" charset="-120"/>
              </a:rPr>
              <a:t>Response</a:t>
            </a:r>
            <a:endParaRPr lang="en-US" sz="1120"/>
          </a:p>
          <a:p>
            <a:pPr marL="0" indent="0" algn="ctr">
              <a:buNone/>
            </a:pPr>
            <a:r>
              <a:rPr lang="en-US" sz="1120" b="1">
                <a:solidFill>
                  <a:srgbClr val="0B172A"/>
                </a:solidFill>
                <a:latin typeface="Aptos" pitchFamily="34" charset="0"/>
                <a:ea typeface="Aptos" pitchFamily="34" charset="-122"/>
                <a:cs typeface="Aptos" pitchFamily="34" charset="-120"/>
              </a:rPr>
              <a:t>back to phone</a:t>
            </a:r>
            <a:endParaRPr lang="en-US" sz="1120"/>
          </a:p>
        </p:txBody>
      </p:sp>
      <p:sp>
        <p:nvSpPr>
          <p:cNvPr id="26" name="Text 24"/>
          <p:cNvSpPr/>
          <p:nvPr/>
        </p:nvSpPr>
        <p:spPr>
          <a:xfrm>
            <a:off x="7315200" y="4343400"/>
            <a:ext cx="1737360" cy="228600"/>
          </a:xfrm>
          <a:prstGeom prst="rect">
            <a:avLst/>
          </a:prstGeom>
          <a:noFill/>
          <a:ln/>
        </p:spPr>
        <p:txBody>
          <a:bodyPr wrap="square" lIns="0" tIns="0" rIns="0" bIns="0" rtlCol="0" anchor="ctr">
            <a:normAutofit/>
          </a:bodyPr>
          <a:lstStyle/>
          <a:p>
            <a:pPr marL="0" indent="0">
              <a:buNone/>
            </a:pPr>
            <a:r>
              <a:rPr lang="en-US" sz="1100" b="1">
                <a:solidFill>
                  <a:srgbClr val="64748B"/>
                </a:solidFill>
              </a:rPr>
              <a:t>Stable local network</a:t>
            </a:r>
            <a:endParaRPr lang="en-US" sz="1100"/>
          </a:p>
        </p:txBody>
      </p:sp>
      <p:sp>
        <p:nvSpPr>
          <p:cNvPr id="27" name="Text 25"/>
          <p:cNvSpPr/>
          <p:nvPr/>
        </p:nvSpPr>
        <p:spPr>
          <a:xfrm>
            <a:off x="7315200" y="4663440"/>
            <a:ext cx="1737360" cy="512064"/>
          </a:xfrm>
          <a:prstGeom prst="rect">
            <a:avLst/>
          </a:prstGeom>
          <a:noFill/>
          <a:ln/>
        </p:spPr>
        <p:txBody>
          <a:bodyPr wrap="square" lIns="0" tIns="0" rIns="0" bIns="0" rtlCol="0" anchor="ctr">
            <a:normAutofit/>
          </a:bodyPr>
          <a:lstStyle/>
          <a:p>
            <a:pPr marL="0" indent="0">
              <a:buNone/>
            </a:pPr>
            <a:r>
              <a:rPr lang="en-US" sz="2800" b="1">
                <a:solidFill>
                  <a:srgbClr val="10B981"/>
                </a:solidFill>
                <a:latin typeface="Aptos Display" pitchFamily="34" charset="0"/>
                <a:ea typeface="Aptos Display" pitchFamily="34" charset="-122"/>
                <a:cs typeface="Aptos Display" pitchFamily="34" charset="-120"/>
              </a:rPr>
              <a:t>95 ms</a:t>
            </a:r>
            <a:endParaRPr lang="en-US" sz="2800"/>
          </a:p>
        </p:txBody>
      </p:sp>
      <p:sp>
        <p:nvSpPr>
          <p:cNvPr id="28" name="Text 26"/>
          <p:cNvSpPr/>
          <p:nvPr/>
        </p:nvSpPr>
        <p:spPr>
          <a:xfrm>
            <a:off x="7315200" y="5212080"/>
            <a:ext cx="1737360" cy="292608"/>
          </a:xfrm>
          <a:prstGeom prst="rect">
            <a:avLst/>
          </a:prstGeom>
          <a:noFill/>
          <a:ln/>
        </p:spPr>
        <p:txBody>
          <a:bodyPr wrap="square" lIns="0" tIns="0" rIns="0" bIns="0" rtlCol="0" anchor="ctr">
            <a:normAutofit/>
          </a:bodyPr>
          <a:lstStyle/>
          <a:p>
            <a:pPr marL="0" indent="0">
              <a:buNone/>
            </a:pPr>
            <a:r>
              <a:rPr lang="en-US" sz="1050">
                <a:solidFill>
                  <a:srgbClr val="64748B"/>
                </a:solidFill>
              </a:rPr>
              <a:t>Paderborn home Wi‑Fi</a:t>
            </a:r>
            <a:endParaRPr lang="en-US" sz="1050"/>
          </a:p>
        </p:txBody>
      </p:sp>
      <p:sp>
        <p:nvSpPr>
          <p:cNvPr id="29" name="Text 27"/>
          <p:cNvSpPr/>
          <p:nvPr/>
        </p:nvSpPr>
        <p:spPr>
          <a:xfrm>
            <a:off x="9601200" y="4343400"/>
            <a:ext cx="1828800" cy="228600"/>
          </a:xfrm>
          <a:prstGeom prst="rect">
            <a:avLst/>
          </a:prstGeom>
          <a:noFill/>
          <a:ln/>
        </p:spPr>
        <p:txBody>
          <a:bodyPr wrap="square" lIns="0" tIns="0" rIns="0" bIns="0" rtlCol="0" anchor="ctr">
            <a:normAutofit/>
          </a:bodyPr>
          <a:lstStyle/>
          <a:p>
            <a:pPr marL="0" indent="0">
              <a:buNone/>
            </a:pPr>
            <a:r>
              <a:rPr lang="en-US" sz="1100" b="1">
                <a:solidFill>
                  <a:srgbClr val="64748B"/>
                </a:solidFill>
              </a:rPr>
              <a:t>Shared network</a:t>
            </a:r>
            <a:endParaRPr lang="en-US" sz="1100"/>
          </a:p>
        </p:txBody>
      </p:sp>
      <p:sp>
        <p:nvSpPr>
          <p:cNvPr id="30" name="Text 28"/>
          <p:cNvSpPr/>
          <p:nvPr/>
        </p:nvSpPr>
        <p:spPr>
          <a:xfrm>
            <a:off x="9601200" y="4663440"/>
            <a:ext cx="1828800" cy="512064"/>
          </a:xfrm>
          <a:prstGeom prst="rect">
            <a:avLst/>
          </a:prstGeom>
          <a:noFill/>
          <a:ln/>
        </p:spPr>
        <p:txBody>
          <a:bodyPr wrap="square" lIns="0" tIns="0" rIns="0" bIns="0" rtlCol="0" anchor="ctr">
            <a:normAutofit/>
          </a:bodyPr>
          <a:lstStyle/>
          <a:p>
            <a:pPr marL="0" indent="0">
              <a:buNone/>
            </a:pPr>
            <a:r>
              <a:rPr lang="en-US" sz="2800" b="1">
                <a:solidFill>
                  <a:srgbClr val="F59E0B"/>
                </a:solidFill>
                <a:latin typeface="Aptos Display" pitchFamily="34" charset="0"/>
                <a:ea typeface="Aptos Display" pitchFamily="34" charset="-122"/>
                <a:cs typeface="Aptos Display" pitchFamily="34" charset="-120"/>
              </a:rPr>
              <a:t>422 ms</a:t>
            </a:r>
            <a:endParaRPr lang="en-US" sz="2800"/>
          </a:p>
        </p:txBody>
      </p:sp>
      <p:sp>
        <p:nvSpPr>
          <p:cNvPr id="31" name="Text 29"/>
          <p:cNvSpPr/>
          <p:nvPr/>
        </p:nvSpPr>
        <p:spPr>
          <a:xfrm>
            <a:off x="9601200" y="5212080"/>
            <a:ext cx="1828800" cy="292608"/>
          </a:xfrm>
          <a:prstGeom prst="rect">
            <a:avLst/>
          </a:prstGeom>
          <a:noFill/>
          <a:ln/>
        </p:spPr>
        <p:txBody>
          <a:bodyPr wrap="square" lIns="0" tIns="0" rIns="0" bIns="0" rtlCol="0" anchor="ctr">
            <a:normAutofit/>
          </a:bodyPr>
          <a:lstStyle/>
          <a:p>
            <a:pPr marL="0" indent="0">
              <a:buNone/>
            </a:pPr>
            <a:r>
              <a:rPr lang="en-US" sz="1050">
                <a:solidFill>
                  <a:srgbClr val="64748B"/>
                </a:solidFill>
              </a:rPr>
              <a:t>HSHL central Wi‑Fi</a:t>
            </a:r>
            <a:endParaRPr lang="en-US" sz="1050"/>
          </a:p>
        </p:txBody>
      </p:sp>
      <p:sp>
        <p:nvSpPr>
          <p:cNvPr id="32" name="Shape 3">
            <a:extLst>
              <a:ext uri="{FF2B5EF4-FFF2-40B4-BE49-F238E27FC236}">
                <a16:creationId xmlns:a16="http://schemas.microsoft.com/office/drawing/2014/main" id="{85871834-A737-5935-230C-D6D183FD7CD8}"/>
              </a:ext>
            </a:extLst>
          </p:cNvPr>
          <p:cNvSpPr/>
          <p:nvPr/>
        </p:nvSpPr>
        <p:spPr>
          <a:xfrm>
            <a:off x="685800" y="3840545"/>
            <a:ext cx="3946767" cy="2464424"/>
          </a:xfrm>
          <a:prstGeom prst="roundRect">
            <a:avLst>
              <a:gd name="adj" fmla="val 2410"/>
            </a:avLst>
          </a:prstGeom>
          <a:solidFill>
            <a:srgbClr val="ECFDF5"/>
          </a:solidFill>
          <a:ln/>
          <a:effectLst>
            <a:outerShdw blurRad="101600" dist="25400" dir="2700000" algn="bl" rotWithShape="0">
              <a:srgbClr val="000000">
                <a:alpha val="12000"/>
              </a:srgbClr>
            </a:outerShdw>
          </a:effectLst>
        </p:spPr>
        <p:txBody>
          <a:bodyPr/>
          <a:lstStyle/>
          <a:p>
            <a:endParaRPr lang="en-DE" sz="2400"/>
          </a:p>
        </p:txBody>
      </p:sp>
      <p:sp>
        <p:nvSpPr>
          <p:cNvPr id="33" name="Text 4">
            <a:extLst>
              <a:ext uri="{FF2B5EF4-FFF2-40B4-BE49-F238E27FC236}">
                <a16:creationId xmlns:a16="http://schemas.microsoft.com/office/drawing/2014/main" id="{9DCD7F8F-A20B-0EF4-55BB-FE1CC7778FFD}"/>
              </a:ext>
            </a:extLst>
          </p:cNvPr>
          <p:cNvSpPr/>
          <p:nvPr/>
        </p:nvSpPr>
        <p:spPr>
          <a:xfrm>
            <a:off x="1259905" y="3950273"/>
            <a:ext cx="2204294" cy="368367"/>
          </a:xfrm>
          <a:prstGeom prst="rect">
            <a:avLst/>
          </a:prstGeom>
          <a:noFill/>
          <a:ln/>
        </p:spPr>
        <p:txBody>
          <a:bodyPr wrap="square" lIns="0" tIns="0" rIns="0" bIns="0" rtlCol="0" anchor="ctr"/>
          <a:lstStyle/>
          <a:p>
            <a:pPr algn="ctr"/>
            <a:r>
              <a:rPr lang="en-US" sz="1333" b="1" kern="0" spc="267">
                <a:solidFill>
                  <a:srgbClr val="047857"/>
                </a:solidFill>
                <a:latin typeface="Calibri" pitchFamily="34" charset="0"/>
                <a:ea typeface="Calibri" pitchFamily="34" charset="-122"/>
                <a:cs typeface="Calibri" pitchFamily="34" charset="-120"/>
              </a:rPr>
              <a:t>Test Procedure</a:t>
            </a:r>
          </a:p>
        </p:txBody>
      </p:sp>
      <p:sp>
        <p:nvSpPr>
          <p:cNvPr id="34" name="Text 5">
            <a:extLst>
              <a:ext uri="{FF2B5EF4-FFF2-40B4-BE49-F238E27FC236}">
                <a16:creationId xmlns:a16="http://schemas.microsoft.com/office/drawing/2014/main" id="{C303A1E8-3446-A622-FD51-EC338289595B}"/>
              </a:ext>
            </a:extLst>
          </p:cNvPr>
          <p:cNvSpPr/>
          <p:nvPr/>
        </p:nvSpPr>
        <p:spPr>
          <a:xfrm>
            <a:off x="823158" y="4243804"/>
            <a:ext cx="3218688" cy="1142995"/>
          </a:xfrm>
          <a:prstGeom prst="rect">
            <a:avLst/>
          </a:prstGeom>
          <a:noFill/>
          <a:ln/>
        </p:spPr>
        <p:txBody>
          <a:bodyPr wrap="square" rtlCol="0" anchor="t"/>
          <a:lstStyle/>
          <a:p>
            <a:r>
              <a:rPr lang="en-US" sz="1200" b="1">
                <a:solidFill>
                  <a:srgbClr val="1E293B"/>
                </a:solidFill>
                <a:latin typeface="Calibri" pitchFamily="34" charset="0"/>
                <a:ea typeface="Calibri" pitchFamily="34" charset="-122"/>
                <a:cs typeface="Calibri" pitchFamily="34" charset="-120"/>
              </a:rPr>
              <a:t>Server: </a:t>
            </a:r>
            <a:r>
              <a:rPr lang="en-US" sz="1200">
                <a:solidFill>
                  <a:srgbClr val="334155"/>
                </a:solidFill>
                <a:latin typeface="Calibri" pitchFamily="34" charset="0"/>
                <a:ea typeface="Calibri" pitchFamily="34" charset="-122"/>
                <a:cs typeface="Calibri" pitchFamily="34" charset="-120"/>
              </a:rPr>
              <a:t>Ubuntu 22.04 running Python Flask</a:t>
            </a:r>
            <a:endParaRPr lang="en-US" sz="1200"/>
          </a:p>
          <a:p>
            <a:r>
              <a:rPr lang="en-US" sz="1200" b="1">
                <a:solidFill>
                  <a:srgbClr val="1E293B"/>
                </a:solidFill>
                <a:latin typeface="Calibri" pitchFamily="34" charset="0"/>
                <a:ea typeface="Calibri" pitchFamily="34" charset="-122"/>
                <a:cs typeface="Calibri" pitchFamily="34" charset="-120"/>
              </a:rPr>
              <a:t>Client: </a:t>
            </a:r>
            <a:endParaRPr lang="en-US" sz="1200"/>
          </a:p>
          <a:p>
            <a:r>
              <a:rPr lang="en-US" sz="1200">
                <a:solidFill>
                  <a:srgbClr val="334155"/>
                </a:solidFill>
                <a:latin typeface="Calibri" pitchFamily="34" charset="0"/>
                <a:ea typeface="Calibri" pitchFamily="34" charset="-122"/>
                <a:cs typeface="Calibri" pitchFamily="34" charset="-120"/>
              </a:rPr>
              <a:t>Mobile phone → http://192.168.178.78:5000</a:t>
            </a:r>
            <a:endParaRPr lang="en-US" sz="1200"/>
          </a:p>
          <a:p>
            <a:r>
              <a:rPr lang="en-US" sz="1200" b="1">
                <a:solidFill>
                  <a:srgbClr val="1E293B"/>
                </a:solidFill>
                <a:latin typeface="Calibri" pitchFamily="34" charset="0"/>
                <a:ea typeface="Calibri" pitchFamily="34" charset="-122"/>
                <a:cs typeface="Calibri" pitchFamily="34" charset="-120"/>
              </a:rPr>
              <a:t>Terminal log:</a:t>
            </a:r>
            <a:endParaRPr lang="en-US" sz="1200"/>
          </a:p>
        </p:txBody>
      </p:sp>
      <p:sp>
        <p:nvSpPr>
          <p:cNvPr id="35" name="Shape 6">
            <a:extLst>
              <a:ext uri="{FF2B5EF4-FFF2-40B4-BE49-F238E27FC236}">
                <a16:creationId xmlns:a16="http://schemas.microsoft.com/office/drawing/2014/main" id="{B6309E4E-9632-44EB-B7B7-60EC75C3457F}"/>
              </a:ext>
            </a:extLst>
          </p:cNvPr>
          <p:cNvSpPr/>
          <p:nvPr/>
        </p:nvSpPr>
        <p:spPr>
          <a:xfrm>
            <a:off x="823158" y="5139387"/>
            <a:ext cx="3294690" cy="682095"/>
          </a:xfrm>
          <a:prstGeom prst="roundRect">
            <a:avLst>
              <a:gd name="adj" fmla="val 8333"/>
            </a:avLst>
          </a:prstGeom>
          <a:solidFill>
            <a:srgbClr val="162440"/>
          </a:solidFill>
          <a:ln/>
        </p:spPr>
        <p:txBody>
          <a:bodyPr/>
          <a:lstStyle/>
          <a:p>
            <a:endParaRPr lang="en-DE" sz="2400"/>
          </a:p>
        </p:txBody>
      </p:sp>
      <p:sp>
        <p:nvSpPr>
          <p:cNvPr id="36" name="Text 7">
            <a:extLst>
              <a:ext uri="{FF2B5EF4-FFF2-40B4-BE49-F238E27FC236}">
                <a16:creationId xmlns:a16="http://schemas.microsoft.com/office/drawing/2014/main" id="{8ED202C2-BBA9-962D-5181-3572D42DF858}"/>
              </a:ext>
            </a:extLst>
          </p:cNvPr>
          <p:cNvSpPr/>
          <p:nvPr/>
        </p:nvSpPr>
        <p:spPr>
          <a:xfrm>
            <a:off x="917448" y="5017115"/>
            <a:ext cx="3577467" cy="789391"/>
          </a:xfrm>
          <a:prstGeom prst="rect">
            <a:avLst/>
          </a:prstGeom>
          <a:noFill/>
          <a:ln/>
        </p:spPr>
        <p:txBody>
          <a:bodyPr wrap="square" rtlCol="0" anchor="ctr"/>
          <a:lstStyle/>
          <a:p>
            <a:r>
              <a:rPr lang="en-US" sz="1200">
                <a:solidFill>
                  <a:srgbClr val="7DD8EC"/>
                </a:solidFill>
                <a:latin typeface="Courier New" pitchFamily="34" charset="0"/>
                <a:ea typeface="Courier New" pitchFamily="34" charset="-122"/>
                <a:cs typeface="Courier New" pitchFamily="34" charset="-120"/>
              </a:rPr>
              <a:t>POST /process HTTP/1.1" 200</a:t>
            </a:r>
            <a:endParaRPr lang="en-US" sz="1200"/>
          </a:p>
          <a:p>
            <a:r>
              <a:rPr lang="en-US" sz="1200">
                <a:solidFill>
                  <a:srgbClr val="7DD8EC"/>
                </a:solidFill>
                <a:latin typeface="Courier New" pitchFamily="34" charset="0"/>
                <a:ea typeface="Courier New" pitchFamily="34" charset="-122"/>
                <a:cs typeface="Courier New" pitchFamily="34" charset="-120"/>
              </a:rPr>
              <a:t>192.168.178.117 → .78:5000</a:t>
            </a:r>
            <a:endParaRPr lang="en-US" sz="1200"/>
          </a:p>
        </p:txBody>
      </p:sp>
      <p:sp>
        <p:nvSpPr>
          <p:cNvPr id="37" name="Text 8">
            <a:extLst>
              <a:ext uri="{FF2B5EF4-FFF2-40B4-BE49-F238E27FC236}">
                <a16:creationId xmlns:a16="http://schemas.microsoft.com/office/drawing/2014/main" id="{96C6CB1F-073B-DCD1-C084-2369A9603D3E}"/>
              </a:ext>
            </a:extLst>
          </p:cNvPr>
          <p:cNvSpPr/>
          <p:nvPr/>
        </p:nvSpPr>
        <p:spPr>
          <a:xfrm>
            <a:off x="874776" y="5676754"/>
            <a:ext cx="4583700" cy="514390"/>
          </a:xfrm>
          <a:prstGeom prst="rect">
            <a:avLst/>
          </a:prstGeom>
          <a:noFill/>
          <a:ln/>
        </p:spPr>
        <p:txBody>
          <a:bodyPr wrap="square" rtlCol="0" anchor="ctr"/>
          <a:lstStyle/>
          <a:p>
            <a:r>
              <a:rPr lang="en-US" sz="1200" b="1">
                <a:solidFill>
                  <a:srgbClr val="047857"/>
                </a:solidFill>
                <a:latin typeface="Calibri" pitchFamily="34" charset="0"/>
                <a:ea typeface="Calibri" pitchFamily="34" charset="-122"/>
                <a:cs typeface="Calibri" pitchFamily="34" charset="-120"/>
              </a:rPr>
              <a:t>Status 200 OK </a:t>
            </a:r>
            <a:r>
              <a:rPr lang="en-US" sz="1200">
                <a:solidFill>
                  <a:srgbClr val="334155"/>
                </a:solidFill>
                <a:latin typeface="Calibri" pitchFamily="34" charset="0"/>
                <a:ea typeface="Calibri" pitchFamily="34" charset="-122"/>
                <a:cs typeface="Calibri" pitchFamily="34" charset="-120"/>
              </a:rPr>
              <a:t>confirms successful edge communication.</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DE"/>
          </a:p>
        </p:txBody>
      </p:sp>
      <p:sp>
        <p:nvSpPr>
          <p:cNvPr id="3" name="Shape 1"/>
          <p:cNvSpPr/>
          <p:nvPr/>
        </p:nvSpPr>
        <p:spPr>
          <a:xfrm>
            <a:off x="0" y="0"/>
            <a:ext cx="128016" cy="6858000"/>
          </a:xfrm>
          <a:prstGeom prst="rect">
            <a:avLst/>
          </a:prstGeom>
          <a:solidFill>
            <a:srgbClr val="2563EB"/>
          </a:solidFill>
          <a:ln w="12700">
            <a:solidFill>
              <a:srgbClr val="2563EB">
                <a:alpha val="0"/>
              </a:srgbClr>
            </a:solidFill>
            <a:prstDash val="solid"/>
          </a:ln>
        </p:spPr>
        <p:txBody>
          <a:bodyPr/>
          <a:lstStyle/>
          <a:p>
            <a:endParaRPr lang="en-DE"/>
          </a:p>
        </p:txBody>
      </p:sp>
      <p:sp>
        <p:nvSpPr>
          <p:cNvPr id="4" name="Text 2"/>
          <p:cNvSpPr/>
          <p:nvPr/>
        </p:nvSpPr>
        <p:spPr>
          <a:xfrm>
            <a:off x="502920" y="384048"/>
            <a:ext cx="10881360" cy="438912"/>
          </a:xfrm>
          <a:prstGeom prst="rect">
            <a:avLst/>
          </a:prstGeom>
          <a:noFill/>
          <a:ln/>
        </p:spPr>
        <p:txBody>
          <a:bodyPr wrap="square" lIns="0" tIns="0" rIns="0" bIns="0" rtlCol="0" anchor="ctr">
            <a:normAutofit/>
          </a:bodyPr>
          <a:lstStyle/>
          <a:p>
            <a:pPr marL="0" indent="0">
              <a:buNone/>
            </a:pPr>
            <a:r>
              <a:rPr lang="en-US" sz="2800" b="1">
                <a:solidFill>
                  <a:srgbClr val="0B172A"/>
                </a:solidFill>
                <a:latin typeface="Aptos Display" pitchFamily="34" charset="0"/>
                <a:ea typeface="Aptos Display" pitchFamily="34" charset="-122"/>
                <a:cs typeface="Aptos Display" pitchFamily="34" charset="-120"/>
              </a:rPr>
              <a:t>Cloud Latency Test</a:t>
            </a:r>
            <a:endParaRPr lang="en-US" sz="2800"/>
          </a:p>
        </p:txBody>
      </p:sp>
      <p:sp>
        <p:nvSpPr>
          <p:cNvPr id="7" name="Text 5"/>
          <p:cNvSpPr/>
          <p:nvPr/>
        </p:nvSpPr>
        <p:spPr>
          <a:xfrm>
            <a:off x="11384280" y="6446520"/>
            <a:ext cx="320040" cy="228600"/>
          </a:xfrm>
          <a:prstGeom prst="rect">
            <a:avLst/>
          </a:prstGeom>
          <a:noFill/>
          <a:ln/>
        </p:spPr>
        <p:txBody>
          <a:bodyPr wrap="square" lIns="0" tIns="0" rIns="0" bIns="0" rtlCol="0" anchor="ctr"/>
          <a:lstStyle/>
          <a:p>
            <a:pPr marL="0" indent="0" algn="r">
              <a:buNone/>
            </a:pPr>
            <a:r>
              <a:rPr lang="en-US" sz="850" b="1">
                <a:solidFill>
                  <a:srgbClr val="64748B"/>
                </a:solidFill>
                <a:latin typeface="Aptos" pitchFamily="34" charset="0"/>
                <a:ea typeface="Aptos" pitchFamily="34" charset="-122"/>
                <a:cs typeface="Aptos" pitchFamily="34" charset="-120"/>
              </a:rPr>
              <a:t>04</a:t>
            </a:r>
            <a:endParaRPr lang="en-US" sz="850"/>
          </a:p>
        </p:txBody>
      </p:sp>
      <p:sp>
        <p:nvSpPr>
          <p:cNvPr id="8" name="Shape 6"/>
          <p:cNvSpPr/>
          <p:nvPr/>
        </p:nvSpPr>
        <p:spPr>
          <a:xfrm>
            <a:off x="2148840" y="2606040"/>
            <a:ext cx="958154" cy="0"/>
          </a:xfrm>
          <a:prstGeom prst="line">
            <a:avLst/>
          </a:prstGeom>
          <a:noFill/>
          <a:ln w="30480">
            <a:solidFill>
              <a:srgbClr val="F59E0B"/>
            </a:solidFill>
            <a:prstDash val="solid"/>
            <a:headEnd type="none"/>
            <a:tailEnd type="triangle"/>
          </a:ln>
        </p:spPr>
        <p:txBody>
          <a:bodyPr/>
          <a:lstStyle/>
          <a:p>
            <a:endParaRPr lang="en-DE"/>
          </a:p>
        </p:txBody>
      </p:sp>
      <p:sp>
        <p:nvSpPr>
          <p:cNvPr id="9" name="Shape 7"/>
          <p:cNvSpPr/>
          <p:nvPr/>
        </p:nvSpPr>
        <p:spPr>
          <a:xfrm>
            <a:off x="4661474" y="2606040"/>
            <a:ext cx="874087" cy="0"/>
          </a:xfrm>
          <a:prstGeom prst="line">
            <a:avLst/>
          </a:prstGeom>
          <a:noFill/>
          <a:ln w="30480">
            <a:solidFill>
              <a:srgbClr val="F59E0B"/>
            </a:solidFill>
            <a:prstDash val="solid"/>
            <a:headEnd type="none"/>
            <a:tailEnd type="triangle"/>
          </a:ln>
        </p:spPr>
        <p:txBody>
          <a:bodyPr/>
          <a:lstStyle/>
          <a:p>
            <a:endParaRPr lang="en-DE"/>
          </a:p>
        </p:txBody>
      </p:sp>
      <p:sp>
        <p:nvSpPr>
          <p:cNvPr id="10" name="Shape 8"/>
          <p:cNvSpPr/>
          <p:nvPr/>
        </p:nvSpPr>
        <p:spPr>
          <a:xfrm>
            <a:off x="9548194" y="2606040"/>
            <a:ext cx="796413" cy="0"/>
          </a:xfrm>
          <a:prstGeom prst="line">
            <a:avLst/>
          </a:prstGeom>
          <a:noFill/>
          <a:ln w="30480">
            <a:solidFill>
              <a:srgbClr val="F59E0B"/>
            </a:solidFill>
            <a:prstDash val="solid"/>
            <a:headEnd type="none"/>
            <a:tailEnd type="triangle"/>
          </a:ln>
        </p:spPr>
        <p:txBody>
          <a:bodyPr/>
          <a:lstStyle/>
          <a:p>
            <a:endParaRPr lang="en-DE"/>
          </a:p>
        </p:txBody>
      </p:sp>
      <p:sp>
        <p:nvSpPr>
          <p:cNvPr id="11" name="Shape 9"/>
          <p:cNvSpPr/>
          <p:nvPr/>
        </p:nvSpPr>
        <p:spPr>
          <a:xfrm>
            <a:off x="685800" y="2057400"/>
            <a:ext cx="1463040" cy="1097280"/>
          </a:xfrm>
          <a:prstGeom prst="roundRect">
            <a:avLst>
              <a:gd name="adj" fmla="val 6667"/>
            </a:avLst>
          </a:prstGeom>
          <a:solidFill>
            <a:srgbClr val="FEF3C7"/>
          </a:solidFill>
          <a:ln w="15240">
            <a:solidFill>
              <a:srgbClr val="F59E0B"/>
            </a:solidFill>
            <a:prstDash val="solid"/>
          </a:ln>
          <a:effectLst>
            <a:outerShdw blurRad="19050" dist="12700" dir="2700000" algn="bl" rotWithShape="0">
              <a:srgbClr val="000000">
                <a:alpha val="10000"/>
              </a:srgbClr>
            </a:outerShdw>
          </a:effectLst>
        </p:spPr>
        <p:txBody>
          <a:bodyPr/>
          <a:lstStyle/>
          <a:p>
            <a:endParaRPr lang="en-DE"/>
          </a:p>
        </p:txBody>
      </p:sp>
      <p:sp>
        <p:nvSpPr>
          <p:cNvPr id="12" name="Text 10"/>
          <p:cNvSpPr/>
          <p:nvPr/>
        </p:nvSpPr>
        <p:spPr>
          <a:xfrm>
            <a:off x="795528" y="2185416"/>
            <a:ext cx="1243584" cy="841248"/>
          </a:xfrm>
          <a:prstGeom prst="rect">
            <a:avLst/>
          </a:prstGeom>
          <a:noFill/>
          <a:ln/>
        </p:spPr>
        <p:txBody>
          <a:bodyPr wrap="square" lIns="0" tIns="0" rIns="0" bIns="0" rtlCol="0" anchor="ctr">
            <a:normAutofit/>
          </a:bodyPr>
          <a:lstStyle/>
          <a:p>
            <a:pPr marL="0" indent="0" algn="ctr">
              <a:buNone/>
            </a:pPr>
            <a:r>
              <a:rPr lang="en-US" sz="1150" b="1">
                <a:solidFill>
                  <a:srgbClr val="0B172A"/>
                </a:solidFill>
                <a:latin typeface="Aptos" pitchFamily="34" charset="0"/>
                <a:ea typeface="Aptos" pitchFamily="34" charset="-122"/>
                <a:cs typeface="Aptos" pitchFamily="34" charset="-120"/>
              </a:rPr>
              <a:t>Mobile</a:t>
            </a:r>
            <a:endParaRPr lang="en-US" sz="1150"/>
          </a:p>
          <a:p>
            <a:pPr marL="0" indent="0" algn="ctr">
              <a:buNone/>
            </a:pPr>
            <a:r>
              <a:rPr lang="en-US" sz="1150" b="1">
                <a:solidFill>
                  <a:srgbClr val="0B172A"/>
                </a:solidFill>
                <a:latin typeface="Aptos" pitchFamily="34" charset="0"/>
                <a:ea typeface="Aptos" pitchFamily="34" charset="-122"/>
                <a:cs typeface="Aptos" pitchFamily="34" charset="-120"/>
              </a:rPr>
              <a:t>phone</a:t>
            </a:r>
            <a:endParaRPr lang="en-US" sz="1150"/>
          </a:p>
        </p:txBody>
      </p:sp>
      <p:sp>
        <p:nvSpPr>
          <p:cNvPr id="13" name="Shape 11"/>
          <p:cNvSpPr/>
          <p:nvPr/>
        </p:nvSpPr>
        <p:spPr>
          <a:xfrm>
            <a:off x="3106994" y="2042703"/>
            <a:ext cx="1554480" cy="1097280"/>
          </a:xfrm>
          <a:prstGeom prst="roundRect">
            <a:avLst>
              <a:gd name="adj" fmla="val 6667"/>
            </a:avLst>
          </a:prstGeom>
          <a:solidFill>
            <a:srgbClr val="FFEDD5"/>
          </a:solidFill>
          <a:ln w="15240">
            <a:solidFill>
              <a:srgbClr val="F59E0B"/>
            </a:solidFill>
            <a:prstDash val="solid"/>
          </a:ln>
          <a:effectLst>
            <a:outerShdw blurRad="19050" dist="12700" dir="2700000" algn="bl" rotWithShape="0">
              <a:srgbClr val="000000">
                <a:alpha val="10000"/>
              </a:srgbClr>
            </a:outerShdw>
          </a:effectLst>
        </p:spPr>
        <p:txBody>
          <a:bodyPr/>
          <a:lstStyle/>
          <a:p>
            <a:endParaRPr lang="en-DE"/>
          </a:p>
        </p:txBody>
      </p:sp>
      <p:sp>
        <p:nvSpPr>
          <p:cNvPr id="14" name="Text 12"/>
          <p:cNvSpPr/>
          <p:nvPr/>
        </p:nvSpPr>
        <p:spPr>
          <a:xfrm>
            <a:off x="3216722" y="2170719"/>
            <a:ext cx="1335024" cy="841248"/>
          </a:xfrm>
          <a:prstGeom prst="rect">
            <a:avLst/>
          </a:prstGeom>
          <a:noFill/>
          <a:ln/>
        </p:spPr>
        <p:txBody>
          <a:bodyPr wrap="square" lIns="0" tIns="0" rIns="0" bIns="0" rtlCol="0" anchor="ctr">
            <a:normAutofit/>
          </a:bodyPr>
          <a:lstStyle/>
          <a:p>
            <a:pPr marL="0" indent="0" algn="ctr">
              <a:buNone/>
            </a:pPr>
            <a:r>
              <a:rPr lang="en-US" sz="1150" b="1">
                <a:solidFill>
                  <a:srgbClr val="0B172A"/>
                </a:solidFill>
                <a:latin typeface="Aptos" pitchFamily="34" charset="0"/>
                <a:ea typeface="Aptos" pitchFamily="34" charset="-122"/>
                <a:cs typeface="Aptos" pitchFamily="34" charset="-120"/>
              </a:rPr>
              <a:t>Internet</a:t>
            </a:r>
            <a:endParaRPr lang="en-US" sz="1150"/>
          </a:p>
          <a:p>
            <a:pPr marL="0" indent="0" algn="ctr">
              <a:buNone/>
            </a:pPr>
            <a:r>
              <a:rPr lang="en-US" sz="1150" b="1">
                <a:solidFill>
                  <a:srgbClr val="0B172A"/>
                </a:solidFill>
                <a:latin typeface="Aptos" pitchFamily="34" charset="0"/>
                <a:ea typeface="Aptos" pitchFamily="34" charset="-122"/>
                <a:cs typeface="Aptos" pitchFamily="34" charset="-120"/>
              </a:rPr>
              <a:t>route</a:t>
            </a:r>
            <a:endParaRPr lang="en-US" sz="1150"/>
          </a:p>
        </p:txBody>
      </p:sp>
      <p:sp>
        <p:nvSpPr>
          <p:cNvPr id="15" name="Shape 13"/>
          <p:cNvSpPr/>
          <p:nvPr/>
        </p:nvSpPr>
        <p:spPr>
          <a:xfrm>
            <a:off x="5535561" y="2047889"/>
            <a:ext cx="1554480" cy="1097280"/>
          </a:xfrm>
          <a:prstGeom prst="roundRect">
            <a:avLst>
              <a:gd name="adj" fmla="val 6667"/>
            </a:avLst>
          </a:prstGeom>
          <a:solidFill>
            <a:srgbClr val="DBEAFE"/>
          </a:solidFill>
          <a:ln w="15240">
            <a:solidFill>
              <a:srgbClr val="2563EB"/>
            </a:solidFill>
            <a:prstDash val="solid"/>
          </a:ln>
          <a:effectLst>
            <a:outerShdw blurRad="19050" dist="12700" dir="2700000" algn="bl" rotWithShape="0">
              <a:srgbClr val="000000">
                <a:alpha val="10000"/>
              </a:srgbClr>
            </a:outerShdw>
          </a:effectLst>
        </p:spPr>
        <p:txBody>
          <a:bodyPr/>
          <a:lstStyle/>
          <a:p>
            <a:endParaRPr lang="en-DE"/>
          </a:p>
        </p:txBody>
      </p:sp>
      <p:sp>
        <p:nvSpPr>
          <p:cNvPr id="16" name="Text 14"/>
          <p:cNvSpPr/>
          <p:nvPr/>
        </p:nvSpPr>
        <p:spPr>
          <a:xfrm>
            <a:off x="5645289" y="2175905"/>
            <a:ext cx="1335024" cy="841248"/>
          </a:xfrm>
          <a:prstGeom prst="rect">
            <a:avLst/>
          </a:prstGeom>
          <a:noFill/>
          <a:ln/>
        </p:spPr>
        <p:txBody>
          <a:bodyPr wrap="square" lIns="0" tIns="0" rIns="0" bIns="0" rtlCol="0" anchor="ctr">
            <a:normAutofit/>
          </a:bodyPr>
          <a:lstStyle/>
          <a:p>
            <a:pPr marL="0" indent="0" algn="ctr">
              <a:buNone/>
            </a:pPr>
            <a:r>
              <a:rPr lang="en-US" sz="1120" b="1">
                <a:solidFill>
                  <a:srgbClr val="0B172A"/>
                </a:solidFill>
                <a:latin typeface="Aptos" pitchFamily="34" charset="0"/>
                <a:ea typeface="Aptos" pitchFamily="34" charset="-122"/>
                <a:cs typeface="Aptos" pitchFamily="34" charset="-120"/>
              </a:rPr>
              <a:t>Remote cloud</a:t>
            </a:r>
            <a:endParaRPr lang="en-US" sz="1120"/>
          </a:p>
          <a:p>
            <a:pPr marL="0" indent="0" algn="ctr">
              <a:buNone/>
            </a:pPr>
            <a:r>
              <a:rPr lang="en-US" sz="1120" b="1">
                <a:solidFill>
                  <a:srgbClr val="0B172A"/>
                </a:solidFill>
                <a:latin typeface="Aptos" pitchFamily="34" charset="0"/>
                <a:ea typeface="Aptos" pitchFamily="34" charset="-122"/>
                <a:cs typeface="Aptos" pitchFamily="34" charset="-120"/>
              </a:rPr>
              <a:t>server</a:t>
            </a:r>
            <a:endParaRPr lang="en-US" sz="1120"/>
          </a:p>
        </p:txBody>
      </p:sp>
      <p:sp>
        <p:nvSpPr>
          <p:cNvPr id="17" name="Shape 15"/>
          <p:cNvSpPr/>
          <p:nvPr/>
        </p:nvSpPr>
        <p:spPr>
          <a:xfrm>
            <a:off x="10344607" y="2057400"/>
            <a:ext cx="1417320" cy="1097280"/>
          </a:xfrm>
          <a:prstGeom prst="roundRect">
            <a:avLst>
              <a:gd name="adj" fmla="val 6667"/>
            </a:avLst>
          </a:prstGeom>
          <a:solidFill>
            <a:srgbClr val="FEF3C7"/>
          </a:solidFill>
          <a:ln w="15240">
            <a:solidFill>
              <a:srgbClr val="F59E0B"/>
            </a:solidFill>
            <a:prstDash val="solid"/>
          </a:ln>
          <a:effectLst>
            <a:outerShdw blurRad="19050" dist="12700" dir="2700000" algn="bl" rotWithShape="0">
              <a:srgbClr val="000000">
                <a:alpha val="10000"/>
              </a:srgbClr>
            </a:outerShdw>
          </a:effectLst>
        </p:spPr>
        <p:txBody>
          <a:bodyPr/>
          <a:lstStyle/>
          <a:p>
            <a:endParaRPr lang="en-DE"/>
          </a:p>
        </p:txBody>
      </p:sp>
      <p:sp>
        <p:nvSpPr>
          <p:cNvPr id="18" name="Text 16"/>
          <p:cNvSpPr/>
          <p:nvPr/>
        </p:nvSpPr>
        <p:spPr>
          <a:xfrm>
            <a:off x="10454335" y="2185416"/>
            <a:ext cx="1197864" cy="841248"/>
          </a:xfrm>
          <a:prstGeom prst="rect">
            <a:avLst/>
          </a:prstGeom>
          <a:noFill/>
          <a:ln/>
        </p:spPr>
        <p:txBody>
          <a:bodyPr wrap="square" lIns="0" tIns="0" rIns="0" bIns="0" rtlCol="0" anchor="ctr">
            <a:normAutofit/>
          </a:bodyPr>
          <a:lstStyle/>
          <a:p>
            <a:pPr marL="0" indent="0" algn="ctr">
              <a:buNone/>
            </a:pPr>
            <a:r>
              <a:rPr lang="en-US" sz="1120" b="1">
                <a:solidFill>
                  <a:srgbClr val="0B172A"/>
                </a:solidFill>
                <a:latin typeface="Aptos" pitchFamily="34" charset="0"/>
                <a:ea typeface="Aptos" pitchFamily="34" charset="-122"/>
                <a:cs typeface="Aptos" pitchFamily="34" charset="-120"/>
              </a:rPr>
              <a:t>Response</a:t>
            </a:r>
            <a:endParaRPr lang="en-US" sz="1120"/>
          </a:p>
          <a:p>
            <a:pPr marL="0" indent="0" algn="ctr">
              <a:buNone/>
            </a:pPr>
            <a:r>
              <a:rPr lang="en-US" sz="1120" b="1">
                <a:solidFill>
                  <a:srgbClr val="0B172A"/>
                </a:solidFill>
                <a:latin typeface="Aptos" pitchFamily="34" charset="0"/>
                <a:ea typeface="Aptos" pitchFamily="34" charset="-122"/>
                <a:cs typeface="Aptos" pitchFamily="34" charset="-120"/>
              </a:rPr>
              <a:t>returns</a:t>
            </a:r>
            <a:endParaRPr lang="en-US" sz="1120"/>
          </a:p>
        </p:txBody>
      </p:sp>
      <p:sp>
        <p:nvSpPr>
          <p:cNvPr id="20" name="Text 18"/>
          <p:cNvSpPr/>
          <p:nvPr/>
        </p:nvSpPr>
        <p:spPr>
          <a:xfrm>
            <a:off x="1051560" y="4379976"/>
            <a:ext cx="4846320" cy="603504"/>
          </a:xfrm>
          <a:prstGeom prst="rect">
            <a:avLst/>
          </a:prstGeom>
          <a:noFill/>
          <a:ln/>
        </p:spPr>
        <p:txBody>
          <a:bodyPr wrap="square" lIns="254" tIns="254" rIns="254" bIns="254" rtlCol="0" anchor="ctr">
            <a:normAutofit/>
          </a:bodyPr>
          <a:lstStyle/>
          <a:p>
            <a:pPr marL="0" indent="0">
              <a:buNone/>
            </a:pPr>
            <a:r>
              <a:rPr lang="en-US" sz="1200">
                <a:solidFill>
                  <a:srgbClr val="DCFCE7"/>
                </a:solidFill>
                <a:latin typeface="Consolas" pitchFamily="34" charset="0"/>
                <a:ea typeface="Consolas" pitchFamily="34" charset="-122"/>
                <a:cs typeface="Consolas" pitchFamily="34" charset="-120"/>
              </a:rPr>
              <a:t>curl -w "Total time: %{time_total} seconds"</a:t>
            </a:r>
            <a:endParaRPr lang="en-US" sz="1200"/>
          </a:p>
          <a:p>
            <a:pPr marL="0" indent="0">
              <a:buNone/>
            </a:pPr>
            <a:r>
              <a:rPr lang="en-US" sz="1200">
                <a:solidFill>
                  <a:srgbClr val="DCFCE7"/>
                </a:solidFill>
                <a:latin typeface="Consolas" pitchFamily="34" charset="0"/>
                <a:ea typeface="Consolas" pitchFamily="34" charset="-122"/>
                <a:cs typeface="Consolas" pitchFamily="34" charset="-120"/>
              </a:rPr>
              <a:t>https://httpbin.org/get</a:t>
            </a:r>
            <a:endParaRPr lang="en-US" sz="1200"/>
          </a:p>
        </p:txBody>
      </p:sp>
      <p:sp>
        <p:nvSpPr>
          <p:cNvPr id="21" name="Text 19"/>
          <p:cNvSpPr/>
          <p:nvPr/>
        </p:nvSpPr>
        <p:spPr>
          <a:xfrm>
            <a:off x="7040880" y="4160520"/>
            <a:ext cx="2103120" cy="228600"/>
          </a:xfrm>
          <a:prstGeom prst="rect">
            <a:avLst/>
          </a:prstGeom>
          <a:noFill/>
          <a:ln/>
        </p:spPr>
        <p:txBody>
          <a:bodyPr wrap="square" lIns="0" tIns="0" rIns="0" bIns="0" rtlCol="0" anchor="ctr">
            <a:normAutofit/>
          </a:bodyPr>
          <a:lstStyle/>
          <a:p>
            <a:pPr marL="0" indent="0">
              <a:buNone/>
            </a:pPr>
            <a:r>
              <a:rPr lang="en-US" sz="1100" b="1">
                <a:solidFill>
                  <a:srgbClr val="64748B"/>
                </a:solidFill>
              </a:rPr>
              <a:t>Measured cloud latency</a:t>
            </a:r>
            <a:endParaRPr lang="en-US" sz="1100"/>
          </a:p>
        </p:txBody>
      </p:sp>
      <p:sp>
        <p:nvSpPr>
          <p:cNvPr id="22" name="Text 20"/>
          <p:cNvSpPr/>
          <p:nvPr/>
        </p:nvSpPr>
        <p:spPr>
          <a:xfrm>
            <a:off x="7040880" y="4480560"/>
            <a:ext cx="2103120" cy="512064"/>
          </a:xfrm>
          <a:prstGeom prst="rect">
            <a:avLst/>
          </a:prstGeom>
          <a:noFill/>
          <a:ln/>
        </p:spPr>
        <p:txBody>
          <a:bodyPr wrap="square" lIns="0" tIns="0" rIns="0" bIns="0" rtlCol="0" anchor="ctr">
            <a:normAutofit/>
          </a:bodyPr>
          <a:lstStyle/>
          <a:p>
            <a:pPr marL="0" indent="0">
              <a:buNone/>
            </a:pPr>
            <a:r>
              <a:rPr lang="en-US" sz="2800" b="1">
                <a:solidFill>
                  <a:srgbClr val="F59E0B"/>
                </a:solidFill>
                <a:latin typeface="Aptos Display" pitchFamily="34" charset="0"/>
                <a:ea typeface="Aptos Display" pitchFamily="34" charset="-122"/>
                <a:cs typeface="Aptos Display" pitchFamily="34" charset="-120"/>
              </a:rPr>
              <a:t>510 ms</a:t>
            </a:r>
            <a:endParaRPr lang="en-US" sz="2800"/>
          </a:p>
        </p:txBody>
      </p:sp>
      <p:sp>
        <p:nvSpPr>
          <p:cNvPr id="24" name="Text 22"/>
          <p:cNvSpPr/>
          <p:nvPr/>
        </p:nvSpPr>
        <p:spPr>
          <a:xfrm>
            <a:off x="9326880" y="4160520"/>
            <a:ext cx="2194560" cy="228600"/>
          </a:xfrm>
          <a:prstGeom prst="rect">
            <a:avLst/>
          </a:prstGeom>
          <a:noFill/>
          <a:ln/>
        </p:spPr>
        <p:txBody>
          <a:bodyPr wrap="square" lIns="0" tIns="0" rIns="0" bIns="0" rtlCol="0" anchor="ctr">
            <a:normAutofit/>
          </a:bodyPr>
          <a:lstStyle/>
          <a:p>
            <a:pPr marL="0" indent="0">
              <a:buNone/>
            </a:pPr>
            <a:r>
              <a:rPr lang="en-US" sz="1100" b="1">
                <a:solidFill>
                  <a:srgbClr val="64748B"/>
                </a:solidFill>
              </a:rPr>
              <a:t>Worst shared network result</a:t>
            </a:r>
            <a:endParaRPr lang="en-US" sz="1100"/>
          </a:p>
        </p:txBody>
      </p:sp>
      <p:sp>
        <p:nvSpPr>
          <p:cNvPr id="25" name="Text 23"/>
          <p:cNvSpPr/>
          <p:nvPr/>
        </p:nvSpPr>
        <p:spPr>
          <a:xfrm>
            <a:off x="9326880" y="4480560"/>
            <a:ext cx="2194560" cy="512064"/>
          </a:xfrm>
          <a:prstGeom prst="rect">
            <a:avLst/>
          </a:prstGeom>
          <a:noFill/>
          <a:ln/>
        </p:spPr>
        <p:txBody>
          <a:bodyPr wrap="square" lIns="0" tIns="0" rIns="0" bIns="0" rtlCol="0" anchor="ctr">
            <a:normAutofit/>
          </a:bodyPr>
          <a:lstStyle/>
          <a:p>
            <a:pPr marL="0" indent="0">
              <a:buNone/>
            </a:pPr>
            <a:r>
              <a:rPr lang="en-US" sz="2800" b="1">
                <a:solidFill>
                  <a:srgbClr val="EF4444"/>
                </a:solidFill>
                <a:latin typeface="Aptos Display" pitchFamily="34" charset="0"/>
                <a:ea typeface="Aptos Display" pitchFamily="34" charset="-122"/>
                <a:cs typeface="Aptos Display" pitchFamily="34" charset="-120"/>
              </a:rPr>
              <a:t>2170 ms</a:t>
            </a:r>
            <a:endParaRPr lang="en-US" sz="2800"/>
          </a:p>
        </p:txBody>
      </p:sp>
      <p:sp>
        <p:nvSpPr>
          <p:cNvPr id="26" name="Text 24"/>
          <p:cNvSpPr/>
          <p:nvPr/>
        </p:nvSpPr>
        <p:spPr>
          <a:xfrm>
            <a:off x="9436018" y="5029200"/>
            <a:ext cx="2194560" cy="292608"/>
          </a:xfrm>
          <a:prstGeom prst="rect">
            <a:avLst/>
          </a:prstGeom>
          <a:noFill/>
          <a:ln/>
        </p:spPr>
        <p:txBody>
          <a:bodyPr wrap="square" lIns="0" tIns="0" rIns="0" bIns="0" rtlCol="0" anchor="ctr">
            <a:normAutofit/>
          </a:bodyPr>
          <a:lstStyle/>
          <a:p>
            <a:pPr marL="0" indent="0">
              <a:buNone/>
            </a:pPr>
            <a:r>
              <a:rPr lang="en-US" sz="1050">
                <a:solidFill>
                  <a:srgbClr val="64748B"/>
                </a:solidFill>
              </a:rPr>
              <a:t>HSHL central Wi‑Fi</a:t>
            </a:r>
            <a:endParaRPr lang="en-US" sz="1050"/>
          </a:p>
        </p:txBody>
      </p:sp>
      <p:sp>
        <p:nvSpPr>
          <p:cNvPr id="27" name="Shape 11">
            <a:extLst>
              <a:ext uri="{FF2B5EF4-FFF2-40B4-BE49-F238E27FC236}">
                <a16:creationId xmlns:a16="http://schemas.microsoft.com/office/drawing/2014/main" id="{8203E6DC-67BD-FB27-94D8-1F598C2ACDB4}"/>
              </a:ext>
            </a:extLst>
          </p:cNvPr>
          <p:cNvSpPr/>
          <p:nvPr/>
        </p:nvSpPr>
        <p:spPr>
          <a:xfrm>
            <a:off x="670560" y="3766835"/>
            <a:ext cx="3517982" cy="2394698"/>
          </a:xfrm>
          <a:prstGeom prst="roundRect">
            <a:avLst>
              <a:gd name="adj" fmla="val 2410"/>
            </a:avLst>
          </a:prstGeom>
          <a:solidFill>
            <a:srgbClr val="FFF7ED"/>
          </a:solidFill>
          <a:ln/>
          <a:effectLst>
            <a:outerShdw blurRad="101600" dist="25400" dir="2700000" algn="bl" rotWithShape="0">
              <a:srgbClr val="000000">
                <a:alpha val="12000"/>
              </a:srgbClr>
            </a:outerShdw>
          </a:effectLst>
        </p:spPr>
        <p:txBody>
          <a:bodyPr/>
          <a:lstStyle/>
          <a:p>
            <a:endParaRPr lang="en-DE" sz="2400"/>
          </a:p>
        </p:txBody>
      </p:sp>
      <p:sp>
        <p:nvSpPr>
          <p:cNvPr id="30" name="Text 4">
            <a:extLst>
              <a:ext uri="{FF2B5EF4-FFF2-40B4-BE49-F238E27FC236}">
                <a16:creationId xmlns:a16="http://schemas.microsoft.com/office/drawing/2014/main" id="{B0AF9283-CA5D-5EA0-A88D-234AA2F85E86}"/>
              </a:ext>
            </a:extLst>
          </p:cNvPr>
          <p:cNvSpPr/>
          <p:nvPr/>
        </p:nvSpPr>
        <p:spPr>
          <a:xfrm>
            <a:off x="1119939" y="3882576"/>
            <a:ext cx="2204294" cy="368367"/>
          </a:xfrm>
          <a:prstGeom prst="rect">
            <a:avLst/>
          </a:prstGeom>
          <a:noFill/>
          <a:ln/>
        </p:spPr>
        <p:txBody>
          <a:bodyPr wrap="square" lIns="0" tIns="0" rIns="0" bIns="0" rtlCol="0" anchor="ctr"/>
          <a:lstStyle/>
          <a:p>
            <a:pPr algn="ctr"/>
            <a:r>
              <a:rPr lang="en-US" sz="1333" b="1" kern="0" spc="267">
                <a:solidFill>
                  <a:srgbClr val="047857"/>
                </a:solidFill>
                <a:latin typeface="Calibri" pitchFamily="34" charset="0"/>
                <a:ea typeface="Calibri" pitchFamily="34" charset="-122"/>
                <a:cs typeface="Calibri" pitchFamily="34" charset="-120"/>
              </a:rPr>
              <a:t>Test Procedure</a:t>
            </a:r>
          </a:p>
        </p:txBody>
      </p:sp>
      <p:sp>
        <p:nvSpPr>
          <p:cNvPr id="31" name="Text 5">
            <a:extLst>
              <a:ext uri="{FF2B5EF4-FFF2-40B4-BE49-F238E27FC236}">
                <a16:creationId xmlns:a16="http://schemas.microsoft.com/office/drawing/2014/main" id="{73A74130-AF13-4964-DD0F-F2EFA7FA2CF0}"/>
              </a:ext>
            </a:extLst>
          </p:cNvPr>
          <p:cNvSpPr/>
          <p:nvPr/>
        </p:nvSpPr>
        <p:spPr>
          <a:xfrm>
            <a:off x="823158" y="4243804"/>
            <a:ext cx="3218688" cy="1142995"/>
          </a:xfrm>
          <a:prstGeom prst="rect">
            <a:avLst/>
          </a:prstGeom>
          <a:noFill/>
          <a:ln/>
        </p:spPr>
        <p:txBody>
          <a:bodyPr wrap="square" rtlCol="0" anchor="t"/>
          <a:lstStyle/>
          <a:p>
            <a:r>
              <a:rPr lang="en-US" sz="1200" b="1">
                <a:solidFill>
                  <a:srgbClr val="1E293B"/>
                </a:solidFill>
                <a:latin typeface="Calibri" pitchFamily="34" charset="0"/>
                <a:ea typeface="Calibri" pitchFamily="34" charset="-122"/>
                <a:cs typeface="Calibri" pitchFamily="34" charset="-120"/>
              </a:rPr>
              <a:t>Method: </a:t>
            </a:r>
            <a:r>
              <a:rPr lang="en-US" sz="1200">
                <a:solidFill>
                  <a:srgbClr val="334155"/>
                </a:solidFill>
                <a:latin typeface="Calibri" pitchFamily="34" charset="0"/>
                <a:ea typeface="Calibri" pitchFamily="34" charset="-122"/>
                <a:cs typeface="Calibri" pitchFamily="34" charset="-120"/>
              </a:rPr>
              <a:t>HTTP request via public internet</a:t>
            </a:r>
            <a:endParaRPr lang="en-US" sz="1200"/>
          </a:p>
          <a:p>
            <a:r>
              <a:rPr lang="en-US" sz="1200" b="1">
                <a:solidFill>
                  <a:srgbClr val="1E293B"/>
                </a:solidFill>
                <a:latin typeface="Calibri" pitchFamily="34" charset="0"/>
                <a:ea typeface="Calibri" pitchFamily="34" charset="-122"/>
                <a:cs typeface="Calibri" pitchFamily="34" charset="-120"/>
              </a:rPr>
              <a:t>Target: </a:t>
            </a:r>
            <a:endParaRPr lang="en-US" sz="1200"/>
          </a:p>
          <a:p>
            <a:r>
              <a:rPr lang="en-US" sz="1200">
                <a:solidFill>
                  <a:srgbClr val="334155"/>
                </a:solidFill>
                <a:latin typeface="Calibri" pitchFamily="34" charset="0"/>
                <a:ea typeface="Calibri" pitchFamily="34" charset="-122"/>
                <a:cs typeface="Calibri" pitchFamily="34" charset="-120"/>
              </a:rPr>
              <a:t>https://httpbin.org/get</a:t>
            </a:r>
            <a:endParaRPr lang="en-US" sz="1200"/>
          </a:p>
          <a:p>
            <a:r>
              <a:rPr lang="en-US" sz="1200" b="1">
                <a:solidFill>
                  <a:srgbClr val="1E293B"/>
                </a:solidFill>
                <a:latin typeface="Calibri" pitchFamily="34" charset="0"/>
                <a:ea typeface="Calibri" pitchFamily="34" charset="-122"/>
                <a:cs typeface="Calibri" pitchFamily="34" charset="-120"/>
              </a:rPr>
              <a:t>Command:</a:t>
            </a:r>
            <a:endParaRPr lang="en-US" sz="1200"/>
          </a:p>
        </p:txBody>
      </p:sp>
      <p:sp>
        <p:nvSpPr>
          <p:cNvPr id="32" name="Shape 6">
            <a:extLst>
              <a:ext uri="{FF2B5EF4-FFF2-40B4-BE49-F238E27FC236}">
                <a16:creationId xmlns:a16="http://schemas.microsoft.com/office/drawing/2014/main" id="{A1FD7C37-ACC6-EE8F-2F59-30C95481428D}"/>
              </a:ext>
            </a:extLst>
          </p:cNvPr>
          <p:cNvSpPr/>
          <p:nvPr/>
        </p:nvSpPr>
        <p:spPr>
          <a:xfrm>
            <a:off x="823158" y="5139387"/>
            <a:ext cx="2641041" cy="682095"/>
          </a:xfrm>
          <a:prstGeom prst="roundRect">
            <a:avLst>
              <a:gd name="adj" fmla="val 8333"/>
            </a:avLst>
          </a:prstGeom>
          <a:solidFill>
            <a:srgbClr val="162440"/>
          </a:solidFill>
          <a:ln/>
        </p:spPr>
        <p:txBody>
          <a:bodyPr/>
          <a:lstStyle/>
          <a:p>
            <a:endParaRPr lang="en-DE" sz="2400"/>
          </a:p>
        </p:txBody>
      </p:sp>
      <p:sp>
        <p:nvSpPr>
          <p:cNvPr id="33" name="Text 7">
            <a:extLst>
              <a:ext uri="{FF2B5EF4-FFF2-40B4-BE49-F238E27FC236}">
                <a16:creationId xmlns:a16="http://schemas.microsoft.com/office/drawing/2014/main" id="{89785384-81FF-FD73-8060-D2427F10BA07}"/>
              </a:ext>
            </a:extLst>
          </p:cNvPr>
          <p:cNvSpPr/>
          <p:nvPr/>
        </p:nvSpPr>
        <p:spPr>
          <a:xfrm>
            <a:off x="870302" y="5070057"/>
            <a:ext cx="2546751" cy="789391"/>
          </a:xfrm>
          <a:prstGeom prst="rect">
            <a:avLst/>
          </a:prstGeom>
          <a:noFill/>
          <a:ln/>
        </p:spPr>
        <p:txBody>
          <a:bodyPr wrap="square" rtlCol="0" anchor="ctr"/>
          <a:lstStyle/>
          <a:p>
            <a:r>
              <a:rPr lang="en-US" sz="1200">
                <a:solidFill>
                  <a:srgbClr val="7DD8EC"/>
                </a:solidFill>
                <a:latin typeface="Courier New" pitchFamily="34" charset="0"/>
                <a:ea typeface="Courier New" pitchFamily="34" charset="-122"/>
                <a:cs typeface="Courier New" pitchFamily="34" charset="-120"/>
              </a:rPr>
              <a:t>curl -w "%{</a:t>
            </a:r>
            <a:r>
              <a:rPr lang="en-US" sz="1200" err="1">
                <a:solidFill>
                  <a:srgbClr val="7DD8EC"/>
                </a:solidFill>
                <a:latin typeface="Courier New" pitchFamily="34" charset="0"/>
                <a:ea typeface="Courier New" pitchFamily="34" charset="-122"/>
                <a:cs typeface="Courier New" pitchFamily="34" charset="-120"/>
              </a:rPr>
              <a:t>time_total</a:t>
            </a:r>
            <a:r>
              <a:rPr lang="en-US" sz="1200">
                <a:solidFill>
                  <a:srgbClr val="7DD8EC"/>
                </a:solidFill>
                <a:latin typeface="Courier New" pitchFamily="34" charset="0"/>
                <a:ea typeface="Courier New" pitchFamily="34" charset="-122"/>
                <a:cs typeface="Courier New" pitchFamily="34" charset="-120"/>
              </a:rPr>
              <a:t>}s"</a:t>
            </a:r>
            <a:endParaRPr lang="en-US" sz="1200"/>
          </a:p>
          <a:p>
            <a:r>
              <a:rPr lang="en-US" sz="1200">
                <a:solidFill>
                  <a:srgbClr val="7DD8EC"/>
                </a:solidFill>
                <a:latin typeface="Courier New" pitchFamily="34" charset="0"/>
                <a:ea typeface="Courier New" pitchFamily="34" charset="-122"/>
                <a:cs typeface="Courier New" pitchFamily="34" charset="-120"/>
              </a:rPr>
              <a:t>https://httpbin.org/get</a:t>
            </a:r>
            <a:endParaRPr lang="en-US" sz="1200"/>
          </a:p>
        </p:txBody>
      </p:sp>
      <p:sp>
        <p:nvSpPr>
          <p:cNvPr id="34" name="Text 8">
            <a:extLst>
              <a:ext uri="{FF2B5EF4-FFF2-40B4-BE49-F238E27FC236}">
                <a16:creationId xmlns:a16="http://schemas.microsoft.com/office/drawing/2014/main" id="{C0D297FE-7D2A-BAA2-EB95-6A8726BC657E}"/>
              </a:ext>
            </a:extLst>
          </p:cNvPr>
          <p:cNvSpPr/>
          <p:nvPr/>
        </p:nvSpPr>
        <p:spPr>
          <a:xfrm>
            <a:off x="823158" y="5738348"/>
            <a:ext cx="3269717" cy="513401"/>
          </a:xfrm>
          <a:prstGeom prst="rect">
            <a:avLst/>
          </a:prstGeom>
          <a:noFill/>
          <a:ln/>
        </p:spPr>
        <p:txBody>
          <a:bodyPr wrap="square" rtlCol="0" anchor="ctr"/>
          <a:lstStyle/>
          <a:p>
            <a:r>
              <a:rPr lang="en-US" sz="1200" b="1">
                <a:solidFill>
                  <a:srgbClr val="92400E"/>
                </a:solidFill>
                <a:latin typeface="Calibri" pitchFamily="34" charset="0"/>
                <a:ea typeface="Calibri" pitchFamily="34" charset="-122"/>
                <a:cs typeface="Calibri" pitchFamily="34" charset="-120"/>
              </a:rPr>
              <a:t>Result: </a:t>
            </a:r>
            <a:r>
              <a:rPr lang="en-US" sz="1200">
                <a:solidFill>
                  <a:srgbClr val="334155"/>
                </a:solidFill>
                <a:latin typeface="Calibri" pitchFamily="34" charset="0"/>
                <a:ea typeface="Calibri" pitchFamily="34" charset="-122"/>
                <a:cs typeface="Calibri" pitchFamily="34" charset="-120"/>
              </a:rPr>
              <a:t>0.510079 s = </a:t>
            </a:r>
            <a:r>
              <a:rPr lang="en-US" sz="1200" b="1">
                <a:solidFill>
                  <a:srgbClr val="92400E"/>
                </a:solidFill>
                <a:latin typeface="Calibri" pitchFamily="34" charset="0"/>
                <a:ea typeface="Calibri" pitchFamily="34" charset="-122"/>
                <a:cs typeface="Calibri" pitchFamily="34" charset="-120"/>
              </a:rPr>
              <a:t>510 </a:t>
            </a:r>
            <a:r>
              <a:rPr lang="en-US" sz="1200" b="1" err="1">
                <a:solidFill>
                  <a:srgbClr val="92400E"/>
                </a:solidFill>
                <a:latin typeface="Calibri" pitchFamily="34" charset="0"/>
                <a:ea typeface="Calibri" pitchFamily="34" charset="-122"/>
                <a:cs typeface="Calibri" pitchFamily="34" charset="-120"/>
              </a:rPr>
              <a:t>ms</a:t>
            </a:r>
            <a:r>
              <a:rPr lang="en-US" sz="1200">
                <a:solidFill>
                  <a:srgbClr val="334155"/>
                </a:solidFill>
                <a:latin typeface="Calibri" pitchFamily="34" charset="0"/>
                <a:ea typeface="Calibri" pitchFamily="34" charset="-122"/>
                <a:cs typeface="Calibri" pitchFamily="34" charset="-120"/>
              </a:rPr>
              <a:t> internet round-trip.</a:t>
            </a:r>
            <a:endParaRPr lang="en-US" sz="1200"/>
          </a:p>
        </p:txBody>
      </p:sp>
      <p:sp>
        <p:nvSpPr>
          <p:cNvPr id="35" name="Text 26">
            <a:extLst>
              <a:ext uri="{FF2B5EF4-FFF2-40B4-BE49-F238E27FC236}">
                <a16:creationId xmlns:a16="http://schemas.microsoft.com/office/drawing/2014/main" id="{DCC7BCEA-7C16-450C-0713-96C5488C24AF}"/>
              </a:ext>
            </a:extLst>
          </p:cNvPr>
          <p:cNvSpPr/>
          <p:nvPr/>
        </p:nvSpPr>
        <p:spPr>
          <a:xfrm>
            <a:off x="7040880" y="5030183"/>
            <a:ext cx="1737360" cy="292608"/>
          </a:xfrm>
          <a:prstGeom prst="rect">
            <a:avLst/>
          </a:prstGeom>
          <a:noFill/>
          <a:ln/>
        </p:spPr>
        <p:txBody>
          <a:bodyPr wrap="square" lIns="0" tIns="0" rIns="0" bIns="0" rtlCol="0" anchor="ctr">
            <a:normAutofit/>
          </a:bodyPr>
          <a:lstStyle/>
          <a:p>
            <a:pPr marL="0" indent="0">
              <a:buNone/>
            </a:pPr>
            <a:r>
              <a:rPr lang="en-US" sz="1050">
                <a:solidFill>
                  <a:srgbClr val="64748B"/>
                </a:solidFill>
              </a:rPr>
              <a:t>Paderborn home Wi‑Fi</a:t>
            </a:r>
            <a:endParaRPr lang="en-US" sz="1050"/>
          </a:p>
        </p:txBody>
      </p:sp>
      <p:sp>
        <p:nvSpPr>
          <p:cNvPr id="36" name="Shape 11">
            <a:extLst>
              <a:ext uri="{FF2B5EF4-FFF2-40B4-BE49-F238E27FC236}">
                <a16:creationId xmlns:a16="http://schemas.microsoft.com/office/drawing/2014/main" id="{D746AE5D-CABF-7C5A-39DD-214BBDEBFA28}"/>
              </a:ext>
            </a:extLst>
          </p:cNvPr>
          <p:cNvSpPr/>
          <p:nvPr/>
        </p:nvSpPr>
        <p:spPr>
          <a:xfrm>
            <a:off x="7993714" y="2042703"/>
            <a:ext cx="1554480" cy="1097280"/>
          </a:xfrm>
          <a:prstGeom prst="roundRect">
            <a:avLst>
              <a:gd name="adj" fmla="val 6667"/>
            </a:avLst>
          </a:prstGeom>
          <a:solidFill>
            <a:srgbClr val="FFEDD5"/>
          </a:solidFill>
          <a:ln w="15240">
            <a:solidFill>
              <a:srgbClr val="F59E0B"/>
            </a:solidFill>
            <a:prstDash val="solid"/>
          </a:ln>
          <a:effectLst>
            <a:outerShdw blurRad="19050" dist="12700" dir="2700000" algn="bl" rotWithShape="0">
              <a:srgbClr val="000000">
                <a:alpha val="10000"/>
              </a:srgbClr>
            </a:outerShdw>
          </a:effectLst>
        </p:spPr>
        <p:txBody>
          <a:bodyPr/>
          <a:lstStyle/>
          <a:p>
            <a:endParaRPr lang="en-DE"/>
          </a:p>
        </p:txBody>
      </p:sp>
      <p:sp>
        <p:nvSpPr>
          <p:cNvPr id="37" name="Text 12">
            <a:extLst>
              <a:ext uri="{FF2B5EF4-FFF2-40B4-BE49-F238E27FC236}">
                <a16:creationId xmlns:a16="http://schemas.microsoft.com/office/drawing/2014/main" id="{428937AF-3B7A-668E-7C56-2239A24C261A}"/>
              </a:ext>
            </a:extLst>
          </p:cNvPr>
          <p:cNvSpPr/>
          <p:nvPr/>
        </p:nvSpPr>
        <p:spPr>
          <a:xfrm>
            <a:off x="8103442" y="2170719"/>
            <a:ext cx="1335024" cy="841248"/>
          </a:xfrm>
          <a:prstGeom prst="rect">
            <a:avLst/>
          </a:prstGeom>
          <a:noFill/>
          <a:ln/>
        </p:spPr>
        <p:txBody>
          <a:bodyPr wrap="square" lIns="0" tIns="0" rIns="0" bIns="0" rtlCol="0" anchor="ctr">
            <a:normAutofit/>
          </a:bodyPr>
          <a:lstStyle/>
          <a:p>
            <a:pPr marL="0" indent="0" algn="ctr">
              <a:buNone/>
            </a:pPr>
            <a:r>
              <a:rPr lang="en-US" sz="1150" b="1">
                <a:solidFill>
                  <a:srgbClr val="0B172A"/>
                </a:solidFill>
                <a:latin typeface="Aptos" pitchFamily="34" charset="0"/>
                <a:ea typeface="Aptos" pitchFamily="34" charset="-122"/>
                <a:cs typeface="Aptos" pitchFamily="34" charset="-120"/>
              </a:rPr>
              <a:t>Internet</a:t>
            </a:r>
            <a:endParaRPr lang="en-US" sz="1150"/>
          </a:p>
          <a:p>
            <a:pPr marL="0" indent="0" algn="ctr">
              <a:buNone/>
            </a:pPr>
            <a:r>
              <a:rPr lang="en-US" sz="1150" b="1">
                <a:solidFill>
                  <a:srgbClr val="0B172A"/>
                </a:solidFill>
                <a:latin typeface="Aptos" pitchFamily="34" charset="0"/>
                <a:ea typeface="Aptos" pitchFamily="34" charset="-122"/>
                <a:cs typeface="Aptos" pitchFamily="34" charset="-120"/>
              </a:rPr>
              <a:t>route</a:t>
            </a:r>
            <a:endParaRPr lang="en-US" sz="1150"/>
          </a:p>
        </p:txBody>
      </p:sp>
      <p:sp>
        <p:nvSpPr>
          <p:cNvPr id="38" name="Shape 7">
            <a:extLst>
              <a:ext uri="{FF2B5EF4-FFF2-40B4-BE49-F238E27FC236}">
                <a16:creationId xmlns:a16="http://schemas.microsoft.com/office/drawing/2014/main" id="{799F995C-BCBC-AC77-B8E7-D4CE7448141C}"/>
              </a:ext>
            </a:extLst>
          </p:cNvPr>
          <p:cNvSpPr/>
          <p:nvPr/>
        </p:nvSpPr>
        <p:spPr>
          <a:xfrm>
            <a:off x="7090041" y="2591783"/>
            <a:ext cx="903673" cy="0"/>
          </a:xfrm>
          <a:prstGeom prst="line">
            <a:avLst/>
          </a:prstGeom>
          <a:noFill/>
          <a:ln w="30480">
            <a:solidFill>
              <a:srgbClr val="F59E0B"/>
            </a:solidFill>
            <a:prstDash val="solid"/>
            <a:headEnd type="none"/>
            <a:tailEnd type="triangle"/>
          </a:ln>
        </p:spPr>
        <p:txBody>
          <a:bodyPr/>
          <a:lstStyle/>
          <a:p>
            <a:endParaRPr lang="en-D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DE"/>
          </a:p>
        </p:txBody>
      </p:sp>
      <p:sp>
        <p:nvSpPr>
          <p:cNvPr id="3" name="Shape 1"/>
          <p:cNvSpPr/>
          <p:nvPr/>
        </p:nvSpPr>
        <p:spPr>
          <a:xfrm>
            <a:off x="0" y="0"/>
            <a:ext cx="128016" cy="6858000"/>
          </a:xfrm>
          <a:prstGeom prst="rect">
            <a:avLst/>
          </a:prstGeom>
          <a:solidFill>
            <a:srgbClr val="2563EB"/>
          </a:solidFill>
          <a:ln w="12700">
            <a:solidFill>
              <a:srgbClr val="2563EB">
                <a:alpha val="0"/>
              </a:srgbClr>
            </a:solidFill>
            <a:prstDash val="solid"/>
          </a:ln>
        </p:spPr>
        <p:txBody>
          <a:bodyPr/>
          <a:lstStyle/>
          <a:p>
            <a:endParaRPr lang="en-DE"/>
          </a:p>
        </p:txBody>
      </p:sp>
      <p:sp>
        <p:nvSpPr>
          <p:cNvPr id="4" name="Text 2"/>
          <p:cNvSpPr/>
          <p:nvPr/>
        </p:nvSpPr>
        <p:spPr>
          <a:xfrm>
            <a:off x="502920" y="384048"/>
            <a:ext cx="10881360" cy="438912"/>
          </a:xfrm>
          <a:prstGeom prst="rect">
            <a:avLst/>
          </a:prstGeom>
          <a:noFill/>
          <a:ln/>
        </p:spPr>
        <p:txBody>
          <a:bodyPr wrap="square" lIns="0" tIns="0" rIns="0" bIns="0" rtlCol="0" anchor="ctr">
            <a:normAutofit/>
          </a:bodyPr>
          <a:lstStyle/>
          <a:p>
            <a:pPr marL="0" indent="0">
              <a:buNone/>
            </a:pPr>
            <a:r>
              <a:rPr lang="en-US" sz="2800" b="1">
                <a:solidFill>
                  <a:srgbClr val="0B172A"/>
                </a:solidFill>
                <a:latin typeface="Aptos Display" pitchFamily="34" charset="0"/>
                <a:ea typeface="Aptos Display" pitchFamily="34" charset="-122"/>
                <a:cs typeface="Aptos Display" pitchFamily="34" charset="-120"/>
              </a:rPr>
              <a:t>Measured Results: Edge vs Cloud</a:t>
            </a:r>
            <a:endParaRPr lang="en-US" sz="2800"/>
          </a:p>
        </p:txBody>
      </p:sp>
      <p:sp>
        <p:nvSpPr>
          <p:cNvPr id="5" name="Text 3"/>
          <p:cNvSpPr/>
          <p:nvPr/>
        </p:nvSpPr>
        <p:spPr>
          <a:xfrm>
            <a:off x="530352" y="868680"/>
            <a:ext cx="10241280" cy="274320"/>
          </a:xfrm>
          <a:prstGeom prst="rect">
            <a:avLst/>
          </a:prstGeom>
          <a:noFill/>
          <a:ln/>
        </p:spPr>
        <p:txBody>
          <a:bodyPr wrap="square" lIns="0" tIns="0" rIns="0" bIns="0" rtlCol="0" anchor="ctr">
            <a:normAutofit/>
          </a:bodyPr>
          <a:lstStyle/>
          <a:p>
            <a:pPr marL="0" indent="0">
              <a:buNone/>
            </a:pPr>
            <a:endParaRPr lang="en-US" sz="1250"/>
          </a:p>
        </p:txBody>
      </p:sp>
      <p:sp>
        <p:nvSpPr>
          <p:cNvPr id="7" name="Text 5"/>
          <p:cNvSpPr/>
          <p:nvPr/>
        </p:nvSpPr>
        <p:spPr>
          <a:xfrm>
            <a:off x="11384280" y="6446520"/>
            <a:ext cx="320040" cy="228600"/>
          </a:xfrm>
          <a:prstGeom prst="rect">
            <a:avLst/>
          </a:prstGeom>
          <a:noFill/>
          <a:ln/>
        </p:spPr>
        <p:txBody>
          <a:bodyPr wrap="square" lIns="0" tIns="0" rIns="0" bIns="0" rtlCol="0" anchor="ctr"/>
          <a:lstStyle/>
          <a:p>
            <a:pPr marL="0" indent="0" algn="r">
              <a:buNone/>
            </a:pPr>
            <a:r>
              <a:rPr lang="en-US" sz="850" b="1">
                <a:solidFill>
                  <a:srgbClr val="64748B"/>
                </a:solidFill>
                <a:latin typeface="Aptos" pitchFamily="34" charset="0"/>
                <a:ea typeface="Aptos" pitchFamily="34" charset="-122"/>
                <a:cs typeface="Aptos" pitchFamily="34" charset="-120"/>
              </a:rPr>
              <a:t>05</a:t>
            </a:r>
            <a:endParaRPr lang="en-US" sz="850"/>
          </a:p>
        </p:txBody>
      </p:sp>
      <p:graphicFrame>
        <p:nvGraphicFramePr>
          <p:cNvPr id="8" name="Chart 0"/>
          <p:cNvGraphicFramePr/>
          <p:nvPr>
            <p:extLst>
              <p:ext uri="{D42A27DB-BD31-4B8C-83A1-F6EECF244321}">
                <p14:modId xmlns:p14="http://schemas.microsoft.com/office/powerpoint/2010/main" val="3480155006"/>
              </p:ext>
            </p:extLst>
          </p:nvPr>
        </p:nvGraphicFramePr>
        <p:xfrm>
          <a:off x="731520" y="1508760"/>
          <a:ext cx="667512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822960" y="1261872"/>
            <a:ext cx="3840480" cy="201168"/>
          </a:xfrm>
          <a:prstGeom prst="rect">
            <a:avLst/>
          </a:prstGeom>
          <a:noFill/>
          <a:ln/>
        </p:spPr>
        <p:txBody>
          <a:bodyPr wrap="square" lIns="0" tIns="0" rIns="0" bIns="0" rtlCol="0" anchor="ctr"/>
          <a:lstStyle/>
          <a:p>
            <a:pPr marL="0" indent="0">
              <a:buNone/>
            </a:pPr>
            <a:r>
              <a:rPr lang="en-US" sz="1080">
                <a:solidFill>
                  <a:srgbClr val="64748B"/>
                </a:solidFill>
              </a:rPr>
              <a:t>Latency in milliseconds (lower is better)</a:t>
            </a:r>
            <a:endParaRPr lang="en-US" sz="1080"/>
          </a:p>
        </p:txBody>
      </p:sp>
      <p:sp>
        <p:nvSpPr>
          <p:cNvPr id="10" name="Shape 7"/>
          <p:cNvSpPr/>
          <p:nvPr/>
        </p:nvSpPr>
        <p:spPr>
          <a:xfrm>
            <a:off x="8001000" y="1508760"/>
            <a:ext cx="0" cy="4343400"/>
          </a:xfrm>
          <a:prstGeom prst="line">
            <a:avLst/>
          </a:prstGeom>
          <a:noFill/>
          <a:ln w="12700">
            <a:solidFill>
              <a:srgbClr val="E2E8F0"/>
            </a:solidFill>
            <a:prstDash val="solid"/>
          </a:ln>
        </p:spPr>
        <p:txBody>
          <a:bodyPr/>
          <a:lstStyle/>
          <a:p>
            <a:endParaRPr lang="en-DE"/>
          </a:p>
        </p:txBody>
      </p:sp>
      <p:sp>
        <p:nvSpPr>
          <p:cNvPr id="11" name="Text 8"/>
          <p:cNvSpPr/>
          <p:nvPr/>
        </p:nvSpPr>
        <p:spPr>
          <a:xfrm>
            <a:off x="8458200" y="1691640"/>
            <a:ext cx="2834640" cy="228600"/>
          </a:xfrm>
          <a:prstGeom prst="rect">
            <a:avLst/>
          </a:prstGeom>
          <a:noFill/>
          <a:ln/>
        </p:spPr>
        <p:txBody>
          <a:bodyPr wrap="square" lIns="0" tIns="0" rIns="0" bIns="0" rtlCol="0" anchor="ctr">
            <a:normAutofit/>
          </a:bodyPr>
          <a:lstStyle/>
          <a:p>
            <a:pPr marL="0" indent="0">
              <a:buNone/>
            </a:pPr>
            <a:r>
              <a:rPr lang="en-US" sz="1100" b="1">
                <a:solidFill>
                  <a:srgbClr val="64748B"/>
                </a:solidFill>
              </a:rPr>
              <a:t>Home Wi‑Fi</a:t>
            </a:r>
            <a:endParaRPr lang="en-US" sz="1100"/>
          </a:p>
        </p:txBody>
      </p:sp>
      <p:sp>
        <p:nvSpPr>
          <p:cNvPr id="12" name="Text 9"/>
          <p:cNvSpPr/>
          <p:nvPr/>
        </p:nvSpPr>
        <p:spPr>
          <a:xfrm>
            <a:off x="8458200" y="2011680"/>
            <a:ext cx="2834640" cy="512064"/>
          </a:xfrm>
          <a:prstGeom prst="rect">
            <a:avLst/>
          </a:prstGeom>
          <a:noFill/>
          <a:ln/>
        </p:spPr>
        <p:txBody>
          <a:bodyPr wrap="square" lIns="0" tIns="0" rIns="0" bIns="0" rtlCol="0" anchor="ctr">
            <a:normAutofit/>
          </a:bodyPr>
          <a:lstStyle/>
          <a:p>
            <a:pPr marL="0" indent="0">
              <a:buNone/>
            </a:pPr>
            <a:r>
              <a:rPr lang="en-US" sz="2800" b="1">
                <a:solidFill>
                  <a:srgbClr val="10B981"/>
                </a:solidFill>
                <a:latin typeface="Aptos Display" pitchFamily="34" charset="0"/>
                <a:ea typeface="Aptos Display" pitchFamily="34" charset="-122"/>
                <a:cs typeface="Aptos Display" pitchFamily="34" charset="-120"/>
              </a:rPr>
              <a:t>95 vs 510 ms</a:t>
            </a:r>
            <a:endParaRPr lang="en-US" sz="2800"/>
          </a:p>
        </p:txBody>
      </p:sp>
      <p:sp>
        <p:nvSpPr>
          <p:cNvPr id="13" name="Text 10"/>
          <p:cNvSpPr/>
          <p:nvPr/>
        </p:nvSpPr>
        <p:spPr>
          <a:xfrm>
            <a:off x="8458200" y="2560320"/>
            <a:ext cx="2834640" cy="292608"/>
          </a:xfrm>
          <a:prstGeom prst="rect">
            <a:avLst/>
          </a:prstGeom>
          <a:noFill/>
          <a:ln/>
        </p:spPr>
        <p:txBody>
          <a:bodyPr wrap="square" lIns="0" tIns="0" rIns="0" bIns="0" rtlCol="0" anchor="ctr">
            <a:normAutofit/>
          </a:bodyPr>
          <a:lstStyle/>
          <a:p>
            <a:pPr marL="0" indent="0">
              <a:buNone/>
            </a:pPr>
            <a:r>
              <a:rPr lang="en-US" sz="1050">
                <a:solidFill>
                  <a:srgbClr val="64748B"/>
                </a:solidFill>
              </a:rPr>
              <a:t>Cloud took about 5.4× longer</a:t>
            </a:r>
            <a:endParaRPr lang="en-US" sz="1050"/>
          </a:p>
        </p:txBody>
      </p:sp>
      <p:sp>
        <p:nvSpPr>
          <p:cNvPr id="14" name="Text 11"/>
          <p:cNvSpPr/>
          <p:nvPr/>
        </p:nvSpPr>
        <p:spPr>
          <a:xfrm>
            <a:off x="8458200" y="3337560"/>
            <a:ext cx="3017520" cy="228600"/>
          </a:xfrm>
          <a:prstGeom prst="rect">
            <a:avLst/>
          </a:prstGeom>
          <a:noFill/>
          <a:ln/>
        </p:spPr>
        <p:txBody>
          <a:bodyPr wrap="square" lIns="0" tIns="0" rIns="0" bIns="0" rtlCol="0" anchor="ctr">
            <a:normAutofit/>
          </a:bodyPr>
          <a:lstStyle/>
          <a:p>
            <a:pPr marL="0" indent="0">
              <a:buNone/>
            </a:pPr>
            <a:r>
              <a:rPr lang="en-US" sz="1100" b="1">
                <a:solidFill>
                  <a:srgbClr val="64748B"/>
                </a:solidFill>
              </a:rPr>
              <a:t>HSHL Wi‑Fi</a:t>
            </a:r>
            <a:endParaRPr lang="en-US" sz="1100"/>
          </a:p>
        </p:txBody>
      </p:sp>
      <p:sp>
        <p:nvSpPr>
          <p:cNvPr id="15" name="Text 12"/>
          <p:cNvSpPr/>
          <p:nvPr/>
        </p:nvSpPr>
        <p:spPr>
          <a:xfrm>
            <a:off x="8458200" y="3657600"/>
            <a:ext cx="3017520" cy="512064"/>
          </a:xfrm>
          <a:prstGeom prst="rect">
            <a:avLst/>
          </a:prstGeom>
          <a:noFill/>
          <a:ln/>
        </p:spPr>
        <p:txBody>
          <a:bodyPr wrap="square" lIns="0" tIns="0" rIns="0" bIns="0" rtlCol="0" anchor="ctr">
            <a:normAutofit/>
          </a:bodyPr>
          <a:lstStyle/>
          <a:p>
            <a:pPr marL="0" indent="0">
              <a:buNone/>
            </a:pPr>
            <a:r>
              <a:rPr lang="en-US" sz="2800" b="1">
                <a:solidFill>
                  <a:srgbClr val="F59E0B"/>
                </a:solidFill>
                <a:latin typeface="Aptos Display" pitchFamily="34" charset="0"/>
                <a:ea typeface="Aptos Display" pitchFamily="34" charset="-122"/>
                <a:cs typeface="Aptos Display" pitchFamily="34" charset="-120"/>
              </a:rPr>
              <a:t>422 vs 2170 ms</a:t>
            </a:r>
            <a:endParaRPr lang="en-US" sz="2800"/>
          </a:p>
        </p:txBody>
      </p:sp>
      <p:sp>
        <p:nvSpPr>
          <p:cNvPr id="16" name="Text 13"/>
          <p:cNvSpPr/>
          <p:nvPr/>
        </p:nvSpPr>
        <p:spPr>
          <a:xfrm>
            <a:off x="8458200" y="4206240"/>
            <a:ext cx="3017520" cy="292608"/>
          </a:xfrm>
          <a:prstGeom prst="rect">
            <a:avLst/>
          </a:prstGeom>
          <a:noFill/>
          <a:ln/>
        </p:spPr>
        <p:txBody>
          <a:bodyPr wrap="square" lIns="0" tIns="0" rIns="0" bIns="0" rtlCol="0" anchor="ctr">
            <a:normAutofit/>
          </a:bodyPr>
          <a:lstStyle/>
          <a:p>
            <a:pPr marL="0" indent="0">
              <a:buNone/>
            </a:pPr>
            <a:r>
              <a:rPr lang="en-US" sz="1050">
                <a:solidFill>
                  <a:srgbClr val="64748B"/>
                </a:solidFill>
              </a:rPr>
              <a:t>Cloud took about 5.1× longer</a:t>
            </a:r>
            <a:endParaRPr lang="en-US" sz="10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DE"/>
          </a:p>
        </p:txBody>
      </p:sp>
      <p:sp>
        <p:nvSpPr>
          <p:cNvPr id="3" name="Shape 1"/>
          <p:cNvSpPr/>
          <p:nvPr/>
        </p:nvSpPr>
        <p:spPr>
          <a:xfrm>
            <a:off x="0" y="0"/>
            <a:ext cx="128016" cy="6858000"/>
          </a:xfrm>
          <a:prstGeom prst="rect">
            <a:avLst/>
          </a:prstGeom>
          <a:solidFill>
            <a:srgbClr val="2563EB"/>
          </a:solidFill>
          <a:ln w="12700">
            <a:solidFill>
              <a:srgbClr val="2563EB">
                <a:alpha val="0"/>
              </a:srgbClr>
            </a:solidFill>
            <a:prstDash val="solid"/>
          </a:ln>
        </p:spPr>
        <p:txBody>
          <a:bodyPr/>
          <a:lstStyle/>
          <a:p>
            <a:endParaRPr lang="en-DE"/>
          </a:p>
        </p:txBody>
      </p:sp>
      <p:sp>
        <p:nvSpPr>
          <p:cNvPr id="4" name="Text 2"/>
          <p:cNvSpPr/>
          <p:nvPr/>
        </p:nvSpPr>
        <p:spPr>
          <a:xfrm>
            <a:off x="502920" y="384048"/>
            <a:ext cx="10881360" cy="438912"/>
          </a:xfrm>
          <a:prstGeom prst="rect">
            <a:avLst/>
          </a:prstGeom>
          <a:noFill/>
          <a:ln/>
        </p:spPr>
        <p:txBody>
          <a:bodyPr wrap="square" lIns="0" tIns="0" rIns="0" bIns="0" rtlCol="0" anchor="ctr">
            <a:normAutofit/>
          </a:bodyPr>
          <a:lstStyle/>
          <a:p>
            <a:pPr marL="0" indent="0">
              <a:buNone/>
            </a:pPr>
            <a:r>
              <a:rPr lang="en-US" sz="2800" b="1">
                <a:solidFill>
                  <a:srgbClr val="0B172A"/>
                </a:solidFill>
                <a:latin typeface="Aptos Display" pitchFamily="34" charset="0"/>
                <a:ea typeface="Aptos Display" pitchFamily="34" charset="-122"/>
                <a:cs typeface="Aptos Display" pitchFamily="34" charset="-120"/>
              </a:rPr>
              <a:t>Latency Formulation</a:t>
            </a:r>
            <a:endParaRPr lang="en-US" sz="2800"/>
          </a:p>
        </p:txBody>
      </p:sp>
      <p:sp>
        <p:nvSpPr>
          <p:cNvPr id="7" name="Text 5"/>
          <p:cNvSpPr/>
          <p:nvPr/>
        </p:nvSpPr>
        <p:spPr>
          <a:xfrm>
            <a:off x="11384280" y="6446520"/>
            <a:ext cx="320040" cy="228600"/>
          </a:xfrm>
          <a:prstGeom prst="rect">
            <a:avLst/>
          </a:prstGeom>
          <a:noFill/>
          <a:ln/>
        </p:spPr>
        <p:txBody>
          <a:bodyPr wrap="square" lIns="0" tIns="0" rIns="0" bIns="0" rtlCol="0" anchor="ctr"/>
          <a:lstStyle/>
          <a:p>
            <a:pPr marL="0" indent="0" algn="r">
              <a:buNone/>
            </a:pPr>
            <a:r>
              <a:rPr lang="en-US" sz="850" b="1">
                <a:solidFill>
                  <a:srgbClr val="64748B"/>
                </a:solidFill>
                <a:latin typeface="Aptos" pitchFamily="34" charset="0"/>
                <a:ea typeface="Aptos" pitchFamily="34" charset="-122"/>
                <a:cs typeface="Aptos" pitchFamily="34" charset="-120"/>
              </a:rPr>
              <a:t>08</a:t>
            </a:r>
            <a:endParaRPr lang="en-US" sz="850"/>
          </a:p>
        </p:txBody>
      </p:sp>
      <p:sp>
        <p:nvSpPr>
          <p:cNvPr id="8" name="Text 6"/>
          <p:cNvSpPr/>
          <p:nvPr/>
        </p:nvSpPr>
        <p:spPr>
          <a:xfrm>
            <a:off x="822960" y="1463040"/>
            <a:ext cx="4434840" cy="713232"/>
          </a:xfrm>
          <a:prstGeom prst="rect">
            <a:avLst/>
          </a:prstGeom>
          <a:noFill/>
          <a:ln/>
        </p:spPr>
        <p:txBody>
          <a:bodyPr wrap="square" lIns="0" tIns="0" rIns="0" bIns="0" rtlCol="0" anchor="ctr"/>
          <a:lstStyle/>
          <a:p>
            <a:pPr marL="0" indent="0">
              <a:buNone/>
            </a:pPr>
            <a:r>
              <a:rPr lang="en-US" sz="3800" b="1">
                <a:solidFill>
                  <a:srgbClr val="2563EB"/>
                </a:solidFill>
                <a:latin typeface="Aptos Display" pitchFamily="34" charset="0"/>
                <a:ea typeface="Aptos Display" pitchFamily="34" charset="-122"/>
                <a:cs typeface="Aptos Display" pitchFamily="34" charset="-120"/>
              </a:rPr>
              <a:t>C = X / L + D / R</a:t>
            </a:r>
            <a:endParaRPr lang="en-US" sz="3800"/>
          </a:p>
        </p:txBody>
      </p:sp>
      <p:sp>
        <p:nvSpPr>
          <p:cNvPr id="9" name="Text 7"/>
          <p:cNvSpPr/>
          <p:nvPr/>
        </p:nvSpPr>
        <p:spPr>
          <a:xfrm>
            <a:off x="914400" y="2331720"/>
            <a:ext cx="2011680" cy="256032"/>
          </a:xfrm>
          <a:prstGeom prst="rect">
            <a:avLst/>
          </a:prstGeom>
          <a:noFill/>
          <a:ln/>
        </p:spPr>
        <p:txBody>
          <a:bodyPr wrap="square" lIns="0" tIns="0" rIns="0" bIns="0" rtlCol="0" anchor="ctr"/>
          <a:lstStyle/>
          <a:p>
            <a:pPr marL="0" indent="0">
              <a:buNone/>
            </a:pPr>
            <a:r>
              <a:rPr lang="en-US" sz="1400" b="1">
                <a:solidFill>
                  <a:srgbClr val="0B172A"/>
                </a:solidFill>
              </a:rPr>
              <a:t>C = latency</a:t>
            </a:r>
            <a:endParaRPr lang="en-US" sz="1400"/>
          </a:p>
        </p:txBody>
      </p:sp>
      <p:sp>
        <p:nvSpPr>
          <p:cNvPr id="10" name="Text 8"/>
          <p:cNvSpPr/>
          <p:nvPr/>
        </p:nvSpPr>
        <p:spPr>
          <a:xfrm>
            <a:off x="914400" y="2697480"/>
            <a:ext cx="5212080" cy="256032"/>
          </a:xfrm>
          <a:prstGeom prst="rect">
            <a:avLst/>
          </a:prstGeom>
          <a:noFill/>
          <a:ln/>
        </p:spPr>
        <p:txBody>
          <a:bodyPr wrap="square" lIns="0" tIns="0" rIns="0" bIns="0" rtlCol="0" anchor="ctr">
            <a:normAutofit/>
          </a:bodyPr>
          <a:lstStyle/>
          <a:p>
            <a:pPr marL="0" indent="0">
              <a:buNone/>
            </a:pPr>
            <a:r>
              <a:rPr lang="en-US" sz="1240">
                <a:solidFill>
                  <a:srgbClr val="64748B"/>
                </a:solidFill>
              </a:rPr>
              <a:t>X = distance  •  L = bandwidth  •  D = data rate  •  R = computing resources</a:t>
            </a:r>
            <a:endParaRPr lang="en-US" sz="1240"/>
          </a:p>
        </p:txBody>
      </p:sp>
      <p:sp>
        <p:nvSpPr>
          <p:cNvPr id="11" name="Text 9"/>
          <p:cNvSpPr/>
          <p:nvPr/>
        </p:nvSpPr>
        <p:spPr>
          <a:xfrm>
            <a:off x="822960" y="3703320"/>
            <a:ext cx="1645920" cy="228600"/>
          </a:xfrm>
          <a:prstGeom prst="rect">
            <a:avLst/>
          </a:prstGeom>
          <a:noFill/>
          <a:ln/>
        </p:spPr>
        <p:txBody>
          <a:bodyPr wrap="square" lIns="0" tIns="0" rIns="0" bIns="0" rtlCol="0" anchor="ctr"/>
          <a:lstStyle/>
          <a:p>
            <a:pPr marL="0" indent="0">
              <a:buNone/>
            </a:pPr>
            <a:r>
              <a:rPr lang="en-US" sz="1500" b="1">
                <a:solidFill>
                  <a:srgbClr val="10B981"/>
                </a:solidFill>
              </a:rPr>
              <a:t>Edge path</a:t>
            </a:r>
            <a:endParaRPr lang="en-US" sz="1500"/>
          </a:p>
        </p:txBody>
      </p:sp>
      <p:sp>
        <p:nvSpPr>
          <p:cNvPr id="12" name="Shape 10"/>
          <p:cNvSpPr/>
          <p:nvPr/>
        </p:nvSpPr>
        <p:spPr>
          <a:xfrm>
            <a:off x="2103120" y="3822192"/>
            <a:ext cx="2743200" cy="0"/>
          </a:xfrm>
          <a:prstGeom prst="line">
            <a:avLst/>
          </a:prstGeom>
          <a:noFill/>
          <a:ln w="50800">
            <a:solidFill>
              <a:srgbClr val="10B981"/>
            </a:solidFill>
            <a:prstDash val="solid"/>
            <a:tailEnd type="triangle"/>
          </a:ln>
        </p:spPr>
        <p:txBody>
          <a:bodyPr/>
          <a:lstStyle/>
          <a:p>
            <a:endParaRPr lang="en-DE"/>
          </a:p>
        </p:txBody>
      </p:sp>
      <p:sp>
        <p:nvSpPr>
          <p:cNvPr id="13" name="Text 11"/>
          <p:cNvSpPr/>
          <p:nvPr/>
        </p:nvSpPr>
        <p:spPr>
          <a:xfrm>
            <a:off x="2834640" y="4041648"/>
            <a:ext cx="1097280" cy="201168"/>
          </a:xfrm>
          <a:prstGeom prst="rect">
            <a:avLst/>
          </a:prstGeom>
          <a:noFill/>
          <a:ln/>
        </p:spPr>
        <p:txBody>
          <a:bodyPr wrap="square" lIns="0" tIns="0" rIns="0" bIns="0" rtlCol="0" anchor="ctr"/>
          <a:lstStyle/>
          <a:p>
            <a:pPr marL="0" indent="0" algn="ctr">
              <a:buNone/>
            </a:pPr>
            <a:r>
              <a:rPr lang="en-US" sz="1150" b="1">
                <a:solidFill>
                  <a:srgbClr val="10B981"/>
                </a:solidFill>
              </a:rPr>
              <a:t>short X</a:t>
            </a:r>
            <a:endParaRPr lang="en-US" sz="1150"/>
          </a:p>
        </p:txBody>
      </p:sp>
      <p:sp>
        <p:nvSpPr>
          <p:cNvPr id="14" name="Text 12"/>
          <p:cNvSpPr/>
          <p:nvPr/>
        </p:nvSpPr>
        <p:spPr>
          <a:xfrm>
            <a:off x="822960" y="4754880"/>
            <a:ext cx="1645920" cy="228600"/>
          </a:xfrm>
          <a:prstGeom prst="rect">
            <a:avLst/>
          </a:prstGeom>
          <a:noFill/>
          <a:ln/>
        </p:spPr>
        <p:txBody>
          <a:bodyPr wrap="square" lIns="0" tIns="0" rIns="0" bIns="0" rtlCol="0" anchor="ctr"/>
          <a:lstStyle/>
          <a:p>
            <a:pPr marL="0" indent="0">
              <a:buNone/>
            </a:pPr>
            <a:r>
              <a:rPr lang="en-US" sz="1500" b="1">
                <a:solidFill>
                  <a:srgbClr val="F59E0B"/>
                </a:solidFill>
              </a:rPr>
              <a:t>Cloud path</a:t>
            </a:r>
            <a:endParaRPr lang="en-US" sz="1500"/>
          </a:p>
        </p:txBody>
      </p:sp>
      <p:sp>
        <p:nvSpPr>
          <p:cNvPr id="15" name="Shape 13"/>
          <p:cNvSpPr/>
          <p:nvPr/>
        </p:nvSpPr>
        <p:spPr>
          <a:xfrm>
            <a:off x="2103120" y="4873752"/>
            <a:ext cx="4754880" cy="0"/>
          </a:xfrm>
          <a:prstGeom prst="line">
            <a:avLst/>
          </a:prstGeom>
          <a:noFill/>
          <a:ln w="50800">
            <a:solidFill>
              <a:srgbClr val="F59E0B"/>
            </a:solidFill>
            <a:prstDash val="solid"/>
            <a:tailEnd type="triangle"/>
          </a:ln>
        </p:spPr>
        <p:txBody>
          <a:bodyPr/>
          <a:lstStyle/>
          <a:p>
            <a:endParaRPr lang="en-DE"/>
          </a:p>
        </p:txBody>
      </p:sp>
      <p:sp>
        <p:nvSpPr>
          <p:cNvPr id="16" name="Text 14"/>
          <p:cNvSpPr/>
          <p:nvPr/>
        </p:nvSpPr>
        <p:spPr>
          <a:xfrm>
            <a:off x="3840480" y="5093208"/>
            <a:ext cx="1645920" cy="201168"/>
          </a:xfrm>
          <a:prstGeom prst="rect">
            <a:avLst/>
          </a:prstGeom>
          <a:noFill/>
          <a:ln/>
        </p:spPr>
        <p:txBody>
          <a:bodyPr wrap="square" lIns="0" tIns="0" rIns="0" bIns="0" rtlCol="0" anchor="ctr"/>
          <a:lstStyle/>
          <a:p>
            <a:pPr marL="0" indent="0" algn="ctr">
              <a:buNone/>
            </a:pPr>
            <a:r>
              <a:rPr lang="en-US" sz="1150" b="1">
                <a:solidFill>
                  <a:srgbClr val="F59E0B"/>
                </a:solidFill>
              </a:rPr>
              <a:t>large internet X</a:t>
            </a:r>
            <a:endParaRPr lang="en-US" sz="1150"/>
          </a:p>
        </p:txBody>
      </p:sp>
      <p:sp>
        <p:nvSpPr>
          <p:cNvPr id="17" name="Shape 15"/>
          <p:cNvSpPr/>
          <p:nvPr/>
        </p:nvSpPr>
        <p:spPr>
          <a:xfrm>
            <a:off x="7360920" y="1508760"/>
            <a:ext cx="3886200" cy="4434840"/>
          </a:xfrm>
          <a:prstGeom prst="roundRect">
            <a:avLst>
              <a:gd name="adj" fmla="val 1412"/>
            </a:avLst>
          </a:prstGeom>
          <a:solidFill>
            <a:srgbClr val="FFFFFF"/>
          </a:solidFill>
          <a:ln w="12700">
            <a:solidFill>
              <a:srgbClr val="E5E7EB"/>
            </a:solidFill>
            <a:prstDash val="solid"/>
          </a:ln>
          <a:effectLst>
            <a:outerShdw blurRad="19050" dist="12700" dir="2700000" algn="bl" rotWithShape="0">
              <a:srgbClr val="000000">
                <a:alpha val="8000"/>
              </a:srgbClr>
            </a:outerShdw>
          </a:effectLst>
        </p:spPr>
        <p:txBody>
          <a:bodyPr/>
          <a:lstStyle/>
          <a:p>
            <a:endParaRPr lang="en-DE"/>
          </a:p>
        </p:txBody>
      </p:sp>
      <p:sp>
        <p:nvSpPr>
          <p:cNvPr id="18" name="Text 16"/>
          <p:cNvSpPr/>
          <p:nvPr/>
        </p:nvSpPr>
        <p:spPr>
          <a:xfrm>
            <a:off x="7680960" y="1874520"/>
            <a:ext cx="3291840" cy="274320"/>
          </a:xfrm>
          <a:prstGeom prst="rect">
            <a:avLst/>
          </a:prstGeom>
          <a:noFill/>
          <a:ln/>
        </p:spPr>
        <p:txBody>
          <a:bodyPr wrap="square" lIns="0" tIns="0" rIns="0" bIns="0" rtlCol="0" anchor="ctr"/>
          <a:lstStyle/>
          <a:p>
            <a:r>
              <a:rPr lang="en-US" b="1">
                <a:solidFill>
                  <a:srgbClr val="0B172A"/>
                </a:solidFill>
                <a:latin typeface="Aptos Display" pitchFamily="34" charset="0"/>
                <a:ea typeface="Aptos Display" pitchFamily="34" charset="-122"/>
                <a:cs typeface="Aptos Display" pitchFamily="34" charset="-120"/>
              </a:rPr>
              <a:t>What increases delay?</a:t>
            </a:r>
            <a:endParaRPr lang="en-US" sz="1800"/>
          </a:p>
        </p:txBody>
      </p:sp>
      <p:sp>
        <p:nvSpPr>
          <p:cNvPr id="19" name="Shape 17"/>
          <p:cNvSpPr/>
          <p:nvPr/>
        </p:nvSpPr>
        <p:spPr>
          <a:xfrm>
            <a:off x="7699248" y="2574036"/>
            <a:ext cx="82296" cy="82296"/>
          </a:xfrm>
          <a:prstGeom prst="ellipse">
            <a:avLst/>
          </a:prstGeom>
          <a:solidFill>
            <a:srgbClr val="06B6D4"/>
          </a:solidFill>
          <a:ln w="12700">
            <a:solidFill>
              <a:srgbClr val="06B6D4">
                <a:alpha val="0"/>
              </a:srgbClr>
            </a:solidFill>
            <a:prstDash val="solid"/>
          </a:ln>
        </p:spPr>
        <p:txBody>
          <a:bodyPr/>
          <a:lstStyle/>
          <a:p>
            <a:endParaRPr lang="en-DE"/>
          </a:p>
        </p:txBody>
      </p:sp>
      <p:sp>
        <p:nvSpPr>
          <p:cNvPr id="20" name="Text 18"/>
          <p:cNvSpPr/>
          <p:nvPr/>
        </p:nvSpPr>
        <p:spPr>
          <a:xfrm>
            <a:off x="7863840" y="2514600"/>
            <a:ext cx="3154680" cy="246888"/>
          </a:xfrm>
          <a:prstGeom prst="rect">
            <a:avLst/>
          </a:prstGeom>
          <a:noFill/>
          <a:ln/>
        </p:spPr>
        <p:txBody>
          <a:bodyPr wrap="square" lIns="0" tIns="0" rIns="0" bIns="0" rtlCol="0" anchor="ctr">
            <a:noAutofit/>
          </a:bodyPr>
          <a:lstStyle/>
          <a:p>
            <a:pPr marL="0" indent="0">
              <a:buNone/>
            </a:pPr>
            <a:r>
              <a:rPr lang="en-US" sz="1100">
                <a:solidFill>
                  <a:srgbClr val="1E293B"/>
                </a:solidFill>
              </a:rPr>
              <a:t>Edge reduces the distance X because processing is local.</a:t>
            </a:r>
            <a:endParaRPr lang="en-US" sz="1100"/>
          </a:p>
        </p:txBody>
      </p:sp>
      <p:sp>
        <p:nvSpPr>
          <p:cNvPr id="21" name="Shape 19"/>
          <p:cNvSpPr/>
          <p:nvPr/>
        </p:nvSpPr>
        <p:spPr>
          <a:xfrm>
            <a:off x="7699248" y="3305556"/>
            <a:ext cx="82296" cy="82296"/>
          </a:xfrm>
          <a:prstGeom prst="ellipse">
            <a:avLst/>
          </a:prstGeom>
          <a:solidFill>
            <a:srgbClr val="06B6D4"/>
          </a:solidFill>
          <a:ln w="12700">
            <a:solidFill>
              <a:srgbClr val="06B6D4">
                <a:alpha val="0"/>
              </a:srgbClr>
            </a:solidFill>
            <a:prstDash val="solid"/>
          </a:ln>
        </p:spPr>
        <p:txBody>
          <a:bodyPr/>
          <a:lstStyle/>
          <a:p>
            <a:endParaRPr lang="en-DE"/>
          </a:p>
        </p:txBody>
      </p:sp>
      <p:sp>
        <p:nvSpPr>
          <p:cNvPr id="22" name="Text 20"/>
          <p:cNvSpPr/>
          <p:nvPr/>
        </p:nvSpPr>
        <p:spPr>
          <a:xfrm>
            <a:off x="7863840" y="3246120"/>
            <a:ext cx="3154680" cy="246888"/>
          </a:xfrm>
          <a:prstGeom prst="rect">
            <a:avLst/>
          </a:prstGeom>
          <a:noFill/>
          <a:ln/>
        </p:spPr>
        <p:txBody>
          <a:bodyPr wrap="square" lIns="0" tIns="0" rIns="0" bIns="0" rtlCol="0" anchor="ctr">
            <a:normAutofit fontScale="92500"/>
          </a:bodyPr>
          <a:lstStyle/>
          <a:p>
            <a:pPr marL="0" indent="0">
              <a:buNone/>
            </a:pPr>
            <a:r>
              <a:rPr lang="en-US" sz="1220">
                <a:solidFill>
                  <a:srgbClr val="1E293B"/>
                </a:solidFill>
              </a:rPr>
              <a:t>A shared network lowers available bandwidth L.</a:t>
            </a:r>
            <a:endParaRPr lang="en-US" sz="1220"/>
          </a:p>
        </p:txBody>
      </p:sp>
      <p:sp>
        <p:nvSpPr>
          <p:cNvPr id="23" name="Shape 21"/>
          <p:cNvSpPr/>
          <p:nvPr/>
        </p:nvSpPr>
        <p:spPr>
          <a:xfrm>
            <a:off x="7699248" y="4037076"/>
            <a:ext cx="82296" cy="82296"/>
          </a:xfrm>
          <a:prstGeom prst="ellipse">
            <a:avLst/>
          </a:prstGeom>
          <a:solidFill>
            <a:srgbClr val="06B6D4"/>
          </a:solidFill>
          <a:ln w="12700">
            <a:solidFill>
              <a:srgbClr val="06B6D4">
                <a:alpha val="0"/>
              </a:srgbClr>
            </a:solidFill>
            <a:prstDash val="solid"/>
          </a:ln>
        </p:spPr>
        <p:txBody>
          <a:bodyPr/>
          <a:lstStyle/>
          <a:p>
            <a:endParaRPr lang="en-DE"/>
          </a:p>
        </p:txBody>
      </p:sp>
      <p:sp>
        <p:nvSpPr>
          <p:cNvPr id="24" name="Text 22"/>
          <p:cNvSpPr/>
          <p:nvPr/>
        </p:nvSpPr>
        <p:spPr>
          <a:xfrm>
            <a:off x="7863840" y="3977640"/>
            <a:ext cx="3154680" cy="246888"/>
          </a:xfrm>
          <a:prstGeom prst="rect">
            <a:avLst/>
          </a:prstGeom>
          <a:noFill/>
          <a:ln/>
        </p:spPr>
        <p:txBody>
          <a:bodyPr wrap="square" lIns="0" tIns="0" rIns="0" bIns="0" rtlCol="0" anchor="ctr">
            <a:noAutofit/>
          </a:bodyPr>
          <a:lstStyle/>
          <a:p>
            <a:pPr marL="0" indent="0">
              <a:buNone/>
            </a:pPr>
            <a:r>
              <a:rPr lang="en-US" sz="1100">
                <a:solidFill>
                  <a:srgbClr val="1E293B"/>
                </a:solidFill>
              </a:rPr>
              <a:t>Cloud routes are longer, so strict millisecond response is harder.</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0F1C2E"/>
          </a:solidFill>
          <a:ln w="12700">
            <a:solidFill>
              <a:srgbClr val="0F1C2E"/>
            </a:solidFill>
            <a:prstDash val="solid"/>
          </a:ln>
        </p:spPr>
        <p:txBody>
          <a:bodyPr/>
          <a:lstStyle/>
          <a:p>
            <a:endParaRPr lang="en-DE" sz="2400"/>
          </a:p>
        </p:txBody>
      </p:sp>
      <p:sp>
        <p:nvSpPr>
          <p:cNvPr id="3" name="Text 1"/>
          <p:cNvSpPr/>
          <p:nvPr/>
        </p:nvSpPr>
        <p:spPr>
          <a:xfrm>
            <a:off x="609600" y="0"/>
            <a:ext cx="9509760" cy="1280160"/>
          </a:xfrm>
          <a:prstGeom prst="rect">
            <a:avLst/>
          </a:prstGeom>
          <a:noFill/>
          <a:ln/>
        </p:spPr>
        <p:txBody>
          <a:bodyPr wrap="square" lIns="0" tIns="0" rIns="0" bIns="0" rtlCol="0" anchor="ctr"/>
          <a:lstStyle/>
          <a:p>
            <a:r>
              <a:rPr lang="en-US" sz="3467" b="1">
                <a:solidFill>
                  <a:srgbClr val="FFFFFF"/>
                </a:solidFill>
                <a:latin typeface="Cambria" pitchFamily="34" charset="0"/>
                <a:ea typeface="Cambria" pitchFamily="34" charset="-122"/>
                <a:cs typeface="Cambria" pitchFamily="34" charset="-120"/>
              </a:rPr>
              <a:t>Edge vs. Cloud: Full Comparison</a:t>
            </a:r>
            <a:endParaRPr lang="en-US" sz="3467"/>
          </a:p>
        </p:txBody>
      </p:sp>
      <p:graphicFrame>
        <p:nvGraphicFramePr>
          <p:cNvPr id="8" name="Table 0"/>
          <p:cNvGraphicFramePr>
            <a:graphicFrameLocks noGrp="1"/>
          </p:cNvGraphicFramePr>
          <p:nvPr>
            <p:extLst>
              <p:ext uri="{D42A27DB-BD31-4B8C-83A1-F6EECF244321}">
                <p14:modId xmlns:p14="http://schemas.microsoft.com/office/powerpoint/2010/main" val="3942223678"/>
              </p:ext>
            </p:extLst>
          </p:nvPr>
        </p:nvGraphicFramePr>
        <p:xfrm>
          <a:off x="475881" y="1923189"/>
          <a:ext cx="11338560" cy="3998976"/>
        </p:xfrm>
        <a:graphic>
          <a:graphicData uri="http://schemas.openxmlformats.org/drawingml/2006/table">
            <a:tbl>
              <a:tblPr/>
              <a:tblGrid>
                <a:gridCol w="4693920">
                  <a:extLst>
                    <a:ext uri="{9D8B030D-6E8A-4147-A177-3AD203B41FA5}">
                      <a16:colId xmlns:a16="http://schemas.microsoft.com/office/drawing/2014/main" val="20000"/>
                    </a:ext>
                  </a:extLst>
                </a:gridCol>
                <a:gridCol w="3322320">
                  <a:extLst>
                    <a:ext uri="{9D8B030D-6E8A-4147-A177-3AD203B41FA5}">
                      <a16:colId xmlns:a16="http://schemas.microsoft.com/office/drawing/2014/main" val="20001"/>
                    </a:ext>
                  </a:extLst>
                </a:gridCol>
                <a:gridCol w="3322320">
                  <a:extLst>
                    <a:ext uri="{9D8B030D-6E8A-4147-A177-3AD203B41FA5}">
                      <a16:colId xmlns:a16="http://schemas.microsoft.com/office/drawing/2014/main" val="20002"/>
                    </a:ext>
                  </a:extLst>
                </a:gridCol>
              </a:tblGrid>
              <a:tr h="499872">
                <a:tc>
                  <a:txBody>
                    <a:bodyPr/>
                    <a:lstStyle/>
                    <a:p>
                      <a:pPr marL="0" indent="0">
                        <a:buNone/>
                      </a:pPr>
                      <a:r>
                        <a:rPr lang="en-US" sz="1600" b="1">
                          <a:solidFill>
                            <a:srgbClr val="FFFFFF"/>
                          </a:solidFill>
                          <a:latin typeface="Calibri" pitchFamily="34" charset="0"/>
                          <a:ea typeface="Calibri" pitchFamily="34" charset="-122"/>
                          <a:cs typeface="Calibri" pitchFamily="34" charset="-120"/>
                        </a:rPr>
                        <a:t>Criterion</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C2E"/>
                    </a:solidFill>
                  </a:tcPr>
                </a:tc>
                <a:tc>
                  <a:txBody>
                    <a:bodyPr/>
                    <a:lstStyle/>
                    <a:p>
                      <a:pPr marL="0" indent="0" algn="ctr">
                        <a:buNone/>
                      </a:pPr>
                      <a:r>
                        <a:rPr lang="en-US" sz="1600" b="1">
                          <a:solidFill>
                            <a:srgbClr val="FFFFFF"/>
                          </a:solidFill>
                          <a:latin typeface="Calibri" pitchFamily="34" charset="0"/>
                          <a:ea typeface="Calibri" pitchFamily="34" charset="-122"/>
                          <a:cs typeface="Calibri" pitchFamily="34" charset="-120"/>
                        </a:rPr>
                        <a:t>Edge Computing</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F46"/>
                    </a:solidFill>
                  </a:tcPr>
                </a:tc>
                <a:tc>
                  <a:txBody>
                    <a:bodyPr/>
                    <a:lstStyle/>
                    <a:p>
                      <a:pPr marL="0" indent="0" algn="ctr">
                        <a:buNone/>
                      </a:pPr>
                      <a:r>
                        <a:rPr lang="en-US" sz="1600" b="1">
                          <a:solidFill>
                            <a:srgbClr val="FFFFFF"/>
                          </a:solidFill>
                          <a:latin typeface="Calibri" pitchFamily="34" charset="0"/>
                          <a:ea typeface="Calibri" pitchFamily="34" charset="-122"/>
                          <a:cs typeface="Calibri" pitchFamily="34" charset="-120"/>
                        </a:rPr>
                        <a:t>Cloud Computing</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2D12"/>
                    </a:solidFill>
                  </a:tcPr>
                </a:tc>
                <a:extLst>
                  <a:ext uri="{0D108BD9-81ED-4DB2-BD59-A6C34878D82A}">
                    <a16:rowId xmlns:a16="http://schemas.microsoft.com/office/drawing/2014/main" val="10000"/>
                  </a:ext>
                </a:extLst>
              </a:tr>
              <a:tr h="499872">
                <a:tc>
                  <a:txBody>
                    <a:bodyPr/>
                    <a:lstStyle/>
                    <a:p>
                      <a:pPr marL="0" indent="0">
                        <a:buNone/>
                      </a:pPr>
                      <a:r>
                        <a:rPr lang="en-US" sz="1600">
                          <a:solidFill>
                            <a:srgbClr val="1E293B"/>
                          </a:solidFill>
                          <a:latin typeface="Calibri" pitchFamily="34" charset="0"/>
                          <a:ea typeface="Calibri" pitchFamily="34" charset="-122"/>
                          <a:cs typeface="Calibri" pitchFamily="34" charset="-120"/>
                        </a:rPr>
                        <a:t>Latency (stable network)</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600" b="1">
                          <a:solidFill>
                            <a:srgbClr val="047857"/>
                          </a:solidFill>
                          <a:latin typeface="Calibri" pitchFamily="34" charset="0"/>
                          <a:ea typeface="Calibri" pitchFamily="34" charset="-122"/>
                          <a:cs typeface="Calibri" pitchFamily="34" charset="-120"/>
                        </a:rPr>
                        <a:t>95 ms</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marL="0" indent="0" algn="ctr">
                        <a:buNone/>
                      </a:pPr>
                      <a:r>
                        <a:rPr lang="en-US" sz="1600" b="1">
                          <a:solidFill>
                            <a:srgbClr val="92400E"/>
                          </a:solidFill>
                          <a:latin typeface="Calibri" pitchFamily="34" charset="0"/>
                          <a:ea typeface="Calibri" pitchFamily="34" charset="-122"/>
                          <a:cs typeface="Calibri" pitchFamily="34" charset="-120"/>
                        </a:rPr>
                        <a:t>510 ms</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extLst>
                  <a:ext uri="{0D108BD9-81ED-4DB2-BD59-A6C34878D82A}">
                    <a16:rowId xmlns:a16="http://schemas.microsoft.com/office/drawing/2014/main" val="10001"/>
                  </a:ext>
                </a:extLst>
              </a:tr>
              <a:tr h="499872">
                <a:tc>
                  <a:txBody>
                    <a:bodyPr/>
                    <a:lstStyle/>
                    <a:p>
                      <a:pPr marL="0" indent="0">
                        <a:buNone/>
                      </a:pPr>
                      <a:r>
                        <a:rPr lang="en-US" sz="1600">
                          <a:solidFill>
                            <a:srgbClr val="1E293B"/>
                          </a:solidFill>
                          <a:latin typeface="Calibri" pitchFamily="34" charset="0"/>
                          <a:ea typeface="Calibri" pitchFamily="34" charset="-122"/>
                          <a:cs typeface="Calibri" pitchFamily="34" charset="-120"/>
                        </a:rPr>
                        <a:t>Latency (shared network)</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600" b="1">
                          <a:solidFill>
                            <a:srgbClr val="047857"/>
                          </a:solidFill>
                          <a:latin typeface="Calibri" pitchFamily="34" charset="0"/>
                          <a:ea typeface="Calibri" pitchFamily="34" charset="-122"/>
                          <a:cs typeface="Calibri" pitchFamily="34" charset="-120"/>
                        </a:rPr>
                        <a:t>422 ms</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marL="0" indent="0" algn="ctr">
                        <a:buNone/>
                      </a:pPr>
                      <a:r>
                        <a:rPr lang="en-US" sz="1600" b="1">
                          <a:solidFill>
                            <a:srgbClr val="DC2626"/>
                          </a:solidFill>
                          <a:latin typeface="Calibri" pitchFamily="34" charset="0"/>
                          <a:ea typeface="Calibri" pitchFamily="34" charset="-122"/>
                          <a:cs typeface="Calibri" pitchFamily="34" charset="-120"/>
                        </a:rPr>
                        <a:t>2,170 ms</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2"/>
                  </a:ext>
                </a:extLst>
              </a:tr>
              <a:tr h="499872">
                <a:tc>
                  <a:txBody>
                    <a:bodyPr/>
                    <a:lstStyle/>
                    <a:p>
                      <a:pPr marL="0" indent="0">
                        <a:buNone/>
                      </a:pPr>
                      <a:r>
                        <a:rPr lang="en-US" sz="1600">
                          <a:solidFill>
                            <a:srgbClr val="1E293B"/>
                          </a:solidFill>
                          <a:latin typeface="Calibri" pitchFamily="34" charset="0"/>
                          <a:ea typeface="Calibri" pitchFamily="34" charset="-122"/>
                          <a:cs typeface="Calibri" pitchFamily="34" charset="-120"/>
                        </a:rPr>
                        <a:t>Speed advantage</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gridSpan="2">
                  <a:txBody>
                    <a:bodyPr/>
                    <a:lstStyle/>
                    <a:p>
                      <a:pPr marL="0" indent="0" algn="ctr">
                        <a:buNone/>
                      </a:pPr>
                      <a:r>
                        <a:rPr lang="en-US" sz="1600" b="1">
                          <a:solidFill>
                            <a:srgbClr val="1D4ED8"/>
                          </a:solidFill>
                          <a:latin typeface="Calibri" pitchFamily="34" charset="0"/>
                          <a:ea typeface="Calibri" pitchFamily="34" charset="-122"/>
                          <a:cs typeface="Calibri" pitchFamily="34" charset="-120"/>
                        </a:rPr>
                        <a:t>5.1× – 5.4× faster in every test</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hMerge="1">
                  <a:txBody>
                    <a:bodyPr/>
                    <a:lstStyle/>
                    <a:p>
                      <a:endParaRPr lang="en-DE"/>
                    </a:p>
                  </a:txBody>
                  <a:tcPr/>
                </a:tc>
                <a:extLst>
                  <a:ext uri="{0D108BD9-81ED-4DB2-BD59-A6C34878D82A}">
                    <a16:rowId xmlns:a16="http://schemas.microsoft.com/office/drawing/2014/main" val="10003"/>
                  </a:ext>
                </a:extLst>
              </a:tr>
              <a:tr h="499872">
                <a:tc>
                  <a:txBody>
                    <a:bodyPr/>
                    <a:lstStyle/>
                    <a:p>
                      <a:pPr marL="0" indent="0">
                        <a:buNone/>
                      </a:pPr>
                      <a:r>
                        <a:rPr lang="en-US" sz="1600">
                          <a:solidFill>
                            <a:srgbClr val="1E293B"/>
                          </a:solidFill>
                          <a:latin typeface="Calibri" pitchFamily="34" charset="0"/>
                          <a:ea typeface="Calibri" pitchFamily="34" charset="-122"/>
                          <a:cs typeface="Calibri" pitchFamily="34" charset="-120"/>
                        </a:rPr>
                        <a:t>Offline operation</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600" b="1">
                          <a:solidFill>
                            <a:srgbClr val="047857"/>
                          </a:solidFill>
                          <a:latin typeface="Calibri" pitchFamily="34" charset="0"/>
                          <a:ea typeface="Calibri" pitchFamily="34" charset="-122"/>
                          <a:cs typeface="Calibri" pitchFamily="34" charset="-120"/>
                        </a:rPr>
                        <a:t>✓  Yes</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marL="0" indent="0" algn="ctr">
                        <a:buNone/>
                      </a:pPr>
                      <a:r>
                        <a:rPr lang="en-US" sz="1600" b="1">
                          <a:solidFill>
                            <a:srgbClr val="DC2626"/>
                          </a:solidFill>
                          <a:latin typeface="Calibri" pitchFamily="34" charset="0"/>
                          <a:ea typeface="Calibri" pitchFamily="34" charset="-122"/>
                          <a:cs typeface="Calibri" pitchFamily="34" charset="-120"/>
                        </a:rPr>
                        <a:t>✗  No</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4"/>
                  </a:ext>
                </a:extLst>
              </a:tr>
              <a:tr h="499872">
                <a:tc>
                  <a:txBody>
                    <a:bodyPr/>
                    <a:lstStyle/>
                    <a:p>
                      <a:pPr marL="0" indent="0">
                        <a:buNone/>
                      </a:pPr>
                      <a:r>
                        <a:rPr lang="en-US" sz="1600">
                          <a:solidFill>
                            <a:srgbClr val="1E293B"/>
                          </a:solidFill>
                          <a:latin typeface="Calibri" pitchFamily="34" charset="0"/>
                          <a:ea typeface="Calibri" pitchFamily="34" charset="-122"/>
                          <a:cs typeface="Calibri" pitchFamily="34" charset="-120"/>
                        </a:rPr>
                        <a:t>Suitable for real-time</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600" b="1">
                          <a:solidFill>
                            <a:srgbClr val="047857"/>
                          </a:solidFill>
                          <a:latin typeface="Calibri" pitchFamily="34" charset="0"/>
                          <a:ea typeface="Calibri" pitchFamily="34" charset="-122"/>
                          <a:cs typeface="Calibri" pitchFamily="34" charset="-120"/>
                        </a:rPr>
                        <a:t>✓  Yes</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marL="0" indent="0" algn="ctr">
                        <a:buNone/>
                      </a:pPr>
                      <a:r>
                        <a:rPr lang="en-US" sz="1600">
                          <a:solidFill>
                            <a:srgbClr val="92400E"/>
                          </a:solidFill>
                          <a:latin typeface="Calibri" pitchFamily="34" charset="0"/>
                          <a:ea typeface="Calibri" pitchFamily="34" charset="-122"/>
                          <a:cs typeface="Calibri" pitchFamily="34" charset="-120"/>
                        </a:rPr>
                        <a:t>Limited</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extLst>
                  <a:ext uri="{0D108BD9-81ED-4DB2-BD59-A6C34878D82A}">
                    <a16:rowId xmlns:a16="http://schemas.microsoft.com/office/drawing/2014/main" val="10005"/>
                  </a:ext>
                </a:extLst>
              </a:tr>
              <a:tr h="499872">
                <a:tc>
                  <a:txBody>
                    <a:bodyPr/>
                    <a:lstStyle/>
                    <a:p>
                      <a:pPr marL="0" indent="0">
                        <a:buNone/>
                      </a:pPr>
                      <a:r>
                        <a:rPr lang="en-US" sz="1600">
                          <a:solidFill>
                            <a:srgbClr val="1E293B"/>
                          </a:solidFill>
                          <a:latin typeface="Calibri" pitchFamily="34" charset="0"/>
                          <a:ea typeface="Calibri" pitchFamily="34" charset="-122"/>
                          <a:cs typeface="Calibri" pitchFamily="34" charset="-120"/>
                        </a:rPr>
                        <a:t>Network dependency</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600">
                          <a:solidFill>
                            <a:srgbClr val="047857"/>
                          </a:solidFill>
                          <a:latin typeface="Calibri" pitchFamily="34" charset="0"/>
                          <a:ea typeface="Calibri" pitchFamily="34" charset="-122"/>
                          <a:cs typeface="Calibri" pitchFamily="34" charset="-120"/>
                        </a:rPr>
                        <a:t>Local network</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marL="0" indent="0" algn="ctr">
                        <a:buNone/>
                      </a:pPr>
                      <a:r>
                        <a:rPr lang="en-US" sz="1600">
                          <a:solidFill>
                            <a:srgbClr val="92400E"/>
                          </a:solidFill>
                          <a:latin typeface="Calibri" pitchFamily="34" charset="0"/>
                          <a:ea typeface="Calibri" pitchFamily="34" charset="-122"/>
                          <a:cs typeface="Calibri" pitchFamily="34" charset="-120"/>
                        </a:rPr>
                        <a:t>Internet required</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extLst>
                  <a:ext uri="{0D108BD9-81ED-4DB2-BD59-A6C34878D82A}">
                    <a16:rowId xmlns:a16="http://schemas.microsoft.com/office/drawing/2014/main" val="10006"/>
                  </a:ext>
                </a:extLst>
              </a:tr>
              <a:tr h="499872">
                <a:tc>
                  <a:txBody>
                    <a:bodyPr/>
                    <a:lstStyle/>
                    <a:p>
                      <a:pPr marL="0" indent="0">
                        <a:buNone/>
                      </a:pPr>
                      <a:r>
                        <a:rPr lang="en-US" sz="1600">
                          <a:solidFill>
                            <a:srgbClr val="1E293B"/>
                          </a:solidFill>
                          <a:latin typeface="Calibri" pitchFamily="34" charset="0"/>
                          <a:ea typeface="Calibri" pitchFamily="34" charset="-122"/>
                          <a:cs typeface="Calibri" pitchFamily="34" charset="-120"/>
                        </a:rPr>
                        <a:t>Storage &amp; analysis scale</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600">
                          <a:solidFill>
                            <a:srgbClr val="64748B"/>
                          </a:solidFill>
                          <a:latin typeface="Calibri" pitchFamily="34" charset="0"/>
                          <a:ea typeface="Calibri" pitchFamily="34" charset="-122"/>
                          <a:cs typeface="Calibri" pitchFamily="34" charset="-120"/>
                        </a:rPr>
                        <a:t>Limited</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600" b="1">
                          <a:solidFill>
                            <a:srgbClr val="047857"/>
                          </a:solidFill>
                          <a:latin typeface="Calibri" pitchFamily="34" charset="0"/>
                          <a:ea typeface="Calibri" pitchFamily="34" charset="-122"/>
                          <a:cs typeface="Calibri" pitchFamily="34" charset="-120"/>
                        </a:rPr>
                        <a:t>✓  High</a:t>
                      </a:r>
                      <a:endParaRPr lang="en-US" sz="160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extLst>
                  <a:ext uri="{0D108BD9-81ED-4DB2-BD59-A6C34878D82A}">
                    <a16:rowId xmlns:a16="http://schemas.microsoft.com/office/drawing/2014/main" val="10007"/>
                  </a:ext>
                </a:extLst>
              </a:tr>
            </a:tbl>
          </a:graphicData>
        </a:graphic>
      </p:graphicFrame>
      <p:sp>
        <p:nvSpPr>
          <p:cNvPr id="36" name="Text 34"/>
          <p:cNvSpPr/>
          <p:nvPr/>
        </p:nvSpPr>
        <p:spPr>
          <a:xfrm>
            <a:off x="854915" y="6268161"/>
            <a:ext cx="9966960" cy="292608"/>
          </a:xfrm>
          <a:prstGeom prst="rect">
            <a:avLst/>
          </a:prstGeom>
          <a:noFill/>
          <a:ln/>
        </p:spPr>
        <p:txBody>
          <a:bodyPr wrap="square" lIns="0" tIns="0" rIns="0" bIns="0" rtlCol="0" anchor="ctr">
            <a:normAutofit/>
          </a:bodyPr>
          <a:lstStyle/>
          <a:p>
            <a:pPr marL="0" indent="0" algn="ctr">
              <a:buNone/>
            </a:pPr>
            <a:r>
              <a:rPr lang="en-US" sz="1500" b="1">
                <a:solidFill>
                  <a:srgbClr val="0B172A"/>
                </a:solidFill>
              </a:rPr>
              <a:t>Edge is best for fast local actions. Cloud is best for heavy storage, training, reporting, and long-term analytics.</a:t>
            </a:r>
            <a:endParaRPr lang="en-US" sz="15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718</Words>
  <Application>Microsoft Office PowerPoint</Application>
  <PresentationFormat>Widescreen</PresentationFormat>
  <Paragraphs>131</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Aptos</vt:lpstr>
      <vt:lpstr>Aptos Display</vt:lpstr>
      <vt:lpstr>Arial</vt:lpstr>
      <vt:lpstr>Calibri</vt:lpstr>
      <vt:lpstr>Cambria</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Edge vs Cloud Latency Test</dc:title>
  <dc:subject>Edge vs Cloud Latency Test</dc:subject>
  <dc:creator>OpenAI</dc:creator>
  <cp:lastModifiedBy>M R Sohan</cp:lastModifiedBy>
  <cp:revision>1</cp:revision>
  <dcterms:created xsi:type="dcterms:W3CDTF">2026-06-22T21:01:43Z</dcterms:created>
  <dcterms:modified xsi:type="dcterms:W3CDTF">2026-06-22T23:39:58Z</dcterms:modified>
</cp:coreProperties>
</file>