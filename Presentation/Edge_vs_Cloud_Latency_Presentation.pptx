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7" r:id="rId2"/>
    <p:sldId id="266" r:id="rId3"/>
    <p:sldId id="258" r:id="rId4"/>
    <p:sldId id="259" r:id="rId5"/>
    <p:sldId id="260" r:id="rId6"/>
    <p:sldId id="261" r:id="rId7"/>
    <p:sldId id="262" r:id="rId8"/>
    <p:sldId id="263" r:id="rId9"/>
    <p:sldId id="267" r:id="rId10"/>
    <p:sldId id="264"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8" d="100"/>
          <a:sy n="78" d="100"/>
        </p:scale>
        <p:origin x="85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Edge computing</c:v>
                </c:pt>
              </c:strCache>
            </c:strRef>
          </c:tx>
          <c:spPr>
            <a:solidFill>
              <a:srgbClr val="14B8A6"/>
            </a:solidFill>
            <a:effectLst/>
          </c:spPr>
          <c:invertIfNegative val="0"/>
          <c:dLbls>
            <c:numFmt formatCode="#,##0" sourceLinked="0"/>
            <c:spPr>
              <a:noFill/>
              <a:ln>
                <a:noFill/>
              </a:ln>
              <a:effectLst/>
            </c:spPr>
            <c:txPr>
              <a:bodyPr/>
              <a:lstStyle/>
              <a:p>
                <a:pPr>
                  <a:defRPr sz="900" b="0" i="0" u="none" strike="noStrike">
                    <a:solidFill>
                      <a:srgbClr val="000000"/>
                    </a:solidFill>
                    <a:latin typeface="Arial"/>
                  </a:defRPr>
                </a:pPr>
                <a:endParaRPr lang="en-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Home Wi‑Fi</c:v>
                </c:pt>
                <c:pt idx="1">
                  <c:v>HSHL central Wi‑Fi</c:v>
                </c:pt>
              </c:strCache>
            </c:strRef>
          </c:cat>
          <c:val>
            <c:numRef>
              <c:f>Sheet1!$B$2:$B$3</c:f>
              <c:numCache>
                <c:formatCode>General</c:formatCode>
                <c:ptCount val="2"/>
                <c:pt idx="0">
                  <c:v>95</c:v>
                </c:pt>
                <c:pt idx="1">
                  <c:v>422</c:v>
                </c:pt>
              </c:numCache>
            </c:numRef>
          </c:val>
          <c:extLst>
            <c:ext xmlns:c16="http://schemas.microsoft.com/office/drawing/2014/chart" uri="{C3380CC4-5D6E-409C-BE32-E72D297353CC}">
              <c16:uniqueId val="{00000000-1A3A-4DA0-921F-9F809ED0B234}"/>
            </c:ext>
          </c:extLst>
        </c:ser>
        <c:ser>
          <c:idx val="1"/>
          <c:order val="1"/>
          <c:tx>
            <c:strRef>
              <c:f>Sheet1!$C$1</c:f>
              <c:strCache>
                <c:ptCount val="1"/>
                <c:pt idx="0">
                  <c:v>Cloud computing</c:v>
                </c:pt>
              </c:strCache>
            </c:strRef>
          </c:tx>
          <c:spPr>
            <a:solidFill>
              <a:srgbClr val="F59E0B"/>
            </a:solidFill>
            <a:effectLst/>
          </c:spPr>
          <c:invertIfNegative val="0"/>
          <c:dLbls>
            <c:numFmt formatCode="#,##0" sourceLinked="0"/>
            <c:spPr>
              <a:noFill/>
              <a:ln>
                <a:noFill/>
              </a:ln>
              <a:effectLst/>
            </c:spPr>
            <c:txPr>
              <a:bodyPr/>
              <a:lstStyle/>
              <a:p>
                <a:pPr>
                  <a:defRPr sz="900" b="0" i="0" u="none" strike="noStrike">
                    <a:solidFill>
                      <a:srgbClr val="000000"/>
                    </a:solidFill>
                    <a:latin typeface="Arial"/>
                  </a:defRPr>
                </a:pPr>
                <a:endParaRPr lang="en-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Home Wi‑Fi</c:v>
                </c:pt>
                <c:pt idx="1">
                  <c:v>HSHL central Wi‑Fi</c:v>
                </c:pt>
              </c:strCache>
            </c:strRef>
          </c:cat>
          <c:val>
            <c:numRef>
              <c:f>Sheet1!$C$2:$C$3</c:f>
              <c:numCache>
                <c:formatCode>General</c:formatCode>
                <c:ptCount val="2"/>
                <c:pt idx="0">
                  <c:v>510</c:v>
                </c:pt>
                <c:pt idx="1">
                  <c:v>2170</c:v>
                </c:pt>
              </c:numCache>
            </c:numRef>
          </c:val>
          <c:extLst>
            <c:ext xmlns:c16="http://schemas.microsoft.com/office/drawing/2014/chart" uri="{C3380CC4-5D6E-409C-BE32-E72D297353CC}">
              <c16:uniqueId val="{00000001-1A3A-4DA0-921F-9F809ED0B23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2400"/>
          <c:min val="0"/>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400"/>
      </c:valAx>
      <c:spPr>
        <a:noFill/>
        <a:ln>
          <a:noFill/>
        </a:ln>
        <a:effectLst/>
      </c:spPr>
    </c:plotArea>
    <c:legend>
      <c:legendPos val="b"/>
      <c:overlay val="0"/>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605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latency means the full round-trip time. The test used a mobile phone as the client, a laptop as the local edge server, and an external internet server for cloud comparison.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 test: the laptop ran a Python Flask server. The mobile phone accessed it via its local IP on the same Wi-Fi. HTTP GET and POST requests confirmed working communication; the terminal showed status 200.
Cloud test: a curl command measured the round-trip to httpbin.org over the public internet. The measured result was 0.510079 seconds = 510 ms.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that in the edge test, the laptop acts like a small local server. The phone sends data over the same Wi-Fi network, the laptop processes it, and the response comes back without going to a remote cloud server.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cloud test used a remote HTTP server. The request must go through the public internet, reach the server, and return. This adds round-trip delay.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chart to show the numbers. At home, edge latency was 95 ms and cloud was 510 ms. At HSHL, edge was 422 ms and cloud was 2170 ms. The direction is the same: edge is lower.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this as the main comparison. In the stable environment, cloud took about 5.4 times longer. This is important because industrial systems often need reactions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edge is not magic. Network quality matters. The HSHL shared Wi-Fi increased edge latency from 95 to 422 ms, but cloud became much worse at 2170 ms.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the equation in easy words. Edge reduces X because data travels a short local distance. Shared Wi-Fi reduces effective bandwidth, so latency rises. Cloud has a much longer internet route.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III from the paper summarises all key dimensions. Notice that storage and analysis scale is the ONE area where cloud wins. This is why the paper recommends a hybrid approach: edge handles all time-sensitive operations, cloud handles everything that doesn't require an immediate response (storage, analytics, AI model retraining).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a summary table. Edge is better for low-latency and offline local operation. Cloud remains valuable for storage and large-scale analysis.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US" dirty="0"/>
          </a:p>
          <a:p>
            <a:endParaRPr lang="en-US" dirty="0"/>
          </a:p>
          <a:p>
            <a:endParaRPr lang="en-US" dirty="0"/>
          </a:p>
          <a:p>
            <a:endParaRPr lang="en-US" dirty="0"/>
          </a:p>
          <a:p>
            <a:endParaRPr lang="en-US" dirty="0"/>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Latency test Setup</a:t>
            </a:r>
            <a:endParaRPr lang="en-US" sz="280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02</a:t>
            </a:r>
            <a:endParaRPr lang="en-US" sz="850" dirty="0"/>
          </a:p>
        </p:txBody>
      </p:sp>
      <p:sp>
        <p:nvSpPr>
          <p:cNvPr id="8" name="Text 6"/>
          <p:cNvSpPr/>
          <p:nvPr/>
        </p:nvSpPr>
        <p:spPr>
          <a:xfrm>
            <a:off x="658368" y="1417320"/>
            <a:ext cx="3474720" cy="301752"/>
          </a:xfrm>
          <a:prstGeom prst="rect">
            <a:avLst/>
          </a:prstGeom>
          <a:noFill/>
          <a:ln/>
        </p:spPr>
        <p:txBody>
          <a:bodyPr wrap="square" lIns="0" tIns="0" rIns="0" bIns="0" rtlCol="0" anchor="ctr"/>
          <a:lstStyle/>
          <a:p>
            <a:pPr marL="0" indent="0">
              <a:buNone/>
            </a:pPr>
            <a:r>
              <a:rPr lang="en-US" sz="1800" b="1" dirty="0">
                <a:solidFill>
                  <a:srgbClr val="0B172A"/>
                </a:solidFill>
              </a:rPr>
              <a:t>Latency Definition</a:t>
            </a:r>
            <a:endParaRPr lang="en-US" sz="1800" dirty="0"/>
          </a:p>
        </p:txBody>
      </p:sp>
      <p:sp>
        <p:nvSpPr>
          <p:cNvPr id="9" name="Text 7"/>
          <p:cNvSpPr/>
          <p:nvPr/>
        </p:nvSpPr>
        <p:spPr>
          <a:xfrm>
            <a:off x="3578047" y="5628131"/>
            <a:ext cx="6035040" cy="365761"/>
          </a:xfrm>
          <a:prstGeom prst="rect">
            <a:avLst/>
          </a:prstGeom>
          <a:noFill/>
          <a:ln/>
        </p:spPr>
        <p:txBody>
          <a:bodyPr wrap="square" lIns="0" tIns="0" rIns="0" bIns="0" rtlCol="0" anchor="ctr">
            <a:normAutofit/>
          </a:bodyPr>
          <a:lstStyle/>
          <a:p>
            <a:pPr marL="0" indent="0">
              <a:buNone/>
            </a:pPr>
            <a:r>
              <a:rPr lang="en-US" sz="1700" dirty="0">
                <a:solidFill>
                  <a:srgbClr val="1E293B"/>
                </a:solidFill>
              </a:rPr>
              <a:t>Time from sending a request until the response is received.</a:t>
            </a:r>
            <a:endParaRPr lang="en-US" sz="1700" dirty="0"/>
          </a:p>
        </p:txBody>
      </p:sp>
      <p:sp>
        <p:nvSpPr>
          <p:cNvPr id="10" name="Text 8"/>
          <p:cNvSpPr/>
          <p:nvPr/>
        </p:nvSpPr>
        <p:spPr>
          <a:xfrm>
            <a:off x="658368" y="2788920"/>
            <a:ext cx="292608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Client device</a:t>
            </a:r>
            <a:endParaRPr lang="en-US" sz="1100" dirty="0"/>
          </a:p>
        </p:txBody>
      </p:sp>
      <p:sp>
        <p:nvSpPr>
          <p:cNvPr id="11" name="Text 9"/>
          <p:cNvSpPr/>
          <p:nvPr/>
        </p:nvSpPr>
        <p:spPr>
          <a:xfrm>
            <a:off x="658368" y="3108960"/>
            <a:ext cx="2926080" cy="512064"/>
          </a:xfrm>
          <a:prstGeom prst="rect">
            <a:avLst/>
          </a:prstGeom>
          <a:noFill/>
          <a:ln/>
        </p:spPr>
        <p:txBody>
          <a:bodyPr wrap="square" lIns="0" tIns="0" rIns="0" bIns="0" rtlCol="0" anchor="ctr">
            <a:normAutofit/>
          </a:bodyPr>
          <a:lstStyle/>
          <a:p>
            <a:pPr marL="0" indent="0">
              <a:buNone/>
            </a:pPr>
            <a:r>
              <a:rPr lang="en-US" sz="2800" b="1" dirty="0">
                <a:solidFill>
                  <a:srgbClr val="2563EB"/>
                </a:solidFill>
                <a:latin typeface="Aptos Display" pitchFamily="34" charset="0"/>
                <a:ea typeface="Aptos Display" pitchFamily="34" charset="-122"/>
                <a:cs typeface="Aptos Display" pitchFamily="34" charset="-120"/>
              </a:rPr>
              <a:t>Mobile phone</a:t>
            </a:r>
            <a:endParaRPr lang="en-US" sz="2800" dirty="0"/>
          </a:p>
        </p:txBody>
      </p:sp>
      <p:sp>
        <p:nvSpPr>
          <p:cNvPr id="12" name="Text 10"/>
          <p:cNvSpPr/>
          <p:nvPr/>
        </p:nvSpPr>
        <p:spPr>
          <a:xfrm>
            <a:off x="658368" y="3657600"/>
            <a:ext cx="292608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Generated sensor-like data</a:t>
            </a:r>
            <a:endParaRPr lang="en-US" sz="1050" dirty="0"/>
          </a:p>
        </p:txBody>
      </p:sp>
      <p:sp>
        <p:nvSpPr>
          <p:cNvPr id="13" name="Text 11"/>
          <p:cNvSpPr/>
          <p:nvPr/>
        </p:nvSpPr>
        <p:spPr>
          <a:xfrm>
            <a:off x="3886200" y="2788920"/>
            <a:ext cx="310896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Edge server</a:t>
            </a:r>
            <a:endParaRPr lang="en-US" sz="1100" dirty="0"/>
          </a:p>
        </p:txBody>
      </p:sp>
      <p:sp>
        <p:nvSpPr>
          <p:cNvPr id="14" name="Text 12"/>
          <p:cNvSpPr/>
          <p:nvPr/>
        </p:nvSpPr>
        <p:spPr>
          <a:xfrm>
            <a:off x="3886200" y="3108960"/>
            <a:ext cx="3108960" cy="512064"/>
          </a:xfrm>
          <a:prstGeom prst="rect">
            <a:avLst/>
          </a:prstGeom>
          <a:noFill/>
          <a:ln/>
        </p:spPr>
        <p:txBody>
          <a:bodyPr wrap="square" lIns="0" tIns="0" rIns="0" bIns="0" rtlCol="0" anchor="ctr">
            <a:normAutofit/>
          </a:bodyPr>
          <a:lstStyle/>
          <a:p>
            <a:pPr marL="0" indent="0">
              <a:buNone/>
            </a:pPr>
            <a:r>
              <a:rPr lang="en-US" sz="2800" b="1" dirty="0">
                <a:solidFill>
                  <a:srgbClr val="14B8A6"/>
                </a:solidFill>
                <a:latin typeface="Aptos Display" pitchFamily="34" charset="0"/>
                <a:ea typeface="Aptos Display" pitchFamily="34" charset="-122"/>
                <a:cs typeface="Aptos Display" pitchFamily="34" charset="-120"/>
              </a:rPr>
              <a:t>Ubuntu laptop</a:t>
            </a:r>
            <a:endParaRPr lang="en-US" sz="2800" dirty="0"/>
          </a:p>
        </p:txBody>
      </p:sp>
      <p:sp>
        <p:nvSpPr>
          <p:cNvPr id="15" name="Text 13"/>
          <p:cNvSpPr/>
          <p:nvPr/>
        </p:nvSpPr>
        <p:spPr>
          <a:xfrm>
            <a:off x="3886200" y="3657600"/>
            <a:ext cx="310896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Processed the request locally</a:t>
            </a:r>
            <a:endParaRPr lang="en-US" sz="1050" dirty="0"/>
          </a:p>
        </p:txBody>
      </p:sp>
      <p:sp>
        <p:nvSpPr>
          <p:cNvPr id="16" name="Text 14"/>
          <p:cNvSpPr/>
          <p:nvPr/>
        </p:nvSpPr>
        <p:spPr>
          <a:xfrm>
            <a:off x="7269480" y="2788920"/>
            <a:ext cx="292608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Cloud target</a:t>
            </a:r>
            <a:endParaRPr lang="en-US" sz="1100" dirty="0"/>
          </a:p>
        </p:txBody>
      </p:sp>
      <p:sp>
        <p:nvSpPr>
          <p:cNvPr id="17" name="Text 15"/>
          <p:cNvSpPr/>
          <p:nvPr/>
        </p:nvSpPr>
        <p:spPr>
          <a:xfrm>
            <a:off x="7269480" y="3108960"/>
            <a:ext cx="2926080" cy="512064"/>
          </a:xfrm>
          <a:prstGeom prst="rect">
            <a:avLst/>
          </a:prstGeom>
          <a:noFill/>
          <a:ln/>
        </p:spPr>
        <p:txBody>
          <a:bodyPr wrap="square" lIns="0" tIns="0" rIns="0" bIns="0" rtlCol="0" anchor="ctr">
            <a:normAutofit/>
          </a:bodyPr>
          <a:lstStyle/>
          <a:p>
            <a:pPr marL="0" indent="0">
              <a:buNone/>
            </a:pPr>
            <a:r>
              <a:rPr lang="en-US" sz="2800" b="1" dirty="0">
                <a:solidFill>
                  <a:srgbClr val="F59E0B"/>
                </a:solidFill>
                <a:latin typeface="Aptos Display" pitchFamily="34" charset="0"/>
                <a:ea typeface="Aptos Display" pitchFamily="34" charset="-122"/>
                <a:cs typeface="Aptos Display" pitchFamily="34" charset="-120"/>
              </a:rPr>
              <a:t>Internet server</a:t>
            </a:r>
            <a:endParaRPr lang="en-US" sz="2800" dirty="0"/>
          </a:p>
        </p:txBody>
      </p:sp>
      <p:sp>
        <p:nvSpPr>
          <p:cNvPr id="18" name="Text 16"/>
          <p:cNvSpPr/>
          <p:nvPr/>
        </p:nvSpPr>
        <p:spPr>
          <a:xfrm>
            <a:off x="7269480" y="3657600"/>
            <a:ext cx="292608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External online server</a:t>
            </a:r>
            <a:endParaRPr lang="en-US" sz="1050" dirty="0"/>
          </a:p>
        </p:txBody>
      </p:sp>
      <p:sp>
        <p:nvSpPr>
          <p:cNvPr id="19" name="Shape 17"/>
          <p:cNvSpPr/>
          <p:nvPr/>
        </p:nvSpPr>
        <p:spPr>
          <a:xfrm>
            <a:off x="1097280" y="5349240"/>
            <a:ext cx="9692640" cy="0"/>
          </a:xfrm>
          <a:prstGeom prst="line">
            <a:avLst/>
          </a:prstGeom>
          <a:noFill/>
          <a:ln w="38100">
            <a:solidFill>
              <a:srgbClr val="E2E8F0"/>
            </a:solidFill>
            <a:prstDash val="solid"/>
          </a:ln>
        </p:spPr>
        <p:txBody>
          <a:bodyPr/>
          <a:lstStyle/>
          <a:p>
            <a:endParaRPr lang="en-DE"/>
          </a:p>
        </p:txBody>
      </p:sp>
      <p:sp>
        <p:nvSpPr>
          <p:cNvPr id="20" name="Shape 18"/>
          <p:cNvSpPr/>
          <p:nvPr/>
        </p:nvSpPr>
        <p:spPr>
          <a:xfrm>
            <a:off x="1005840" y="5257800"/>
            <a:ext cx="201168" cy="201168"/>
          </a:xfrm>
          <a:prstGeom prst="ellipse">
            <a:avLst/>
          </a:prstGeom>
          <a:solidFill>
            <a:srgbClr val="2563EB"/>
          </a:solidFill>
          <a:ln w="12700">
            <a:solidFill>
              <a:srgbClr val="2563EB">
                <a:alpha val="0"/>
              </a:srgbClr>
            </a:solidFill>
            <a:prstDash val="solid"/>
          </a:ln>
        </p:spPr>
        <p:txBody>
          <a:bodyPr/>
          <a:lstStyle/>
          <a:p>
            <a:endParaRPr lang="en-DE"/>
          </a:p>
        </p:txBody>
      </p:sp>
      <p:sp>
        <p:nvSpPr>
          <p:cNvPr id="21" name="Shape 19"/>
          <p:cNvSpPr/>
          <p:nvPr/>
        </p:nvSpPr>
        <p:spPr>
          <a:xfrm>
            <a:off x="10698480" y="5257800"/>
            <a:ext cx="201168" cy="201168"/>
          </a:xfrm>
          <a:prstGeom prst="ellipse">
            <a:avLst/>
          </a:prstGeom>
          <a:solidFill>
            <a:srgbClr val="10B981"/>
          </a:solidFill>
          <a:ln w="12700">
            <a:solidFill>
              <a:srgbClr val="10B981">
                <a:alpha val="0"/>
              </a:srgbClr>
            </a:solidFill>
            <a:prstDash val="solid"/>
          </a:ln>
        </p:spPr>
        <p:txBody>
          <a:bodyPr/>
          <a:lstStyle/>
          <a:p>
            <a:endParaRPr lang="en-DE"/>
          </a:p>
        </p:txBody>
      </p:sp>
      <p:sp>
        <p:nvSpPr>
          <p:cNvPr id="22" name="Text 20"/>
          <p:cNvSpPr/>
          <p:nvPr/>
        </p:nvSpPr>
        <p:spPr>
          <a:xfrm>
            <a:off x="777240" y="5559552"/>
            <a:ext cx="1097280" cy="201168"/>
          </a:xfrm>
          <a:prstGeom prst="rect">
            <a:avLst/>
          </a:prstGeom>
          <a:noFill/>
          <a:ln/>
        </p:spPr>
        <p:txBody>
          <a:bodyPr wrap="square" lIns="0" tIns="0" rIns="0" bIns="0" rtlCol="0" anchor="ctr"/>
          <a:lstStyle/>
          <a:p>
            <a:pPr marL="0" indent="0" algn="ctr">
              <a:buNone/>
            </a:pPr>
            <a:r>
              <a:rPr lang="en-US" sz="1050" dirty="0">
                <a:solidFill>
                  <a:srgbClr val="64748B"/>
                </a:solidFill>
              </a:rPr>
              <a:t>Request sent</a:t>
            </a:r>
            <a:endParaRPr lang="en-US" sz="1050" dirty="0"/>
          </a:p>
        </p:txBody>
      </p:sp>
      <p:sp>
        <p:nvSpPr>
          <p:cNvPr id="23" name="Text 21"/>
          <p:cNvSpPr/>
          <p:nvPr/>
        </p:nvSpPr>
        <p:spPr>
          <a:xfrm>
            <a:off x="10058400" y="5559552"/>
            <a:ext cx="1508760" cy="201168"/>
          </a:xfrm>
          <a:prstGeom prst="rect">
            <a:avLst/>
          </a:prstGeom>
          <a:noFill/>
          <a:ln/>
        </p:spPr>
        <p:txBody>
          <a:bodyPr wrap="square" lIns="0" tIns="0" rIns="0" bIns="0" rtlCol="0" anchor="ctr"/>
          <a:lstStyle/>
          <a:p>
            <a:pPr marL="0" indent="0" algn="ctr">
              <a:buNone/>
            </a:pPr>
            <a:r>
              <a:rPr lang="en-US" sz="1050" dirty="0">
                <a:solidFill>
                  <a:srgbClr val="64748B"/>
                </a:solidFill>
              </a:rPr>
              <a:t>Response received</a:t>
            </a:r>
            <a:endParaRPr lang="en-US" sz="1050" dirty="0"/>
          </a:p>
        </p:txBody>
      </p:sp>
      <p:sp>
        <p:nvSpPr>
          <p:cNvPr id="24" name="Text 22"/>
          <p:cNvSpPr/>
          <p:nvPr/>
        </p:nvSpPr>
        <p:spPr>
          <a:xfrm>
            <a:off x="4754880" y="4983481"/>
            <a:ext cx="2377440" cy="256032"/>
          </a:xfrm>
          <a:prstGeom prst="rect">
            <a:avLst/>
          </a:prstGeom>
          <a:noFill/>
          <a:ln/>
        </p:spPr>
        <p:txBody>
          <a:bodyPr wrap="square" lIns="0" tIns="0" rIns="0" bIns="0" rtlCol="0" anchor="ctr"/>
          <a:lstStyle/>
          <a:p>
            <a:pPr marL="0" indent="0" algn="ctr">
              <a:buNone/>
            </a:pPr>
            <a:r>
              <a:rPr lang="en-US" sz="1500" b="1" dirty="0">
                <a:solidFill>
                  <a:srgbClr val="0B172A"/>
                </a:solidFill>
              </a:rPr>
              <a:t>Measured latency</a:t>
            </a:r>
            <a:endParaRPr lang="en-US" sz="1500" dirty="0"/>
          </a:p>
        </p:txBody>
      </p:sp>
      <p:sp>
        <p:nvSpPr>
          <p:cNvPr id="25" name="TextBox 24">
            <a:extLst>
              <a:ext uri="{FF2B5EF4-FFF2-40B4-BE49-F238E27FC236}">
                <a16:creationId xmlns:a16="http://schemas.microsoft.com/office/drawing/2014/main" id="{6A8BDE60-736E-D0C2-FCA8-713757DCD0F8}"/>
              </a:ext>
            </a:extLst>
          </p:cNvPr>
          <p:cNvSpPr txBox="1"/>
          <p:nvPr/>
        </p:nvSpPr>
        <p:spPr>
          <a:xfrm>
            <a:off x="548528" y="1711305"/>
            <a:ext cx="11155791" cy="369332"/>
          </a:xfrm>
          <a:prstGeom prst="rect">
            <a:avLst/>
          </a:prstGeom>
          <a:noFill/>
        </p:spPr>
        <p:txBody>
          <a:bodyPr wrap="square" rtlCol="0">
            <a:spAutoFit/>
          </a:bodyPr>
          <a:lstStyle/>
          <a:p>
            <a:r>
              <a:rPr lang="en-US" b="1" dirty="0"/>
              <a:t>Tested in two environments: </a:t>
            </a:r>
            <a:r>
              <a:rPr lang="en-US" dirty="0"/>
              <a:t>Paderborn home Wi-Fi (stable, private)  ·  HSHL central Wi-Fi (shared, congested)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1280160"/>
          </a:xfrm>
          <a:prstGeom prst="rect">
            <a:avLst/>
          </a:prstGeom>
          <a:solidFill>
            <a:srgbClr val="0F1C2E"/>
          </a:solidFill>
          <a:ln w="12700">
            <a:solidFill>
              <a:srgbClr val="0F1C2E"/>
            </a:solidFill>
            <a:prstDash val="solid"/>
          </a:ln>
        </p:spPr>
        <p:txBody>
          <a:bodyPr/>
          <a:lstStyle/>
          <a:p>
            <a:endParaRPr lang="en-DE" sz="2400"/>
          </a:p>
        </p:txBody>
      </p:sp>
      <p:sp>
        <p:nvSpPr>
          <p:cNvPr id="3" name="Text 1"/>
          <p:cNvSpPr/>
          <p:nvPr/>
        </p:nvSpPr>
        <p:spPr>
          <a:xfrm>
            <a:off x="609600" y="0"/>
            <a:ext cx="9753600" cy="1280160"/>
          </a:xfrm>
          <a:prstGeom prst="rect">
            <a:avLst/>
          </a:prstGeom>
          <a:noFill/>
          <a:ln/>
        </p:spPr>
        <p:txBody>
          <a:bodyPr wrap="square" lIns="0" tIns="0" rIns="0" bIns="0" rtlCol="0" anchor="ctr"/>
          <a:lstStyle/>
          <a:p>
            <a:r>
              <a:rPr lang="en-US" sz="3733" b="1" dirty="0">
                <a:solidFill>
                  <a:srgbClr val="FFFFFF"/>
                </a:solidFill>
                <a:latin typeface="Cambria" pitchFamily="34" charset="0"/>
                <a:ea typeface="Cambria" pitchFamily="34" charset="-122"/>
                <a:cs typeface="Cambria" pitchFamily="34" charset="-120"/>
              </a:rPr>
              <a:t>Test Procedure</a:t>
            </a:r>
            <a:endParaRPr lang="en-US" sz="3733" dirty="0"/>
          </a:p>
        </p:txBody>
      </p:sp>
      <p:sp>
        <p:nvSpPr>
          <p:cNvPr id="4" name="Text 2"/>
          <p:cNvSpPr/>
          <p:nvPr/>
        </p:nvSpPr>
        <p:spPr>
          <a:xfrm>
            <a:off x="9509760" y="0"/>
            <a:ext cx="2316480" cy="1280160"/>
          </a:xfrm>
          <a:prstGeom prst="rect">
            <a:avLst/>
          </a:prstGeom>
          <a:noFill/>
          <a:ln/>
        </p:spPr>
        <p:txBody>
          <a:bodyPr wrap="square" lIns="0" tIns="0" rIns="0" bIns="0" rtlCol="0" anchor="ctr"/>
          <a:lstStyle/>
          <a:p>
            <a:pPr algn="r"/>
            <a:r>
              <a:rPr lang="en-US" sz="1867" b="1" dirty="0">
                <a:solidFill>
                  <a:srgbClr val="00B4D8"/>
                </a:solidFill>
                <a:latin typeface="Calibri" pitchFamily="34" charset="0"/>
                <a:ea typeface="Calibri" pitchFamily="34" charset="-122"/>
                <a:cs typeface="Calibri" pitchFamily="34" charset="-120"/>
              </a:rPr>
              <a:t>§ VII B–C</a:t>
            </a:r>
            <a:endParaRPr lang="en-US" sz="1867" dirty="0"/>
          </a:p>
        </p:txBody>
      </p:sp>
      <p:sp>
        <p:nvSpPr>
          <p:cNvPr id="5" name="Shape 3"/>
          <p:cNvSpPr/>
          <p:nvPr/>
        </p:nvSpPr>
        <p:spPr>
          <a:xfrm>
            <a:off x="426720" y="1463040"/>
            <a:ext cx="5425440" cy="5059680"/>
          </a:xfrm>
          <a:prstGeom prst="roundRect">
            <a:avLst>
              <a:gd name="adj" fmla="val 2410"/>
            </a:avLst>
          </a:prstGeom>
          <a:solidFill>
            <a:srgbClr val="ECFDF5"/>
          </a:solidFill>
          <a:ln/>
          <a:effectLst>
            <a:outerShdw blurRad="101600" dist="25400" dir="2700000" algn="bl" rotWithShape="0">
              <a:srgbClr val="000000">
                <a:alpha val="12000"/>
              </a:srgbClr>
            </a:outerShdw>
          </a:effectLst>
        </p:spPr>
        <p:txBody>
          <a:bodyPr/>
          <a:lstStyle/>
          <a:p>
            <a:endParaRPr lang="en-DE" sz="2400"/>
          </a:p>
        </p:txBody>
      </p:sp>
      <p:sp>
        <p:nvSpPr>
          <p:cNvPr id="6" name="Text 4"/>
          <p:cNvSpPr/>
          <p:nvPr/>
        </p:nvSpPr>
        <p:spPr>
          <a:xfrm>
            <a:off x="609600" y="1584960"/>
            <a:ext cx="5059680" cy="341376"/>
          </a:xfrm>
          <a:prstGeom prst="rect">
            <a:avLst/>
          </a:prstGeom>
          <a:noFill/>
          <a:ln/>
        </p:spPr>
        <p:txBody>
          <a:bodyPr wrap="square" lIns="0" tIns="0" rIns="0" bIns="0" rtlCol="0" anchor="ctr"/>
          <a:lstStyle/>
          <a:p>
            <a:pPr algn="ctr"/>
            <a:r>
              <a:rPr lang="en-US" sz="1333" b="1" kern="0" spc="267" dirty="0">
                <a:solidFill>
                  <a:srgbClr val="047857"/>
                </a:solidFill>
                <a:latin typeface="Calibri" pitchFamily="34" charset="0"/>
                <a:ea typeface="Calibri" pitchFamily="34" charset="-122"/>
                <a:cs typeface="Calibri" pitchFamily="34" charset="-120"/>
              </a:rPr>
              <a:t>EDGE LATENCY TEST</a:t>
            </a:r>
            <a:endParaRPr lang="en-US" sz="1333" dirty="0"/>
          </a:p>
        </p:txBody>
      </p:sp>
      <p:sp>
        <p:nvSpPr>
          <p:cNvPr id="7" name="Text 5"/>
          <p:cNvSpPr/>
          <p:nvPr/>
        </p:nvSpPr>
        <p:spPr>
          <a:xfrm>
            <a:off x="633984" y="2048256"/>
            <a:ext cx="4998720" cy="1341120"/>
          </a:xfrm>
          <a:prstGeom prst="rect">
            <a:avLst/>
          </a:prstGeom>
          <a:noFill/>
          <a:ln/>
        </p:spPr>
        <p:txBody>
          <a:bodyPr wrap="square" rtlCol="0" anchor="t"/>
          <a:lstStyle/>
          <a:p>
            <a:r>
              <a:rPr lang="en-US" sz="1600" b="1" dirty="0">
                <a:solidFill>
                  <a:srgbClr val="1E293B"/>
                </a:solidFill>
                <a:latin typeface="Calibri" pitchFamily="34" charset="0"/>
                <a:ea typeface="Calibri" pitchFamily="34" charset="-122"/>
                <a:cs typeface="Calibri" pitchFamily="34" charset="-120"/>
              </a:rPr>
              <a:t>Server: </a:t>
            </a:r>
            <a:r>
              <a:rPr lang="en-US" sz="1600" dirty="0">
                <a:solidFill>
                  <a:srgbClr val="334155"/>
                </a:solidFill>
                <a:latin typeface="Calibri" pitchFamily="34" charset="0"/>
                <a:ea typeface="Calibri" pitchFamily="34" charset="-122"/>
                <a:cs typeface="Calibri" pitchFamily="34" charset="-120"/>
              </a:rPr>
              <a:t>Ubuntu 22.04 running Python Flask</a:t>
            </a:r>
            <a:endParaRPr lang="en-US" sz="1600" dirty="0"/>
          </a:p>
          <a:p>
            <a:r>
              <a:rPr lang="en-US" sz="1600" b="1" dirty="0">
                <a:solidFill>
                  <a:srgbClr val="1E293B"/>
                </a:solidFill>
                <a:latin typeface="Calibri" pitchFamily="34" charset="0"/>
                <a:ea typeface="Calibri" pitchFamily="34" charset="-122"/>
                <a:cs typeface="Calibri" pitchFamily="34" charset="-120"/>
              </a:rPr>
              <a:t>Client: </a:t>
            </a:r>
            <a:endParaRPr lang="en-US" sz="1600" dirty="0"/>
          </a:p>
          <a:p>
            <a:r>
              <a:rPr lang="en-US" sz="1600" dirty="0">
                <a:solidFill>
                  <a:srgbClr val="334155"/>
                </a:solidFill>
                <a:latin typeface="Calibri" pitchFamily="34" charset="0"/>
                <a:ea typeface="Calibri" pitchFamily="34" charset="-122"/>
                <a:cs typeface="Calibri" pitchFamily="34" charset="-120"/>
              </a:rPr>
              <a:t>Mobile phone → http://192.168.178.78:5000</a:t>
            </a:r>
            <a:endParaRPr lang="en-US" sz="1600" dirty="0"/>
          </a:p>
          <a:p>
            <a:r>
              <a:rPr lang="en-US" sz="1600" b="1" dirty="0">
                <a:solidFill>
                  <a:srgbClr val="1E293B"/>
                </a:solidFill>
                <a:latin typeface="Calibri" pitchFamily="34" charset="0"/>
                <a:ea typeface="Calibri" pitchFamily="34" charset="-122"/>
                <a:cs typeface="Calibri" pitchFamily="34" charset="-120"/>
              </a:rPr>
              <a:t>Terminal log:</a:t>
            </a:r>
            <a:endParaRPr lang="en-US" sz="1600" dirty="0"/>
          </a:p>
        </p:txBody>
      </p:sp>
      <p:sp>
        <p:nvSpPr>
          <p:cNvPr id="8" name="Shape 6"/>
          <p:cNvSpPr/>
          <p:nvPr/>
        </p:nvSpPr>
        <p:spPr>
          <a:xfrm>
            <a:off x="633984" y="3438144"/>
            <a:ext cx="4974336" cy="877824"/>
          </a:xfrm>
          <a:prstGeom prst="roundRect">
            <a:avLst>
              <a:gd name="adj" fmla="val 8333"/>
            </a:avLst>
          </a:prstGeom>
          <a:solidFill>
            <a:srgbClr val="162440"/>
          </a:solidFill>
          <a:ln/>
        </p:spPr>
        <p:txBody>
          <a:bodyPr/>
          <a:lstStyle/>
          <a:p>
            <a:endParaRPr lang="en-DE" sz="2400"/>
          </a:p>
        </p:txBody>
      </p:sp>
      <p:sp>
        <p:nvSpPr>
          <p:cNvPr id="9" name="Text 7"/>
          <p:cNvSpPr/>
          <p:nvPr/>
        </p:nvSpPr>
        <p:spPr>
          <a:xfrm>
            <a:off x="792480" y="3486912"/>
            <a:ext cx="4657344" cy="731520"/>
          </a:xfrm>
          <a:prstGeom prst="rect">
            <a:avLst/>
          </a:prstGeom>
          <a:noFill/>
          <a:ln/>
        </p:spPr>
        <p:txBody>
          <a:bodyPr wrap="square" rtlCol="0" anchor="ctr"/>
          <a:lstStyle/>
          <a:p>
            <a:r>
              <a:rPr lang="en-US" sz="1333" dirty="0">
                <a:solidFill>
                  <a:srgbClr val="7DD8EC"/>
                </a:solidFill>
                <a:latin typeface="Courier New" pitchFamily="34" charset="0"/>
                <a:ea typeface="Courier New" pitchFamily="34" charset="-122"/>
                <a:cs typeface="Courier New" pitchFamily="34" charset="-120"/>
              </a:rPr>
              <a:t>POST /process HTTP/1.1" 200</a:t>
            </a:r>
            <a:endParaRPr lang="en-US" sz="1333" dirty="0"/>
          </a:p>
          <a:p>
            <a:r>
              <a:rPr lang="en-US" sz="1333" dirty="0">
                <a:solidFill>
                  <a:srgbClr val="7DD8EC"/>
                </a:solidFill>
                <a:latin typeface="Courier New" pitchFamily="34" charset="0"/>
                <a:ea typeface="Courier New" pitchFamily="34" charset="-122"/>
                <a:cs typeface="Courier New" pitchFamily="34" charset="-120"/>
              </a:rPr>
              <a:t>192.168.178.117 → .78:5000</a:t>
            </a:r>
            <a:endParaRPr lang="en-US" sz="1333" dirty="0"/>
          </a:p>
        </p:txBody>
      </p:sp>
      <p:sp>
        <p:nvSpPr>
          <p:cNvPr id="10" name="Text 8"/>
          <p:cNvSpPr/>
          <p:nvPr/>
        </p:nvSpPr>
        <p:spPr>
          <a:xfrm>
            <a:off x="633984" y="4425696"/>
            <a:ext cx="4998720" cy="548640"/>
          </a:xfrm>
          <a:prstGeom prst="rect">
            <a:avLst/>
          </a:prstGeom>
          <a:noFill/>
          <a:ln/>
        </p:spPr>
        <p:txBody>
          <a:bodyPr wrap="square" rtlCol="0" anchor="ctr"/>
          <a:lstStyle/>
          <a:p>
            <a:r>
              <a:rPr lang="en-US" sz="1467" b="1" dirty="0">
                <a:solidFill>
                  <a:srgbClr val="047857"/>
                </a:solidFill>
                <a:latin typeface="Calibri" pitchFamily="34" charset="0"/>
                <a:ea typeface="Calibri" pitchFamily="34" charset="-122"/>
                <a:cs typeface="Calibri" pitchFamily="34" charset="-120"/>
              </a:rPr>
              <a:t>Status 200 OK </a:t>
            </a:r>
            <a:r>
              <a:rPr lang="en-US" sz="1467" dirty="0">
                <a:solidFill>
                  <a:srgbClr val="334155"/>
                </a:solidFill>
                <a:latin typeface="Calibri" pitchFamily="34" charset="0"/>
                <a:ea typeface="Calibri" pitchFamily="34" charset="-122"/>
                <a:cs typeface="Calibri" pitchFamily="34" charset="-120"/>
              </a:rPr>
              <a:t>confirms successful edge communication.</a:t>
            </a:r>
            <a:endParaRPr lang="en-US" sz="1467" dirty="0"/>
          </a:p>
        </p:txBody>
      </p:sp>
      <p:sp>
        <p:nvSpPr>
          <p:cNvPr id="11" name="Text 9"/>
          <p:cNvSpPr/>
          <p:nvPr/>
        </p:nvSpPr>
        <p:spPr>
          <a:xfrm>
            <a:off x="633984" y="4998720"/>
            <a:ext cx="4998720" cy="999744"/>
          </a:xfrm>
          <a:prstGeom prst="rect">
            <a:avLst/>
          </a:prstGeom>
          <a:noFill/>
          <a:ln/>
        </p:spPr>
        <p:txBody>
          <a:bodyPr wrap="square" lIns="0" tIns="0" rIns="0" bIns="0" rtlCol="0" anchor="ctr"/>
          <a:lstStyle/>
          <a:p>
            <a:pPr algn="ctr"/>
            <a:r>
              <a:rPr lang="en-US" sz="7466" b="1" dirty="0">
                <a:solidFill>
                  <a:srgbClr val="10B981"/>
                </a:solidFill>
                <a:latin typeface="Cambria" pitchFamily="34" charset="0"/>
                <a:ea typeface="Cambria" pitchFamily="34" charset="-122"/>
                <a:cs typeface="Cambria" pitchFamily="34" charset="-120"/>
              </a:rPr>
              <a:t>95 ms</a:t>
            </a:r>
            <a:endParaRPr lang="en-US" sz="7466" dirty="0"/>
          </a:p>
        </p:txBody>
      </p:sp>
      <p:sp>
        <p:nvSpPr>
          <p:cNvPr id="12" name="Text 10"/>
          <p:cNvSpPr/>
          <p:nvPr/>
        </p:nvSpPr>
        <p:spPr>
          <a:xfrm>
            <a:off x="633984" y="5974080"/>
            <a:ext cx="4998720" cy="390144"/>
          </a:xfrm>
          <a:prstGeom prst="rect">
            <a:avLst/>
          </a:prstGeom>
          <a:noFill/>
          <a:ln/>
        </p:spPr>
        <p:txBody>
          <a:bodyPr wrap="square" lIns="0" tIns="0" rIns="0" bIns="0" rtlCol="0" anchor="ctr"/>
          <a:lstStyle/>
          <a:p>
            <a:pPr algn="ctr"/>
            <a:r>
              <a:rPr lang="en-US" sz="1467" dirty="0">
                <a:solidFill>
                  <a:srgbClr val="64748B"/>
                </a:solidFill>
                <a:latin typeface="Calibri" pitchFamily="34" charset="0"/>
                <a:ea typeface="Calibri" pitchFamily="34" charset="-122"/>
                <a:cs typeface="Calibri" pitchFamily="34" charset="-120"/>
              </a:rPr>
              <a:t>Paderborn Home Wi-Fi</a:t>
            </a:r>
            <a:endParaRPr lang="en-US" sz="1467" dirty="0"/>
          </a:p>
        </p:txBody>
      </p:sp>
      <p:sp>
        <p:nvSpPr>
          <p:cNvPr id="13" name="Shape 11"/>
          <p:cNvSpPr/>
          <p:nvPr/>
        </p:nvSpPr>
        <p:spPr>
          <a:xfrm>
            <a:off x="6339840" y="1463040"/>
            <a:ext cx="5425440" cy="5059680"/>
          </a:xfrm>
          <a:prstGeom prst="roundRect">
            <a:avLst>
              <a:gd name="adj" fmla="val 2410"/>
            </a:avLst>
          </a:prstGeom>
          <a:solidFill>
            <a:srgbClr val="FFF7ED"/>
          </a:solidFill>
          <a:ln/>
          <a:effectLst>
            <a:outerShdw blurRad="101600" dist="25400" dir="2700000" algn="bl" rotWithShape="0">
              <a:srgbClr val="000000">
                <a:alpha val="12000"/>
              </a:srgbClr>
            </a:outerShdw>
          </a:effectLst>
        </p:spPr>
        <p:txBody>
          <a:bodyPr/>
          <a:lstStyle/>
          <a:p>
            <a:endParaRPr lang="en-DE" sz="2400"/>
          </a:p>
        </p:txBody>
      </p:sp>
      <p:sp>
        <p:nvSpPr>
          <p:cNvPr id="14" name="Text 12"/>
          <p:cNvSpPr/>
          <p:nvPr/>
        </p:nvSpPr>
        <p:spPr>
          <a:xfrm>
            <a:off x="6522720" y="1584960"/>
            <a:ext cx="5059680" cy="341376"/>
          </a:xfrm>
          <a:prstGeom prst="rect">
            <a:avLst/>
          </a:prstGeom>
          <a:noFill/>
          <a:ln/>
        </p:spPr>
        <p:txBody>
          <a:bodyPr wrap="square" lIns="0" tIns="0" rIns="0" bIns="0" rtlCol="0" anchor="ctr"/>
          <a:lstStyle/>
          <a:p>
            <a:pPr algn="ctr"/>
            <a:r>
              <a:rPr lang="en-US" sz="1333" b="1" kern="0" spc="267" dirty="0">
                <a:solidFill>
                  <a:srgbClr val="92400E"/>
                </a:solidFill>
                <a:latin typeface="Calibri" pitchFamily="34" charset="0"/>
                <a:ea typeface="Calibri" pitchFamily="34" charset="-122"/>
                <a:cs typeface="Calibri" pitchFamily="34" charset="-120"/>
              </a:rPr>
              <a:t>CLOUD LATENCY TEST</a:t>
            </a:r>
            <a:endParaRPr lang="en-US" sz="1333" dirty="0"/>
          </a:p>
        </p:txBody>
      </p:sp>
      <p:sp>
        <p:nvSpPr>
          <p:cNvPr id="15" name="Text 13"/>
          <p:cNvSpPr/>
          <p:nvPr/>
        </p:nvSpPr>
        <p:spPr>
          <a:xfrm>
            <a:off x="6559296" y="2048256"/>
            <a:ext cx="4998720" cy="1341120"/>
          </a:xfrm>
          <a:prstGeom prst="rect">
            <a:avLst/>
          </a:prstGeom>
          <a:noFill/>
          <a:ln/>
        </p:spPr>
        <p:txBody>
          <a:bodyPr wrap="square" rtlCol="0" anchor="t"/>
          <a:lstStyle/>
          <a:p>
            <a:r>
              <a:rPr lang="en-US" sz="1600" b="1" dirty="0">
                <a:solidFill>
                  <a:srgbClr val="1E293B"/>
                </a:solidFill>
                <a:latin typeface="Calibri" pitchFamily="34" charset="0"/>
                <a:ea typeface="Calibri" pitchFamily="34" charset="-122"/>
                <a:cs typeface="Calibri" pitchFamily="34" charset="-120"/>
              </a:rPr>
              <a:t>Method: </a:t>
            </a:r>
            <a:r>
              <a:rPr lang="en-US" sz="1600" dirty="0">
                <a:solidFill>
                  <a:srgbClr val="334155"/>
                </a:solidFill>
                <a:latin typeface="Calibri" pitchFamily="34" charset="0"/>
                <a:ea typeface="Calibri" pitchFamily="34" charset="-122"/>
                <a:cs typeface="Calibri" pitchFamily="34" charset="-120"/>
              </a:rPr>
              <a:t>HTTP request via public internet</a:t>
            </a:r>
            <a:endParaRPr lang="en-US" sz="1600" dirty="0"/>
          </a:p>
          <a:p>
            <a:r>
              <a:rPr lang="en-US" sz="1600" b="1" dirty="0">
                <a:solidFill>
                  <a:srgbClr val="1E293B"/>
                </a:solidFill>
                <a:latin typeface="Calibri" pitchFamily="34" charset="0"/>
                <a:ea typeface="Calibri" pitchFamily="34" charset="-122"/>
                <a:cs typeface="Calibri" pitchFamily="34" charset="-120"/>
              </a:rPr>
              <a:t>Target: </a:t>
            </a:r>
            <a:endParaRPr lang="en-US" sz="1600" dirty="0"/>
          </a:p>
          <a:p>
            <a:r>
              <a:rPr lang="en-US" sz="1600" dirty="0">
                <a:solidFill>
                  <a:srgbClr val="334155"/>
                </a:solidFill>
                <a:latin typeface="Calibri" pitchFamily="34" charset="0"/>
                <a:ea typeface="Calibri" pitchFamily="34" charset="-122"/>
                <a:cs typeface="Calibri" pitchFamily="34" charset="-120"/>
              </a:rPr>
              <a:t>https://httpbin.org/get</a:t>
            </a:r>
            <a:endParaRPr lang="en-US" sz="1600" dirty="0"/>
          </a:p>
          <a:p>
            <a:r>
              <a:rPr lang="en-US" sz="1600" b="1" dirty="0">
                <a:solidFill>
                  <a:srgbClr val="1E293B"/>
                </a:solidFill>
                <a:latin typeface="Calibri" pitchFamily="34" charset="0"/>
                <a:ea typeface="Calibri" pitchFamily="34" charset="-122"/>
                <a:cs typeface="Calibri" pitchFamily="34" charset="-120"/>
              </a:rPr>
              <a:t>Command:</a:t>
            </a:r>
            <a:endParaRPr lang="en-US" sz="1600" dirty="0"/>
          </a:p>
        </p:txBody>
      </p:sp>
      <p:sp>
        <p:nvSpPr>
          <p:cNvPr id="16" name="Shape 14"/>
          <p:cNvSpPr/>
          <p:nvPr/>
        </p:nvSpPr>
        <p:spPr>
          <a:xfrm>
            <a:off x="6559296" y="3438144"/>
            <a:ext cx="4974336" cy="877824"/>
          </a:xfrm>
          <a:prstGeom prst="roundRect">
            <a:avLst>
              <a:gd name="adj" fmla="val 8333"/>
            </a:avLst>
          </a:prstGeom>
          <a:solidFill>
            <a:srgbClr val="162440"/>
          </a:solidFill>
          <a:ln/>
        </p:spPr>
        <p:txBody>
          <a:bodyPr/>
          <a:lstStyle/>
          <a:p>
            <a:endParaRPr lang="en-DE" sz="2400"/>
          </a:p>
        </p:txBody>
      </p:sp>
      <p:sp>
        <p:nvSpPr>
          <p:cNvPr id="17" name="Text 15"/>
          <p:cNvSpPr/>
          <p:nvPr/>
        </p:nvSpPr>
        <p:spPr>
          <a:xfrm>
            <a:off x="6705600" y="3486912"/>
            <a:ext cx="4657344" cy="731520"/>
          </a:xfrm>
          <a:prstGeom prst="rect">
            <a:avLst/>
          </a:prstGeom>
          <a:noFill/>
          <a:ln/>
        </p:spPr>
        <p:txBody>
          <a:bodyPr wrap="square" rtlCol="0" anchor="ctr"/>
          <a:lstStyle/>
          <a:p>
            <a:r>
              <a:rPr lang="en-US" sz="1333" dirty="0">
                <a:solidFill>
                  <a:srgbClr val="7DD8EC"/>
                </a:solidFill>
                <a:latin typeface="Courier New" pitchFamily="34" charset="0"/>
                <a:ea typeface="Courier New" pitchFamily="34" charset="-122"/>
                <a:cs typeface="Courier New" pitchFamily="34" charset="-120"/>
              </a:rPr>
              <a:t>curl -w "%{time_total}s"</a:t>
            </a:r>
            <a:endParaRPr lang="en-US" sz="1333" dirty="0"/>
          </a:p>
          <a:p>
            <a:r>
              <a:rPr lang="en-US" sz="1333" dirty="0">
                <a:solidFill>
                  <a:srgbClr val="7DD8EC"/>
                </a:solidFill>
                <a:latin typeface="Courier New" pitchFamily="34" charset="0"/>
                <a:ea typeface="Courier New" pitchFamily="34" charset="-122"/>
                <a:cs typeface="Courier New" pitchFamily="34" charset="-120"/>
              </a:rPr>
              <a:t>https://httpbin.org/get</a:t>
            </a:r>
            <a:endParaRPr lang="en-US" sz="1333" dirty="0"/>
          </a:p>
        </p:txBody>
      </p:sp>
      <p:sp>
        <p:nvSpPr>
          <p:cNvPr id="18" name="Text 16"/>
          <p:cNvSpPr/>
          <p:nvPr/>
        </p:nvSpPr>
        <p:spPr>
          <a:xfrm>
            <a:off x="6559296" y="4425696"/>
            <a:ext cx="4998720" cy="548640"/>
          </a:xfrm>
          <a:prstGeom prst="rect">
            <a:avLst/>
          </a:prstGeom>
          <a:noFill/>
          <a:ln/>
        </p:spPr>
        <p:txBody>
          <a:bodyPr wrap="square" rtlCol="0" anchor="ctr"/>
          <a:lstStyle/>
          <a:p>
            <a:r>
              <a:rPr lang="en-US" sz="1467" b="1" dirty="0">
                <a:solidFill>
                  <a:srgbClr val="92400E"/>
                </a:solidFill>
                <a:latin typeface="Calibri" pitchFamily="34" charset="0"/>
                <a:ea typeface="Calibri" pitchFamily="34" charset="-122"/>
                <a:cs typeface="Calibri" pitchFamily="34" charset="-120"/>
              </a:rPr>
              <a:t>Result: </a:t>
            </a:r>
            <a:r>
              <a:rPr lang="en-US" sz="1467" dirty="0">
                <a:solidFill>
                  <a:srgbClr val="334155"/>
                </a:solidFill>
                <a:latin typeface="Calibri" pitchFamily="34" charset="0"/>
                <a:ea typeface="Calibri" pitchFamily="34" charset="-122"/>
                <a:cs typeface="Calibri" pitchFamily="34" charset="-120"/>
              </a:rPr>
              <a:t>0.510079 s = </a:t>
            </a:r>
            <a:r>
              <a:rPr lang="en-US" sz="1467" b="1" dirty="0">
                <a:solidFill>
                  <a:srgbClr val="92400E"/>
                </a:solidFill>
                <a:latin typeface="Calibri" pitchFamily="34" charset="0"/>
                <a:ea typeface="Calibri" pitchFamily="34" charset="-122"/>
                <a:cs typeface="Calibri" pitchFamily="34" charset="-120"/>
              </a:rPr>
              <a:t>510 ms</a:t>
            </a:r>
            <a:r>
              <a:rPr lang="en-US" sz="1467" dirty="0">
                <a:solidFill>
                  <a:srgbClr val="334155"/>
                </a:solidFill>
                <a:latin typeface="Calibri" pitchFamily="34" charset="0"/>
                <a:ea typeface="Calibri" pitchFamily="34" charset="-122"/>
                <a:cs typeface="Calibri" pitchFamily="34" charset="-120"/>
              </a:rPr>
              <a:t> internet round-trip.</a:t>
            </a:r>
            <a:endParaRPr lang="en-US" sz="1467" dirty="0"/>
          </a:p>
        </p:txBody>
      </p:sp>
      <p:sp>
        <p:nvSpPr>
          <p:cNvPr id="19" name="Text 17"/>
          <p:cNvSpPr/>
          <p:nvPr/>
        </p:nvSpPr>
        <p:spPr>
          <a:xfrm>
            <a:off x="6559296" y="4998720"/>
            <a:ext cx="4998720" cy="999744"/>
          </a:xfrm>
          <a:prstGeom prst="rect">
            <a:avLst/>
          </a:prstGeom>
          <a:noFill/>
          <a:ln/>
        </p:spPr>
        <p:txBody>
          <a:bodyPr wrap="square" lIns="0" tIns="0" rIns="0" bIns="0" rtlCol="0" anchor="ctr"/>
          <a:lstStyle/>
          <a:p>
            <a:pPr algn="ctr"/>
            <a:r>
              <a:rPr lang="en-US" sz="7466" b="1" dirty="0">
                <a:solidFill>
                  <a:srgbClr val="F59E0B"/>
                </a:solidFill>
                <a:latin typeface="Cambria" pitchFamily="34" charset="0"/>
                <a:ea typeface="Cambria" pitchFamily="34" charset="-122"/>
                <a:cs typeface="Cambria" pitchFamily="34" charset="-120"/>
              </a:rPr>
              <a:t>510 ms</a:t>
            </a:r>
            <a:endParaRPr lang="en-US" sz="7466" dirty="0"/>
          </a:p>
        </p:txBody>
      </p:sp>
      <p:sp>
        <p:nvSpPr>
          <p:cNvPr id="20" name="Text 18"/>
          <p:cNvSpPr/>
          <p:nvPr/>
        </p:nvSpPr>
        <p:spPr>
          <a:xfrm>
            <a:off x="6559296" y="5974080"/>
            <a:ext cx="4998720" cy="390144"/>
          </a:xfrm>
          <a:prstGeom prst="rect">
            <a:avLst/>
          </a:prstGeom>
          <a:noFill/>
          <a:ln/>
        </p:spPr>
        <p:txBody>
          <a:bodyPr wrap="square" lIns="0" tIns="0" rIns="0" bIns="0" rtlCol="0" anchor="ctr"/>
          <a:lstStyle/>
          <a:p>
            <a:pPr algn="ctr"/>
            <a:r>
              <a:rPr lang="en-US" sz="1467" dirty="0">
                <a:solidFill>
                  <a:srgbClr val="64748B"/>
                </a:solidFill>
                <a:latin typeface="Calibri" pitchFamily="34" charset="0"/>
                <a:ea typeface="Calibri" pitchFamily="34" charset="-122"/>
                <a:cs typeface="Calibri" pitchFamily="34" charset="-120"/>
              </a:rPr>
              <a:t>Paderborn Home Wi-Fi</a:t>
            </a:r>
            <a:endParaRPr lang="en-US" sz="1467"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Edge Latency Test</a:t>
            </a:r>
            <a:endParaRPr lang="en-US" sz="2800" dirty="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endParaRPr lang="en-US" sz="85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03</a:t>
            </a:r>
            <a:endParaRPr lang="en-US" sz="850" dirty="0"/>
          </a:p>
        </p:txBody>
      </p:sp>
      <p:sp>
        <p:nvSpPr>
          <p:cNvPr id="8" name="Shape 6"/>
          <p:cNvSpPr/>
          <p:nvPr/>
        </p:nvSpPr>
        <p:spPr>
          <a:xfrm>
            <a:off x="2240280" y="2788920"/>
            <a:ext cx="1463040" cy="0"/>
          </a:xfrm>
          <a:prstGeom prst="line">
            <a:avLst/>
          </a:prstGeom>
          <a:noFill/>
          <a:ln w="30480">
            <a:solidFill>
              <a:srgbClr val="14B8A6"/>
            </a:solidFill>
            <a:prstDash val="solid"/>
            <a:headEnd type="none"/>
            <a:tailEnd type="triangle"/>
          </a:ln>
        </p:spPr>
        <p:txBody>
          <a:bodyPr/>
          <a:lstStyle/>
          <a:p>
            <a:endParaRPr lang="en-DE"/>
          </a:p>
        </p:txBody>
      </p:sp>
      <p:sp>
        <p:nvSpPr>
          <p:cNvPr id="9" name="Shape 7"/>
          <p:cNvSpPr/>
          <p:nvPr/>
        </p:nvSpPr>
        <p:spPr>
          <a:xfrm>
            <a:off x="5349240" y="2788920"/>
            <a:ext cx="1645920" cy="0"/>
          </a:xfrm>
          <a:prstGeom prst="line">
            <a:avLst/>
          </a:prstGeom>
          <a:noFill/>
          <a:ln w="30480">
            <a:solidFill>
              <a:srgbClr val="14B8A6"/>
            </a:solidFill>
            <a:prstDash val="solid"/>
            <a:headEnd type="none"/>
            <a:tailEnd type="triangle"/>
          </a:ln>
        </p:spPr>
        <p:txBody>
          <a:bodyPr/>
          <a:lstStyle/>
          <a:p>
            <a:endParaRPr lang="en-DE"/>
          </a:p>
        </p:txBody>
      </p:sp>
      <p:sp>
        <p:nvSpPr>
          <p:cNvPr id="10" name="Shape 8"/>
          <p:cNvSpPr/>
          <p:nvPr/>
        </p:nvSpPr>
        <p:spPr>
          <a:xfrm>
            <a:off x="8641080" y="2788920"/>
            <a:ext cx="1508760" cy="0"/>
          </a:xfrm>
          <a:prstGeom prst="line">
            <a:avLst/>
          </a:prstGeom>
          <a:noFill/>
          <a:ln w="30480">
            <a:solidFill>
              <a:srgbClr val="14B8A6"/>
            </a:solidFill>
            <a:prstDash val="solid"/>
            <a:headEnd type="none"/>
            <a:tailEnd type="triangle"/>
          </a:ln>
        </p:spPr>
        <p:txBody>
          <a:bodyPr/>
          <a:lstStyle/>
          <a:p>
            <a:endParaRPr lang="en-DE"/>
          </a:p>
        </p:txBody>
      </p:sp>
      <p:sp>
        <p:nvSpPr>
          <p:cNvPr id="11" name="Shape 9"/>
          <p:cNvSpPr/>
          <p:nvPr/>
        </p:nvSpPr>
        <p:spPr>
          <a:xfrm>
            <a:off x="685800" y="2212848"/>
            <a:ext cx="1554480" cy="1143000"/>
          </a:xfrm>
          <a:prstGeom prst="roundRect">
            <a:avLst>
              <a:gd name="adj" fmla="val 6400"/>
            </a:avLst>
          </a:prstGeom>
          <a:solidFill>
            <a:srgbClr val="CFFAFE"/>
          </a:solidFill>
          <a:ln w="15240">
            <a:solidFill>
              <a:srgbClr val="06B6D4"/>
            </a:solidFill>
            <a:prstDash val="solid"/>
          </a:ln>
          <a:effectLst>
            <a:outerShdw blurRad="19050" dist="12700" dir="2700000" algn="bl" rotWithShape="0">
              <a:srgbClr val="000000">
                <a:alpha val="10000"/>
              </a:srgbClr>
            </a:outerShdw>
          </a:effectLst>
        </p:spPr>
        <p:txBody>
          <a:bodyPr/>
          <a:lstStyle/>
          <a:p>
            <a:endParaRPr lang="en-DE"/>
          </a:p>
        </p:txBody>
      </p:sp>
      <p:sp>
        <p:nvSpPr>
          <p:cNvPr id="12" name="Text 10"/>
          <p:cNvSpPr/>
          <p:nvPr/>
        </p:nvSpPr>
        <p:spPr>
          <a:xfrm>
            <a:off x="795528" y="2340864"/>
            <a:ext cx="1335024" cy="886968"/>
          </a:xfrm>
          <a:prstGeom prst="rect">
            <a:avLst/>
          </a:prstGeom>
          <a:noFill/>
          <a:ln/>
        </p:spPr>
        <p:txBody>
          <a:bodyPr wrap="square" lIns="0" tIns="0" rIns="0" bIns="0" rtlCol="0" anchor="ctr">
            <a:normAutofit/>
          </a:bodyPr>
          <a:lstStyle/>
          <a:p>
            <a:pPr marL="0" indent="0" algn="ctr">
              <a:buNone/>
            </a:pPr>
            <a:r>
              <a:rPr lang="en-US" sz="1150" b="1" dirty="0">
                <a:solidFill>
                  <a:srgbClr val="0B172A"/>
                </a:solidFill>
                <a:latin typeface="Aptos" pitchFamily="34" charset="0"/>
                <a:ea typeface="Aptos" pitchFamily="34" charset="-122"/>
                <a:cs typeface="Aptos" pitchFamily="34" charset="-120"/>
              </a:rPr>
              <a:t>Mobile</a:t>
            </a:r>
            <a:endParaRPr lang="en-US" sz="1150" dirty="0"/>
          </a:p>
          <a:p>
            <a:pPr marL="0" indent="0" algn="ctr">
              <a:buNone/>
            </a:pPr>
            <a:r>
              <a:rPr lang="en-US" sz="1150" b="1" dirty="0">
                <a:solidFill>
                  <a:srgbClr val="0B172A"/>
                </a:solidFill>
                <a:latin typeface="Aptos" pitchFamily="34" charset="0"/>
                <a:ea typeface="Aptos" pitchFamily="34" charset="-122"/>
                <a:cs typeface="Aptos" pitchFamily="34" charset="-120"/>
              </a:rPr>
              <a:t>phone client</a:t>
            </a:r>
            <a:endParaRPr lang="en-US" sz="1150" dirty="0"/>
          </a:p>
        </p:txBody>
      </p:sp>
      <p:sp>
        <p:nvSpPr>
          <p:cNvPr id="13" name="Shape 11"/>
          <p:cNvSpPr/>
          <p:nvPr/>
        </p:nvSpPr>
        <p:spPr>
          <a:xfrm>
            <a:off x="3703320" y="2212848"/>
            <a:ext cx="1645920" cy="1143000"/>
          </a:xfrm>
          <a:prstGeom prst="roundRect">
            <a:avLst>
              <a:gd name="adj" fmla="val 6400"/>
            </a:avLst>
          </a:prstGeom>
          <a:solidFill>
            <a:srgbClr val="D1FAE5"/>
          </a:solidFill>
          <a:ln w="15240">
            <a:solidFill>
              <a:srgbClr val="14B8A6"/>
            </a:solidFill>
            <a:prstDash val="solid"/>
          </a:ln>
          <a:effectLst>
            <a:outerShdw blurRad="19050" dist="12700" dir="2700000" algn="bl" rotWithShape="0">
              <a:srgbClr val="000000">
                <a:alpha val="10000"/>
              </a:srgbClr>
            </a:outerShdw>
          </a:effectLst>
        </p:spPr>
        <p:txBody>
          <a:bodyPr/>
          <a:lstStyle/>
          <a:p>
            <a:endParaRPr lang="en-DE"/>
          </a:p>
        </p:txBody>
      </p:sp>
      <p:sp>
        <p:nvSpPr>
          <p:cNvPr id="14" name="Text 12"/>
          <p:cNvSpPr/>
          <p:nvPr/>
        </p:nvSpPr>
        <p:spPr>
          <a:xfrm>
            <a:off x="3813048" y="2340864"/>
            <a:ext cx="1426464" cy="886968"/>
          </a:xfrm>
          <a:prstGeom prst="rect">
            <a:avLst/>
          </a:prstGeom>
          <a:noFill/>
          <a:ln/>
        </p:spPr>
        <p:txBody>
          <a:bodyPr wrap="square" lIns="0" tIns="0" rIns="0" bIns="0" rtlCol="0" anchor="ctr">
            <a:normAutofit/>
          </a:bodyPr>
          <a:lstStyle/>
          <a:p>
            <a:pPr marL="0" indent="0" algn="ctr">
              <a:buNone/>
            </a:pPr>
            <a:r>
              <a:rPr lang="en-US" sz="1120" b="1" dirty="0">
                <a:solidFill>
                  <a:srgbClr val="0B172A"/>
                </a:solidFill>
                <a:latin typeface="Aptos" pitchFamily="34" charset="0"/>
                <a:ea typeface="Aptos" pitchFamily="34" charset="-122"/>
                <a:cs typeface="Aptos" pitchFamily="34" charset="-120"/>
              </a:rPr>
              <a:t>Home or HSHL</a:t>
            </a:r>
            <a:endParaRPr lang="en-US" sz="1120" dirty="0"/>
          </a:p>
          <a:p>
            <a:pPr marL="0" indent="0" algn="ctr">
              <a:buNone/>
            </a:pPr>
            <a:r>
              <a:rPr lang="en-US" sz="1120" b="1" dirty="0">
                <a:solidFill>
                  <a:srgbClr val="0B172A"/>
                </a:solidFill>
                <a:latin typeface="Aptos" pitchFamily="34" charset="0"/>
                <a:ea typeface="Aptos" pitchFamily="34" charset="-122"/>
                <a:cs typeface="Aptos" pitchFamily="34" charset="-120"/>
              </a:rPr>
              <a:t>Wi‑Fi network</a:t>
            </a:r>
            <a:endParaRPr lang="en-US" sz="1120" dirty="0"/>
          </a:p>
        </p:txBody>
      </p:sp>
      <p:sp>
        <p:nvSpPr>
          <p:cNvPr id="15" name="Shape 13"/>
          <p:cNvSpPr/>
          <p:nvPr/>
        </p:nvSpPr>
        <p:spPr>
          <a:xfrm>
            <a:off x="6995160" y="2212848"/>
            <a:ext cx="1645920" cy="1143000"/>
          </a:xfrm>
          <a:prstGeom prst="roundRect">
            <a:avLst>
              <a:gd name="adj" fmla="val 6400"/>
            </a:avLst>
          </a:prstGeom>
          <a:solidFill>
            <a:srgbClr val="DBEAFE"/>
          </a:solidFill>
          <a:ln w="15240">
            <a:solidFill>
              <a:srgbClr val="2563EB"/>
            </a:solidFill>
            <a:prstDash val="solid"/>
          </a:ln>
          <a:effectLst>
            <a:outerShdw blurRad="19050" dist="12700" dir="2700000" algn="bl" rotWithShape="0">
              <a:srgbClr val="000000">
                <a:alpha val="10000"/>
              </a:srgbClr>
            </a:outerShdw>
          </a:effectLst>
        </p:spPr>
        <p:txBody>
          <a:bodyPr/>
          <a:lstStyle/>
          <a:p>
            <a:endParaRPr lang="en-DE"/>
          </a:p>
        </p:txBody>
      </p:sp>
      <p:sp>
        <p:nvSpPr>
          <p:cNvPr id="16" name="Text 14"/>
          <p:cNvSpPr/>
          <p:nvPr/>
        </p:nvSpPr>
        <p:spPr>
          <a:xfrm>
            <a:off x="7104888" y="2340864"/>
            <a:ext cx="1426464" cy="886968"/>
          </a:xfrm>
          <a:prstGeom prst="rect">
            <a:avLst/>
          </a:prstGeom>
          <a:noFill/>
          <a:ln/>
        </p:spPr>
        <p:txBody>
          <a:bodyPr wrap="square" lIns="0" tIns="0" rIns="0" bIns="0" rtlCol="0" anchor="ctr">
            <a:normAutofit/>
          </a:bodyPr>
          <a:lstStyle/>
          <a:p>
            <a:pPr marL="0" indent="0" algn="ctr">
              <a:buNone/>
            </a:pPr>
            <a:r>
              <a:rPr lang="en-US" sz="1120" b="1" dirty="0">
                <a:solidFill>
                  <a:srgbClr val="0B172A"/>
                </a:solidFill>
                <a:latin typeface="Aptos" pitchFamily="34" charset="0"/>
                <a:ea typeface="Aptos" pitchFamily="34" charset="-122"/>
                <a:cs typeface="Aptos" pitchFamily="34" charset="-120"/>
              </a:rPr>
              <a:t>Ubuntu laptop</a:t>
            </a:r>
            <a:endParaRPr lang="en-US" sz="1120" dirty="0"/>
          </a:p>
          <a:p>
            <a:pPr marL="0" indent="0" algn="ctr">
              <a:buNone/>
            </a:pPr>
            <a:r>
              <a:rPr lang="en-US" sz="1120" b="1" dirty="0">
                <a:solidFill>
                  <a:srgbClr val="0B172A"/>
                </a:solidFill>
                <a:latin typeface="Aptos" pitchFamily="34" charset="0"/>
                <a:ea typeface="Aptos" pitchFamily="34" charset="-122"/>
                <a:cs typeface="Aptos" pitchFamily="34" charset="-120"/>
              </a:rPr>
              <a:t>Flask server</a:t>
            </a:r>
            <a:endParaRPr lang="en-US" sz="1120" dirty="0"/>
          </a:p>
        </p:txBody>
      </p:sp>
      <p:sp>
        <p:nvSpPr>
          <p:cNvPr id="17" name="Shape 15"/>
          <p:cNvSpPr/>
          <p:nvPr/>
        </p:nvSpPr>
        <p:spPr>
          <a:xfrm>
            <a:off x="10149840" y="2212848"/>
            <a:ext cx="1417320" cy="1143000"/>
          </a:xfrm>
          <a:prstGeom prst="roundRect">
            <a:avLst>
              <a:gd name="adj" fmla="val 6400"/>
            </a:avLst>
          </a:prstGeom>
          <a:solidFill>
            <a:srgbClr val="CFFAFE"/>
          </a:solidFill>
          <a:ln w="15240">
            <a:solidFill>
              <a:srgbClr val="06B6D4"/>
            </a:solidFill>
            <a:prstDash val="solid"/>
          </a:ln>
          <a:effectLst>
            <a:outerShdw blurRad="19050" dist="12700" dir="2700000" algn="bl" rotWithShape="0">
              <a:srgbClr val="000000">
                <a:alpha val="10000"/>
              </a:srgbClr>
            </a:outerShdw>
          </a:effectLst>
        </p:spPr>
        <p:txBody>
          <a:bodyPr/>
          <a:lstStyle/>
          <a:p>
            <a:endParaRPr lang="en-DE"/>
          </a:p>
        </p:txBody>
      </p:sp>
      <p:sp>
        <p:nvSpPr>
          <p:cNvPr id="18" name="Text 16"/>
          <p:cNvSpPr/>
          <p:nvPr/>
        </p:nvSpPr>
        <p:spPr>
          <a:xfrm>
            <a:off x="10259568" y="2340864"/>
            <a:ext cx="1197864" cy="886968"/>
          </a:xfrm>
          <a:prstGeom prst="rect">
            <a:avLst/>
          </a:prstGeom>
          <a:noFill/>
          <a:ln/>
        </p:spPr>
        <p:txBody>
          <a:bodyPr wrap="square" lIns="0" tIns="0" rIns="0" bIns="0" rtlCol="0" anchor="ctr">
            <a:normAutofit/>
          </a:bodyPr>
          <a:lstStyle/>
          <a:p>
            <a:pPr marL="0" indent="0" algn="ctr">
              <a:buNone/>
            </a:pPr>
            <a:r>
              <a:rPr lang="en-US" sz="1120" b="1" dirty="0">
                <a:solidFill>
                  <a:srgbClr val="0B172A"/>
                </a:solidFill>
                <a:latin typeface="Aptos" pitchFamily="34" charset="0"/>
                <a:ea typeface="Aptos" pitchFamily="34" charset="-122"/>
                <a:cs typeface="Aptos" pitchFamily="34" charset="-120"/>
              </a:rPr>
              <a:t>Response</a:t>
            </a:r>
            <a:endParaRPr lang="en-US" sz="1120" dirty="0"/>
          </a:p>
          <a:p>
            <a:pPr marL="0" indent="0" algn="ctr">
              <a:buNone/>
            </a:pPr>
            <a:r>
              <a:rPr lang="en-US" sz="1120" b="1" dirty="0">
                <a:solidFill>
                  <a:srgbClr val="0B172A"/>
                </a:solidFill>
                <a:latin typeface="Aptos" pitchFamily="34" charset="0"/>
                <a:ea typeface="Aptos" pitchFamily="34" charset="-122"/>
                <a:cs typeface="Aptos" pitchFamily="34" charset="-120"/>
              </a:rPr>
              <a:t>back to phone</a:t>
            </a:r>
            <a:endParaRPr lang="en-US" sz="1120" dirty="0"/>
          </a:p>
        </p:txBody>
      </p:sp>
      <p:sp>
        <p:nvSpPr>
          <p:cNvPr id="26" name="Text 24"/>
          <p:cNvSpPr/>
          <p:nvPr/>
        </p:nvSpPr>
        <p:spPr>
          <a:xfrm>
            <a:off x="7315200" y="4343400"/>
            <a:ext cx="173736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Stable local network</a:t>
            </a:r>
            <a:endParaRPr lang="en-US" sz="1100" dirty="0"/>
          </a:p>
        </p:txBody>
      </p:sp>
      <p:sp>
        <p:nvSpPr>
          <p:cNvPr id="27" name="Text 25"/>
          <p:cNvSpPr/>
          <p:nvPr/>
        </p:nvSpPr>
        <p:spPr>
          <a:xfrm>
            <a:off x="7315200" y="4663440"/>
            <a:ext cx="1737360" cy="512064"/>
          </a:xfrm>
          <a:prstGeom prst="rect">
            <a:avLst/>
          </a:prstGeom>
          <a:noFill/>
          <a:ln/>
        </p:spPr>
        <p:txBody>
          <a:bodyPr wrap="square" lIns="0" tIns="0" rIns="0" bIns="0" rtlCol="0" anchor="ctr">
            <a:normAutofit/>
          </a:bodyPr>
          <a:lstStyle/>
          <a:p>
            <a:pPr marL="0" indent="0">
              <a:buNone/>
            </a:pPr>
            <a:r>
              <a:rPr lang="en-US" sz="2800" b="1" dirty="0">
                <a:solidFill>
                  <a:srgbClr val="10B981"/>
                </a:solidFill>
                <a:latin typeface="Aptos Display" pitchFamily="34" charset="0"/>
                <a:ea typeface="Aptos Display" pitchFamily="34" charset="-122"/>
                <a:cs typeface="Aptos Display" pitchFamily="34" charset="-120"/>
              </a:rPr>
              <a:t>95 ms</a:t>
            </a:r>
            <a:endParaRPr lang="en-US" sz="2800" dirty="0"/>
          </a:p>
        </p:txBody>
      </p:sp>
      <p:sp>
        <p:nvSpPr>
          <p:cNvPr id="28" name="Text 26"/>
          <p:cNvSpPr/>
          <p:nvPr/>
        </p:nvSpPr>
        <p:spPr>
          <a:xfrm>
            <a:off x="7315200" y="5212080"/>
            <a:ext cx="173736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Paderborn home Wi‑Fi</a:t>
            </a:r>
            <a:endParaRPr lang="en-US" sz="1050" dirty="0"/>
          </a:p>
        </p:txBody>
      </p:sp>
      <p:sp>
        <p:nvSpPr>
          <p:cNvPr id="29" name="Text 27"/>
          <p:cNvSpPr/>
          <p:nvPr/>
        </p:nvSpPr>
        <p:spPr>
          <a:xfrm>
            <a:off x="9601200" y="4343400"/>
            <a:ext cx="182880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Shared network</a:t>
            </a:r>
            <a:endParaRPr lang="en-US" sz="1100" dirty="0"/>
          </a:p>
        </p:txBody>
      </p:sp>
      <p:sp>
        <p:nvSpPr>
          <p:cNvPr id="30" name="Text 28"/>
          <p:cNvSpPr/>
          <p:nvPr/>
        </p:nvSpPr>
        <p:spPr>
          <a:xfrm>
            <a:off x="9601200" y="4663440"/>
            <a:ext cx="1828800" cy="512064"/>
          </a:xfrm>
          <a:prstGeom prst="rect">
            <a:avLst/>
          </a:prstGeom>
          <a:noFill/>
          <a:ln/>
        </p:spPr>
        <p:txBody>
          <a:bodyPr wrap="square" lIns="0" tIns="0" rIns="0" bIns="0" rtlCol="0" anchor="ctr">
            <a:normAutofit/>
          </a:bodyPr>
          <a:lstStyle/>
          <a:p>
            <a:pPr marL="0" indent="0">
              <a:buNone/>
            </a:pPr>
            <a:r>
              <a:rPr lang="en-US" sz="2800" b="1" dirty="0">
                <a:solidFill>
                  <a:srgbClr val="F59E0B"/>
                </a:solidFill>
                <a:latin typeface="Aptos Display" pitchFamily="34" charset="0"/>
                <a:ea typeface="Aptos Display" pitchFamily="34" charset="-122"/>
                <a:cs typeface="Aptos Display" pitchFamily="34" charset="-120"/>
              </a:rPr>
              <a:t>422 ms</a:t>
            </a:r>
            <a:endParaRPr lang="en-US" sz="2800" dirty="0"/>
          </a:p>
        </p:txBody>
      </p:sp>
      <p:sp>
        <p:nvSpPr>
          <p:cNvPr id="31" name="Text 29"/>
          <p:cNvSpPr/>
          <p:nvPr/>
        </p:nvSpPr>
        <p:spPr>
          <a:xfrm>
            <a:off x="9601200" y="5212080"/>
            <a:ext cx="182880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HSHL central Wi‑Fi</a:t>
            </a:r>
            <a:endParaRPr lang="en-US" sz="1050" dirty="0"/>
          </a:p>
        </p:txBody>
      </p:sp>
      <p:sp>
        <p:nvSpPr>
          <p:cNvPr id="32" name="Shape 3">
            <a:extLst>
              <a:ext uri="{FF2B5EF4-FFF2-40B4-BE49-F238E27FC236}">
                <a16:creationId xmlns:a16="http://schemas.microsoft.com/office/drawing/2014/main" id="{85871834-A737-5935-230C-D6D183FD7CD8}"/>
              </a:ext>
            </a:extLst>
          </p:cNvPr>
          <p:cNvSpPr/>
          <p:nvPr/>
        </p:nvSpPr>
        <p:spPr>
          <a:xfrm>
            <a:off x="685800" y="3840545"/>
            <a:ext cx="3946767" cy="2464424"/>
          </a:xfrm>
          <a:prstGeom prst="roundRect">
            <a:avLst>
              <a:gd name="adj" fmla="val 2410"/>
            </a:avLst>
          </a:prstGeom>
          <a:solidFill>
            <a:srgbClr val="ECFDF5"/>
          </a:solidFill>
          <a:ln/>
          <a:effectLst>
            <a:outerShdw blurRad="101600" dist="25400" dir="2700000" algn="bl" rotWithShape="0">
              <a:srgbClr val="000000">
                <a:alpha val="12000"/>
              </a:srgbClr>
            </a:outerShdw>
          </a:effectLst>
        </p:spPr>
        <p:txBody>
          <a:bodyPr/>
          <a:lstStyle/>
          <a:p>
            <a:endParaRPr lang="en-DE" sz="2400"/>
          </a:p>
        </p:txBody>
      </p:sp>
      <p:sp>
        <p:nvSpPr>
          <p:cNvPr id="33" name="Text 4">
            <a:extLst>
              <a:ext uri="{FF2B5EF4-FFF2-40B4-BE49-F238E27FC236}">
                <a16:creationId xmlns:a16="http://schemas.microsoft.com/office/drawing/2014/main" id="{9DCD7F8F-A20B-0EF4-55BB-FE1CC7778FFD}"/>
              </a:ext>
            </a:extLst>
          </p:cNvPr>
          <p:cNvSpPr/>
          <p:nvPr/>
        </p:nvSpPr>
        <p:spPr>
          <a:xfrm>
            <a:off x="1259905" y="3950273"/>
            <a:ext cx="2204294" cy="368367"/>
          </a:xfrm>
          <a:prstGeom prst="rect">
            <a:avLst/>
          </a:prstGeom>
          <a:noFill/>
          <a:ln/>
        </p:spPr>
        <p:txBody>
          <a:bodyPr wrap="square" lIns="0" tIns="0" rIns="0" bIns="0" rtlCol="0" anchor="ctr"/>
          <a:lstStyle/>
          <a:p>
            <a:pPr algn="ctr"/>
            <a:r>
              <a:rPr lang="en-US" sz="1333" b="1" kern="0" spc="267" dirty="0">
                <a:solidFill>
                  <a:srgbClr val="047857"/>
                </a:solidFill>
                <a:latin typeface="Calibri" pitchFamily="34" charset="0"/>
                <a:ea typeface="Calibri" pitchFamily="34" charset="-122"/>
                <a:cs typeface="Calibri" pitchFamily="34" charset="-120"/>
              </a:rPr>
              <a:t>Test Procedure</a:t>
            </a:r>
          </a:p>
        </p:txBody>
      </p:sp>
      <p:sp>
        <p:nvSpPr>
          <p:cNvPr id="34" name="Text 5">
            <a:extLst>
              <a:ext uri="{FF2B5EF4-FFF2-40B4-BE49-F238E27FC236}">
                <a16:creationId xmlns:a16="http://schemas.microsoft.com/office/drawing/2014/main" id="{C303A1E8-3446-A622-FD51-EC338289595B}"/>
              </a:ext>
            </a:extLst>
          </p:cNvPr>
          <p:cNvSpPr/>
          <p:nvPr/>
        </p:nvSpPr>
        <p:spPr>
          <a:xfrm>
            <a:off x="823158" y="4243804"/>
            <a:ext cx="3218688" cy="1142995"/>
          </a:xfrm>
          <a:prstGeom prst="rect">
            <a:avLst/>
          </a:prstGeom>
          <a:noFill/>
          <a:ln/>
        </p:spPr>
        <p:txBody>
          <a:bodyPr wrap="square" rtlCol="0" anchor="t"/>
          <a:lstStyle/>
          <a:p>
            <a:r>
              <a:rPr lang="en-US" sz="1200" b="1" dirty="0">
                <a:solidFill>
                  <a:srgbClr val="1E293B"/>
                </a:solidFill>
                <a:latin typeface="Calibri" pitchFamily="34" charset="0"/>
                <a:ea typeface="Calibri" pitchFamily="34" charset="-122"/>
                <a:cs typeface="Calibri" pitchFamily="34" charset="-120"/>
              </a:rPr>
              <a:t>Server: </a:t>
            </a:r>
            <a:r>
              <a:rPr lang="en-US" sz="1200" dirty="0">
                <a:solidFill>
                  <a:srgbClr val="334155"/>
                </a:solidFill>
                <a:latin typeface="Calibri" pitchFamily="34" charset="0"/>
                <a:ea typeface="Calibri" pitchFamily="34" charset="-122"/>
                <a:cs typeface="Calibri" pitchFamily="34" charset="-120"/>
              </a:rPr>
              <a:t>Ubuntu 22.04 running Python Flask</a:t>
            </a:r>
            <a:endParaRPr lang="en-US" sz="1200" dirty="0"/>
          </a:p>
          <a:p>
            <a:r>
              <a:rPr lang="en-US" sz="1200" b="1" dirty="0">
                <a:solidFill>
                  <a:srgbClr val="1E293B"/>
                </a:solidFill>
                <a:latin typeface="Calibri" pitchFamily="34" charset="0"/>
                <a:ea typeface="Calibri" pitchFamily="34" charset="-122"/>
                <a:cs typeface="Calibri" pitchFamily="34" charset="-120"/>
              </a:rPr>
              <a:t>Client: </a:t>
            </a:r>
            <a:endParaRPr lang="en-US" sz="1200" dirty="0"/>
          </a:p>
          <a:p>
            <a:r>
              <a:rPr lang="en-US" sz="1200" dirty="0">
                <a:solidFill>
                  <a:srgbClr val="334155"/>
                </a:solidFill>
                <a:latin typeface="Calibri" pitchFamily="34" charset="0"/>
                <a:ea typeface="Calibri" pitchFamily="34" charset="-122"/>
                <a:cs typeface="Calibri" pitchFamily="34" charset="-120"/>
              </a:rPr>
              <a:t>Mobile phone → http://192.168.178.78:5000</a:t>
            </a:r>
            <a:endParaRPr lang="en-US" sz="1200" dirty="0"/>
          </a:p>
          <a:p>
            <a:r>
              <a:rPr lang="en-US" sz="1200" b="1" dirty="0">
                <a:solidFill>
                  <a:srgbClr val="1E293B"/>
                </a:solidFill>
                <a:latin typeface="Calibri" pitchFamily="34" charset="0"/>
                <a:ea typeface="Calibri" pitchFamily="34" charset="-122"/>
                <a:cs typeface="Calibri" pitchFamily="34" charset="-120"/>
              </a:rPr>
              <a:t>Terminal log:</a:t>
            </a:r>
            <a:endParaRPr lang="en-US" sz="1200" dirty="0"/>
          </a:p>
        </p:txBody>
      </p:sp>
      <p:sp>
        <p:nvSpPr>
          <p:cNvPr id="35" name="Shape 6">
            <a:extLst>
              <a:ext uri="{FF2B5EF4-FFF2-40B4-BE49-F238E27FC236}">
                <a16:creationId xmlns:a16="http://schemas.microsoft.com/office/drawing/2014/main" id="{B6309E4E-9632-44EB-B7B7-60EC75C3457F}"/>
              </a:ext>
            </a:extLst>
          </p:cNvPr>
          <p:cNvSpPr/>
          <p:nvPr/>
        </p:nvSpPr>
        <p:spPr>
          <a:xfrm>
            <a:off x="823158" y="5139387"/>
            <a:ext cx="3294690" cy="682095"/>
          </a:xfrm>
          <a:prstGeom prst="roundRect">
            <a:avLst>
              <a:gd name="adj" fmla="val 8333"/>
            </a:avLst>
          </a:prstGeom>
          <a:solidFill>
            <a:srgbClr val="162440"/>
          </a:solidFill>
          <a:ln/>
        </p:spPr>
        <p:txBody>
          <a:bodyPr/>
          <a:lstStyle/>
          <a:p>
            <a:endParaRPr lang="en-DE" sz="2400"/>
          </a:p>
        </p:txBody>
      </p:sp>
      <p:sp>
        <p:nvSpPr>
          <p:cNvPr id="36" name="Text 7">
            <a:extLst>
              <a:ext uri="{FF2B5EF4-FFF2-40B4-BE49-F238E27FC236}">
                <a16:creationId xmlns:a16="http://schemas.microsoft.com/office/drawing/2014/main" id="{8ED202C2-BBA9-962D-5181-3572D42DF858}"/>
              </a:ext>
            </a:extLst>
          </p:cNvPr>
          <p:cNvSpPr/>
          <p:nvPr/>
        </p:nvSpPr>
        <p:spPr>
          <a:xfrm>
            <a:off x="917448" y="5017115"/>
            <a:ext cx="3577467" cy="789391"/>
          </a:xfrm>
          <a:prstGeom prst="rect">
            <a:avLst/>
          </a:prstGeom>
          <a:noFill/>
          <a:ln/>
        </p:spPr>
        <p:txBody>
          <a:bodyPr wrap="square" rtlCol="0" anchor="ctr"/>
          <a:lstStyle/>
          <a:p>
            <a:r>
              <a:rPr lang="en-US" sz="1200" dirty="0">
                <a:solidFill>
                  <a:srgbClr val="7DD8EC"/>
                </a:solidFill>
                <a:latin typeface="Courier New" pitchFamily="34" charset="0"/>
                <a:ea typeface="Courier New" pitchFamily="34" charset="-122"/>
                <a:cs typeface="Courier New" pitchFamily="34" charset="-120"/>
              </a:rPr>
              <a:t>POST /process HTTP/1.1" 200</a:t>
            </a:r>
            <a:endParaRPr lang="en-US" sz="1200" dirty="0"/>
          </a:p>
          <a:p>
            <a:r>
              <a:rPr lang="en-US" sz="1200" dirty="0">
                <a:solidFill>
                  <a:srgbClr val="7DD8EC"/>
                </a:solidFill>
                <a:latin typeface="Courier New" pitchFamily="34" charset="0"/>
                <a:ea typeface="Courier New" pitchFamily="34" charset="-122"/>
                <a:cs typeface="Courier New" pitchFamily="34" charset="-120"/>
              </a:rPr>
              <a:t>192.168.178.117 → .78:5000</a:t>
            </a:r>
            <a:endParaRPr lang="en-US" sz="1200" dirty="0"/>
          </a:p>
        </p:txBody>
      </p:sp>
      <p:sp>
        <p:nvSpPr>
          <p:cNvPr id="37" name="Text 8">
            <a:extLst>
              <a:ext uri="{FF2B5EF4-FFF2-40B4-BE49-F238E27FC236}">
                <a16:creationId xmlns:a16="http://schemas.microsoft.com/office/drawing/2014/main" id="{96C6CB1F-073B-DCD1-C084-2369A9603D3E}"/>
              </a:ext>
            </a:extLst>
          </p:cNvPr>
          <p:cNvSpPr/>
          <p:nvPr/>
        </p:nvSpPr>
        <p:spPr>
          <a:xfrm>
            <a:off x="874776" y="5676754"/>
            <a:ext cx="4583700" cy="514390"/>
          </a:xfrm>
          <a:prstGeom prst="rect">
            <a:avLst/>
          </a:prstGeom>
          <a:noFill/>
          <a:ln/>
        </p:spPr>
        <p:txBody>
          <a:bodyPr wrap="square" rtlCol="0" anchor="ctr"/>
          <a:lstStyle/>
          <a:p>
            <a:r>
              <a:rPr lang="en-US" sz="1200" b="1" dirty="0">
                <a:solidFill>
                  <a:srgbClr val="047857"/>
                </a:solidFill>
                <a:latin typeface="Calibri" pitchFamily="34" charset="0"/>
                <a:ea typeface="Calibri" pitchFamily="34" charset="-122"/>
                <a:cs typeface="Calibri" pitchFamily="34" charset="-120"/>
              </a:rPr>
              <a:t>Status 200 OK </a:t>
            </a:r>
            <a:r>
              <a:rPr lang="en-US" sz="1200" dirty="0">
                <a:solidFill>
                  <a:srgbClr val="334155"/>
                </a:solidFill>
                <a:latin typeface="Calibri" pitchFamily="34" charset="0"/>
                <a:ea typeface="Calibri" pitchFamily="34" charset="-122"/>
                <a:cs typeface="Calibri" pitchFamily="34" charset="-120"/>
              </a:rPr>
              <a:t>confirms successful edge communication.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Cloud latency test: remote internet path</a:t>
            </a:r>
            <a:endParaRPr lang="en-US" sz="2800" dirty="0"/>
          </a:p>
        </p:txBody>
      </p:sp>
      <p:sp>
        <p:nvSpPr>
          <p:cNvPr id="5" name="Text 3"/>
          <p:cNvSpPr/>
          <p:nvPr/>
        </p:nvSpPr>
        <p:spPr>
          <a:xfrm>
            <a:off x="530352" y="868680"/>
            <a:ext cx="10241280" cy="274320"/>
          </a:xfrm>
          <a:prstGeom prst="rect">
            <a:avLst/>
          </a:prstGeom>
          <a:noFill/>
          <a:ln/>
        </p:spPr>
        <p:txBody>
          <a:bodyPr wrap="square" lIns="0" tIns="0" rIns="0" bIns="0" rtlCol="0" anchor="ctr">
            <a:normAutofit/>
          </a:bodyPr>
          <a:lstStyle/>
          <a:p>
            <a:pPr marL="0" indent="0">
              <a:buNone/>
            </a:pPr>
            <a:r>
              <a:rPr lang="en-US" sz="1250" dirty="0">
                <a:solidFill>
                  <a:srgbClr val="64748B"/>
                </a:solidFill>
                <a:latin typeface="Aptos" pitchFamily="34" charset="0"/>
                <a:ea typeface="Aptos" pitchFamily="34" charset="-122"/>
                <a:cs typeface="Aptos" pitchFamily="34" charset="-120"/>
              </a:rPr>
              <a:t>The request traveled through the public internet to an external server and back.</a:t>
            </a:r>
            <a:endParaRPr lang="en-US" sz="1250" dirty="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Edge Computing in Industrial Communication • Sections VII–IX</a:t>
            </a:r>
            <a:endParaRPr lang="en-US" sz="85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04</a:t>
            </a:r>
            <a:endParaRPr lang="en-US" sz="850" dirty="0"/>
          </a:p>
        </p:txBody>
      </p:sp>
      <p:sp>
        <p:nvSpPr>
          <p:cNvPr id="8" name="Shape 6"/>
          <p:cNvSpPr/>
          <p:nvPr/>
        </p:nvSpPr>
        <p:spPr>
          <a:xfrm>
            <a:off x="2148840" y="2606040"/>
            <a:ext cx="1645920" cy="0"/>
          </a:xfrm>
          <a:prstGeom prst="line">
            <a:avLst/>
          </a:prstGeom>
          <a:noFill/>
          <a:ln w="30480">
            <a:solidFill>
              <a:srgbClr val="F59E0B"/>
            </a:solidFill>
            <a:prstDash val="solid"/>
            <a:headEnd type="none"/>
            <a:tailEnd type="triangle"/>
          </a:ln>
        </p:spPr>
        <p:txBody>
          <a:bodyPr/>
          <a:lstStyle/>
          <a:p>
            <a:endParaRPr lang="en-DE"/>
          </a:p>
        </p:txBody>
      </p:sp>
      <p:sp>
        <p:nvSpPr>
          <p:cNvPr id="9" name="Shape 7"/>
          <p:cNvSpPr/>
          <p:nvPr/>
        </p:nvSpPr>
        <p:spPr>
          <a:xfrm>
            <a:off x="5349240" y="2606040"/>
            <a:ext cx="1828800" cy="0"/>
          </a:xfrm>
          <a:prstGeom prst="line">
            <a:avLst/>
          </a:prstGeom>
          <a:noFill/>
          <a:ln w="30480">
            <a:solidFill>
              <a:srgbClr val="F59E0B"/>
            </a:solidFill>
            <a:prstDash val="solid"/>
            <a:headEnd type="none"/>
            <a:tailEnd type="triangle"/>
          </a:ln>
        </p:spPr>
        <p:txBody>
          <a:bodyPr/>
          <a:lstStyle/>
          <a:p>
            <a:endParaRPr lang="en-DE"/>
          </a:p>
        </p:txBody>
      </p:sp>
      <p:sp>
        <p:nvSpPr>
          <p:cNvPr id="10" name="Shape 8"/>
          <p:cNvSpPr/>
          <p:nvPr/>
        </p:nvSpPr>
        <p:spPr>
          <a:xfrm>
            <a:off x="8732520" y="2606040"/>
            <a:ext cx="1325880" cy="0"/>
          </a:xfrm>
          <a:prstGeom prst="line">
            <a:avLst/>
          </a:prstGeom>
          <a:noFill/>
          <a:ln w="30480">
            <a:solidFill>
              <a:srgbClr val="F59E0B"/>
            </a:solidFill>
            <a:prstDash val="solid"/>
            <a:headEnd type="none"/>
            <a:tailEnd type="triangle"/>
          </a:ln>
        </p:spPr>
        <p:txBody>
          <a:bodyPr/>
          <a:lstStyle/>
          <a:p>
            <a:endParaRPr lang="en-DE"/>
          </a:p>
        </p:txBody>
      </p:sp>
      <p:sp>
        <p:nvSpPr>
          <p:cNvPr id="11" name="Shape 9"/>
          <p:cNvSpPr/>
          <p:nvPr/>
        </p:nvSpPr>
        <p:spPr>
          <a:xfrm>
            <a:off x="685800" y="2057400"/>
            <a:ext cx="1463040" cy="1097280"/>
          </a:xfrm>
          <a:prstGeom prst="roundRect">
            <a:avLst>
              <a:gd name="adj" fmla="val 6667"/>
            </a:avLst>
          </a:prstGeom>
          <a:solidFill>
            <a:srgbClr val="FEF3C7"/>
          </a:solidFill>
          <a:ln w="15240">
            <a:solidFill>
              <a:srgbClr val="F59E0B"/>
            </a:solidFill>
            <a:prstDash val="solid"/>
          </a:ln>
          <a:effectLst>
            <a:outerShdw blurRad="19050" dist="12700" dir="2700000" algn="bl" rotWithShape="0">
              <a:srgbClr val="000000">
                <a:alpha val="10000"/>
              </a:srgbClr>
            </a:outerShdw>
          </a:effectLst>
        </p:spPr>
        <p:txBody>
          <a:bodyPr/>
          <a:lstStyle/>
          <a:p>
            <a:endParaRPr lang="en-DE"/>
          </a:p>
        </p:txBody>
      </p:sp>
      <p:sp>
        <p:nvSpPr>
          <p:cNvPr id="12" name="Text 10"/>
          <p:cNvSpPr/>
          <p:nvPr/>
        </p:nvSpPr>
        <p:spPr>
          <a:xfrm>
            <a:off x="795528" y="2185416"/>
            <a:ext cx="1243584" cy="841248"/>
          </a:xfrm>
          <a:prstGeom prst="rect">
            <a:avLst/>
          </a:prstGeom>
          <a:noFill/>
          <a:ln/>
        </p:spPr>
        <p:txBody>
          <a:bodyPr wrap="square" lIns="0" tIns="0" rIns="0" bIns="0" rtlCol="0" anchor="ctr">
            <a:normAutofit/>
          </a:bodyPr>
          <a:lstStyle/>
          <a:p>
            <a:pPr marL="0" indent="0" algn="ctr">
              <a:buNone/>
            </a:pPr>
            <a:r>
              <a:rPr lang="en-US" sz="1150" b="1" dirty="0">
                <a:solidFill>
                  <a:srgbClr val="0B172A"/>
                </a:solidFill>
                <a:latin typeface="Aptos" pitchFamily="34" charset="0"/>
                <a:ea typeface="Aptos" pitchFamily="34" charset="-122"/>
                <a:cs typeface="Aptos" pitchFamily="34" charset="-120"/>
              </a:rPr>
              <a:t>Mobile</a:t>
            </a:r>
            <a:endParaRPr lang="en-US" sz="1150" dirty="0"/>
          </a:p>
          <a:p>
            <a:pPr marL="0" indent="0" algn="ctr">
              <a:buNone/>
            </a:pPr>
            <a:r>
              <a:rPr lang="en-US" sz="1150" b="1" dirty="0">
                <a:solidFill>
                  <a:srgbClr val="0B172A"/>
                </a:solidFill>
                <a:latin typeface="Aptos" pitchFamily="34" charset="0"/>
                <a:ea typeface="Aptos" pitchFamily="34" charset="-122"/>
                <a:cs typeface="Aptos" pitchFamily="34" charset="-120"/>
              </a:rPr>
              <a:t>phone</a:t>
            </a:r>
            <a:endParaRPr lang="en-US" sz="1150" dirty="0"/>
          </a:p>
        </p:txBody>
      </p:sp>
      <p:sp>
        <p:nvSpPr>
          <p:cNvPr id="13" name="Shape 11"/>
          <p:cNvSpPr/>
          <p:nvPr/>
        </p:nvSpPr>
        <p:spPr>
          <a:xfrm>
            <a:off x="3794760" y="2057400"/>
            <a:ext cx="1554480" cy="1097280"/>
          </a:xfrm>
          <a:prstGeom prst="roundRect">
            <a:avLst>
              <a:gd name="adj" fmla="val 6667"/>
            </a:avLst>
          </a:prstGeom>
          <a:solidFill>
            <a:srgbClr val="FFEDD5"/>
          </a:solidFill>
          <a:ln w="15240">
            <a:solidFill>
              <a:srgbClr val="F59E0B"/>
            </a:solidFill>
            <a:prstDash val="solid"/>
          </a:ln>
          <a:effectLst>
            <a:outerShdw blurRad="19050" dist="12700" dir="2700000" algn="bl" rotWithShape="0">
              <a:srgbClr val="000000">
                <a:alpha val="10000"/>
              </a:srgbClr>
            </a:outerShdw>
          </a:effectLst>
        </p:spPr>
        <p:txBody>
          <a:bodyPr/>
          <a:lstStyle/>
          <a:p>
            <a:endParaRPr lang="en-DE"/>
          </a:p>
        </p:txBody>
      </p:sp>
      <p:sp>
        <p:nvSpPr>
          <p:cNvPr id="14" name="Text 12"/>
          <p:cNvSpPr/>
          <p:nvPr/>
        </p:nvSpPr>
        <p:spPr>
          <a:xfrm>
            <a:off x="3904488" y="2185416"/>
            <a:ext cx="1335024" cy="841248"/>
          </a:xfrm>
          <a:prstGeom prst="rect">
            <a:avLst/>
          </a:prstGeom>
          <a:noFill/>
          <a:ln/>
        </p:spPr>
        <p:txBody>
          <a:bodyPr wrap="square" lIns="0" tIns="0" rIns="0" bIns="0" rtlCol="0" anchor="ctr">
            <a:normAutofit/>
          </a:bodyPr>
          <a:lstStyle/>
          <a:p>
            <a:pPr marL="0" indent="0" algn="ctr">
              <a:buNone/>
            </a:pPr>
            <a:r>
              <a:rPr lang="en-US" sz="1150" b="1" dirty="0">
                <a:solidFill>
                  <a:srgbClr val="0B172A"/>
                </a:solidFill>
                <a:latin typeface="Aptos" pitchFamily="34" charset="0"/>
                <a:ea typeface="Aptos" pitchFamily="34" charset="-122"/>
                <a:cs typeface="Aptos" pitchFamily="34" charset="-120"/>
              </a:rPr>
              <a:t>Internet</a:t>
            </a:r>
            <a:endParaRPr lang="en-US" sz="1150" dirty="0"/>
          </a:p>
          <a:p>
            <a:pPr marL="0" indent="0" algn="ctr">
              <a:buNone/>
            </a:pPr>
            <a:r>
              <a:rPr lang="en-US" sz="1150" b="1" dirty="0">
                <a:solidFill>
                  <a:srgbClr val="0B172A"/>
                </a:solidFill>
                <a:latin typeface="Aptos" pitchFamily="34" charset="0"/>
                <a:ea typeface="Aptos" pitchFamily="34" charset="-122"/>
                <a:cs typeface="Aptos" pitchFamily="34" charset="-120"/>
              </a:rPr>
              <a:t>route</a:t>
            </a:r>
            <a:endParaRPr lang="en-US" sz="1150" dirty="0"/>
          </a:p>
        </p:txBody>
      </p:sp>
      <p:sp>
        <p:nvSpPr>
          <p:cNvPr id="15" name="Shape 13"/>
          <p:cNvSpPr/>
          <p:nvPr/>
        </p:nvSpPr>
        <p:spPr>
          <a:xfrm>
            <a:off x="7178040" y="2057400"/>
            <a:ext cx="1554480" cy="1097280"/>
          </a:xfrm>
          <a:prstGeom prst="roundRect">
            <a:avLst>
              <a:gd name="adj" fmla="val 6667"/>
            </a:avLst>
          </a:prstGeom>
          <a:solidFill>
            <a:srgbClr val="DBEAFE"/>
          </a:solidFill>
          <a:ln w="15240">
            <a:solidFill>
              <a:srgbClr val="2563EB"/>
            </a:solidFill>
            <a:prstDash val="solid"/>
          </a:ln>
          <a:effectLst>
            <a:outerShdw blurRad="19050" dist="12700" dir="2700000" algn="bl" rotWithShape="0">
              <a:srgbClr val="000000">
                <a:alpha val="10000"/>
              </a:srgbClr>
            </a:outerShdw>
          </a:effectLst>
        </p:spPr>
        <p:txBody>
          <a:bodyPr/>
          <a:lstStyle/>
          <a:p>
            <a:endParaRPr lang="en-DE"/>
          </a:p>
        </p:txBody>
      </p:sp>
      <p:sp>
        <p:nvSpPr>
          <p:cNvPr id="16" name="Text 14"/>
          <p:cNvSpPr/>
          <p:nvPr/>
        </p:nvSpPr>
        <p:spPr>
          <a:xfrm>
            <a:off x="7287768" y="2185416"/>
            <a:ext cx="1335024" cy="841248"/>
          </a:xfrm>
          <a:prstGeom prst="rect">
            <a:avLst/>
          </a:prstGeom>
          <a:noFill/>
          <a:ln/>
        </p:spPr>
        <p:txBody>
          <a:bodyPr wrap="square" lIns="0" tIns="0" rIns="0" bIns="0" rtlCol="0" anchor="ctr">
            <a:normAutofit/>
          </a:bodyPr>
          <a:lstStyle/>
          <a:p>
            <a:pPr marL="0" indent="0" algn="ctr">
              <a:buNone/>
            </a:pPr>
            <a:r>
              <a:rPr lang="en-US" sz="1120" b="1" dirty="0">
                <a:solidFill>
                  <a:srgbClr val="0B172A"/>
                </a:solidFill>
                <a:latin typeface="Aptos" pitchFamily="34" charset="0"/>
                <a:ea typeface="Aptos" pitchFamily="34" charset="-122"/>
                <a:cs typeface="Aptos" pitchFamily="34" charset="-120"/>
              </a:rPr>
              <a:t>Remote cloud</a:t>
            </a:r>
            <a:endParaRPr lang="en-US" sz="1120" dirty="0"/>
          </a:p>
          <a:p>
            <a:pPr marL="0" indent="0" algn="ctr">
              <a:buNone/>
            </a:pPr>
            <a:r>
              <a:rPr lang="en-US" sz="1120" b="1" dirty="0">
                <a:solidFill>
                  <a:srgbClr val="0B172A"/>
                </a:solidFill>
                <a:latin typeface="Aptos" pitchFamily="34" charset="0"/>
                <a:ea typeface="Aptos" pitchFamily="34" charset="-122"/>
                <a:cs typeface="Aptos" pitchFamily="34" charset="-120"/>
              </a:rPr>
              <a:t>server</a:t>
            </a:r>
            <a:endParaRPr lang="en-US" sz="1120" dirty="0"/>
          </a:p>
        </p:txBody>
      </p:sp>
      <p:sp>
        <p:nvSpPr>
          <p:cNvPr id="17" name="Shape 15"/>
          <p:cNvSpPr/>
          <p:nvPr/>
        </p:nvSpPr>
        <p:spPr>
          <a:xfrm>
            <a:off x="10058400" y="2057400"/>
            <a:ext cx="1417320" cy="1097280"/>
          </a:xfrm>
          <a:prstGeom prst="roundRect">
            <a:avLst>
              <a:gd name="adj" fmla="val 6667"/>
            </a:avLst>
          </a:prstGeom>
          <a:solidFill>
            <a:srgbClr val="FEF3C7"/>
          </a:solidFill>
          <a:ln w="15240">
            <a:solidFill>
              <a:srgbClr val="F59E0B"/>
            </a:solidFill>
            <a:prstDash val="solid"/>
          </a:ln>
          <a:effectLst>
            <a:outerShdw blurRad="19050" dist="12700" dir="2700000" algn="bl" rotWithShape="0">
              <a:srgbClr val="000000">
                <a:alpha val="10000"/>
              </a:srgbClr>
            </a:outerShdw>
          </a:effectLst>
        </p:spPr>
        <p:txBody>
          <a:bodyPr/>
          <a:lstStyle/>
          <a:p>
            <a:endParaRPr lang="en-DE"/>
          </a:p>
        </p:txBody>
      </p:sp>
      <p:sp>
        <p:nvSpPr>
          <p:cNvPr id="18" name="Text 16"/>
          <p:cNvSpPr/>
          <p:nvPr/>
        </p:nvSpPr>
        <p:spPr>
          <a:xfrm>
            <a:off x="10168128" y="2185416"/>
            <a:ext cx="1197864" cy="841248"/>
          </a:xfrm>
          <a:prstGeom prst="rect">
            <a:avLst/>
          </a:prstGeom>
          <a:noFill/>
          <a:ln/>
        </p:spPr>
        <p:txBody>
          <a:bodyPr wrap="square" lIns="0" tIns="0" rIns="0" bIns="0" rtlCol="0" anchor="ctr">
            <a:normAutofit/>
          </a:bodyPr>
          <a:lstStyle/>
          <a:p>
            <a:pPr marL="0" indent="0" algn="ctr">
              <a:buNone/>
            </a:pPr>
            <a:r>
              <a:rPr lang="en-US" sz="1120" b="1" dirty="0">
                <a:solidFill>
                  <a:srgbClr val="0B172A"/>
                </a:solidFill>
                <a:latin typeface="Aptos" pitchFamily="34" charset="0"/>
                <a:ea typeface="Aptos" pitchFamily="34" charset="-122"/>
                <a:cs typeface="Aptos" pitchFamily="34" charset="-120"/>
              </a:rPr>
              <a:t>Response</a:t>
            </a:r>
            <a:endParaRPr lang="en-US" sz="1120" dirty="0"/>
          </a:p>
          <a:p>
            <a:pPr marL="0" indent="0" algn="ctr">
              <a:buNone/>
            </a:pPr>
            <a:r>
              <a:rPr lang="en-US" sz="1120" b="1" dirty="0">
                <a:solidFill>
                  <a:srgbClr val="0B172A"/>
                </a:solidFill>
                <a:latin typeface="Aptos" pitchFamily="34" charset="0"/>
                <a:ea typeface="Aptos" pitchFamily="34" charset="-122"/>
                <a:cs typeface="Aptos" pitchFamily="34" charset="-120"/>
              </a:rPr>
              <a:t>returns</a:t>
            </a:r>
            <a:endParaRPr lang="en-US" sz="1120" dirty="0"/>
          </a:p>
        </p:txBody>
      </p:sp>
      <p:sp>
        <p:nvSpPr>
          <p:cNvPr id="20" name="Text 18"/>
          <p:cNvSpPr/>
          <p:nvPr/>
        </p:nvSpPr>
        <p:spPr>
          <a:xfrm>
            <a:off x="1051560" y="4379976"/>
            <a:ext cx="4846320" cy="603504"/>
          </a:xfrm>
          <a:prstGeom prst="rect">
            <a:avLst/>
          </a:prstGeom>
          <a:noFill/>
          <a:ln/>
        </p:spPr>
        <p:txBody>
          <a:bodyPr wrap="square" lIns="254" tIns="254" rIns="254" bIns="254" rtlCol="0" anchor="ctr">
            <a:normAutofit/>
          </a:bodyPr>
          <a:lstStyle/>
          <a:p>
            <a:pPr marL="0" indent="0">
              <a:buNone/>
            </a:pPr>
            <a:r>
              <a:rPr lang="en-US" sz="1200" dirty="0">
                <a:solidFill>
                  <a:srgbClr val="DCFCE7"/>
                </a:solidFill>
                <a:latin typeface="Consolas" pitchFamily="34" charset="0"/>
                <a:ea typeface="Consolas" pitchFamily="34" charset="-122"/>
                <a:cs typeface="Consolas" pitchFamily="34" charset="-120"/>
              </a:rPr>
              <a:t>curl -w "Total time: %{time_total} seconds"</a:t>
            </a:r>
            <a:endParaRPr lang="en-US" sz="1200" dirty="0"/>
          </a:p>
          <a:p>
            <a:pPr marL="0" indent="0">
              <a:buNone/>
            </a:pPr>
            <a:r>
              <a:rPr lang="en-US" sz="1200" dirty="0">
                <a:solidFill>
                  <a:srgbClr val="DCFCE7"/>
                </a:solidFill>
                <a:latin typeface="Consolas" pitchFamily="34" charset="0"/>
                <a:ea typeface="Consolas" pitchFamily="34" charset="-122"/>
                <a:cs typeface="Consolas" pitchFamily="34" charset="-120"/>
              </a:rPr>
              <a:t>https://httpbin.org/get</a:t>
            </a:r>
            <a:endParaRPr lang="en-US" sz="1200" dirty="0"/>
          </a:p>
        </p:txBody>
      </p:sp>
      <p:sp>
        <p:nvSpPr>
          <p:cNvPr id="21" name="Text 19"/>
          <p:cNvSpPr/>
          <p:nvPr/>
        </p:nvSpPr>
        <p:spPr>
          <a:xfrm>
            <a:off x="7040880" y="4160520"/>
            <a:ext cx="210312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Measured cloud latency</a:t>
            </a:r>
            <a:endParaRPr lang="en-US" sz="1100" dirty="0"/>
          </a:p>
        </p:txBody>
      </p:sp>
      <p:sp>
        <p:nvSpPr>
          <p:cNvPr id="22" name="Text 20"/>
          <p:cNvSpPr/>
          <p:nvPr/>
        </p:nvSpPr>
        <p:spPr>
          <a:xfrm>
            <a:off x="7040880" y="4480560"/>
            <a:ext cx="2103120" cy="512064"/>
          </a:xfrm>
          <a:prstGeom prst="rect">
            <a:avLst/>
          </a:prstGeom>
          <a:noFill/>
          <a:ln/>
        </p:spPr>
        <p:txBody>
          <a:bodyPr wrap="square" lIns="0" tIns="0" rIns="0" bIns="0" rtlCol="0" anchor="ctr">
            <a:normAutofit/>
          </a:bodyPr>
          <a:lstStyle/>
          <a:p>
            <a:pPr marL="0" indent="0">
              <a:buNone/>
            </a:pPr>
            <a:r>
              <a:rPr lang="en-US" sz="2800" b="1" dirty="0">
                <a:solidFill>
                  <a:srgbClr val="F59E0B"/>
                </a:solidFill>
                <a:latin typeface="Aptos Display" pitchFamily="34" charset="0"/>
                <a:ea typeface="Aptos Display" pitchFamily="34" charset="-122"/>
                <a:cs typeface="Aptos Display" pitchFamily="34" charset="-120"/>
              </a:rPr>
              <a:t>510 ms</a:t>
            </a:r>
            <a:endParaRPr lang="en-US" sz="2800" dirty="0"/>
          </a:p>
        </p:txBody>
      </p:sp>
      <p:sp>
        <p:nvSpPr>
          <p:cNvPr id="23" name="Text 21"/>
          <p:cNvSpPr/>
          <p:nvPr/>
        </p:nvSpPr>
        <p:spPr>
          <a:xfrm>
            <a:off x="7040880" y="5029200"/>
            <a:ext cx="210312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0.510079 seconds × 1000</a:t>
            </a:r>
            <a:endParaRPr lang="en-US" sz="1050" dirty="0"/>
          </a:p>
        </p:txBody>
      </p:sp>
      <p:sp>
        <p:nvSpPr>
          <p:cNvPr id="24" name="Text 22"/>
          <p:cNvSpPr/>
          <p:nvPr/>
        </p:nvSpPr>
        <p:spPr>
          <a:xfrm>
            <a:off x="9326880" y="4160520"/>
            <a:ext cx="219456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Worst shared network result</a:t>
            </a:r>
            <a:endParaRPr lang="en-US" sz="1100" dirty="0"/>
          </a:p>
        </p:txBody>
      </p:sp>
      <p:sp>
        <p:nvSpPr>
          <p:cNvPr id="25" name="Text 23"/>
          <p:cNvSpPr/>
          <p:nvPr/>
        </p:nvSpPr>
        <p:spPr>
          <a:xfrm>
            <a:off x="9326880" y="4480560"/>
            <a:ext cx="2194560" cy="512064"/>
          </a:xfrm>
          <a:prstGeom prst="rect">
            <a:avLst/>
          </a:prstGeom>
          <a:noFill/>
          <a:ln/>
        </p:spPr>
        <p:txBody>
          <a:bodyPr wrap="square" lIns="0" tIns="0" rIns="0" bIns="0" rtlCol="0" anchor="ctr">
            <a:normAutofit/>
          </a:bodyPr>
          <a:lstStyle/>
          <a:p>
            <a:pPr marL="0" indent="0">
              <a:buNone/>
            </a:pPr>
            <a:r>
              <a:rPr lang="en-US" sz="2800" b="1" dirty="0">
                <a:solidFill>
                  <a:srgbClr val="EF4444"/>
                </a:solidFill>
                <a:latin typeface="Aptos Display" pitchFamily="34" charset="0"/>
                <a:ea typeface="Aptos Display" pitchFamily="34" charset="-122"/>
                <a:cs typeface="Aptos Display" pitchFamily="34" charset="-120"/>
              </a:rPr>
              <a:t>2170 ms</a:t>
            </a:r>
            <a:endParaRPr lang="en-US" sz="2800" dirty="0"/>
          </a:p>
        </p:txBody>
      </p:sp>
      <p:sp>
        <p:nvSpPr>
          <p:cNvPr id="26" name="Text 24"/>
          <p:cNvSpPr/>
          <p:nvPr/>
        </p:nvSpPr>
        <p:spPr>
          <a:xfrm>
            <a:off x="9326880" y="5029200"/>
            <a:ext cx="219456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HSHL central Wi‑Fi</a:t>
            </a:r>
            <a:endParaRPr lang="en-US" sz="1050" dirty="0"/>
          </a:p>
        </p:txBody>
      </p:sp>
      <p:sp>
        <p:nvSpPr>
          <p:cNvPr id="27" name="Shape 11">
            <a:extLst>
              <a:ext uri="{FF2B5EF4-FFF2-40B4-BE49-F238E27FC236}">
                <a16:creationId xmlns:a16="http://schemas.microsoft.com/office/drawing/2014/main" id="{8203E6DC-67BD-FB27-94D8-1F598C2ACDB4}"/>
              </a:ext>
            </a:extLst>
          </p:cNvPr>
          <p:cNvSpPr/>
          <p:nvPr/>
        </p:nvSpPr>
        <p:spPr>
          <a:xfrm>
            <a:off x="670560" y="3543302"/>
            <a:ext cx="3517982" cy="2618231"/>
          </a:xfrm>
          <a:prstGeom prst="roundRect">
            <a:avLst>
              <a:gd name="adj" fmla="val 2410"/>
            </a:avLst>
          </a:prstGeom>
          <a:solidFill>
            <a:srgbClr val="FFF7ED"/>
          </a:solidFill>
          <a:ln/>
          <a:effectLst>
            <a:outerShdw blurRad="101600" dist="25400" dir="2700000" algn="bl" rotWithShape="0">
              <a:srgbClr val="000000">
                <a:alpha val="12000"/>
              </a:srgbClr>
            </a:outerShdw>
          </a:effectLst>
        </p:spPr>
        <p:txBody>
          <a:bodyPr/>
          <a:lstStyle/>
          <a:p>
            <a:endParaRPr lang="en-DE" sz="2400"/>
          </a:p>
        </p:txBody>
      </p:sp>
      <p:sp>
        <p:nvSpPr>
          <p:cNvPr id="30" name="Text 4">
            <a:extLst>
              <a:ext uri="{FF2B5EF4-FFF2-40B4-BE49-F238E27FC236}">
                <a16:creationId xmlns:a16="http://schemas.microsoft.com/office/drawing/2014/main" id="{B0AF9283-CA5D-5EA0-A88D-234AA2F85E86}"/>
              </a:ext>
            </a:extLst>
          </p:cNvPr>
          <p:cNvSpPr/>
          <p:nvPr/>
        </p:nvSpPr>
        <p:spPr>
          <a:xfrm>
            <a:off x="1259905" y="3950273"/>
            <a:ext cx="2204294" cy="368367"/>
          </a:xfrm>
          <a:prstGeom prst="rect">
            <a:avLst/>
          </a:prstGeom>
          <a:noFill/>
          <a:ln/>
        </p:spPr>
        <p:txBody>
          <a:bodyPr wrap="square" lIns="0" tIns="0" rIns="0" bIns="0" rtlCol="0" anchor="ctr"/>
          <a:lstStyle/>
          <a:p>
            <a:pPr algn="ctr"/>
            <a:r>
              <a:rPr lang="en-US" sz="1333" b="1" kern="0" spc="267" dirty="0">
                <a:solidFill>
                  <a:srgbClr val="047857"/>
                </a:solidFill>
                <a:latin typeface="Calibri" pitchFamily="34" charset="0"/>
                <a:ea typeface="Calibri" pitchFamily="34" charset="-122"/>
                <a:cs typeface="Calibri" pitchFamily="34" charset="-120"/>
              </a:rPr>
              <a:t>Test Procedure</a:t>
            </a:r>
          </a:p>
        </p:txBody>
      </p:sp>
      <p:sp>
        <p:nvSpPr>
          <p:cNvPr id="31" name="Text 5">
            <a:extLst>
              <a:ext uri="{FF2B5EF4-FFF2-40B4-BE49-F238E27FC236}">
                <a16:creationId xmlns:a16="http://schemas.microsoft.com/office/drawing/2014/main" id="{73A74130-AF13-4964-DD0F-F2EFA7FA2CF0}"/>
              </a:ext>
            </a:extLst>
          </p:cNvPr>
          <p:cNvSpPr/>
          <p:nvPr/>
        </p:nvSpPr>
        <p:spPr>
          <a:xfrm>
            <a:off x="823158" y="4243804"/>
            <a:ext cx="3218688" cy="1142995"/>
          </a:xfrm>
          <a:prstGeom prst="rect">
            <a:avLst/>
          </a:prstGeom>
          <a:noFill/>
          <a:ln/>
        </p:spPr>
        <p:txBody>
          <a:bodyPr wrap="square" rtlCol="0" anchor="t"/>
          <a:lstStyle/>
          <a:p>
            <a:r>
              <a:rPr lang="en-US" sz="1200" b="1" dirty="0">
                <a:solidFill>
                  <a:srgbClr val="1E293B"/>
                </a:solidFill>
                <a:latin typeface="Calibri" pitchFamily="34" charset="0"/>
                <a:ea typeface="Calibri" pitchFamily="34" charset="-122"/>
                <a:cs typeface="Calibri" pitchFamily="34" charset="-120"/>
              </a:rPr>
              <a:t>Method: </a:t>
            </a:r>
            <a:r>
              <a:rPr lang="en-US" sz="1200" dirty="0">
                <a:solidFill>
                  <a:srgbClr val="334155"/>
                </a:solidFill>
                <a:latin typeface="Calibri" pitchFamily="34" charset="0"/>
                <a:ea typeface="Calibri" pitchFamily="34" charset="-122"/>
                <a:cs typeface="Calibri" pitchFamily="34" charset="-120"/>
              </a:rPr>
              <a:t>HTTP request via public internet</a:t>
            </a:r>
            <a:endParaRPr lang="en-US" sz="1200" dirty="0"/>
          </a:p>
          <a:p>
            <a:r>
              <a:rPr lang="en-US" sz="1200" b="1" dirty="0">
                <a:solidFill>
                  <a:srgbClr val="1E293B"/>
                </a:solidFill>
                <a:latin typeface="Calibri" pitchFamily="34" charset="0"/>
                <a:ea typeface="Calibri" pitchFamily="34" charset="-122"/>
                <a:cs typeface="Calibri" pitchFamily="34" charset="-120"/>
              </a:rPr>
              <a:t>Target: </a:t>
            </a:r>
            <a:endParaRPr lang="en-US" sz="1200" dirty="0"/>
          </a:p>
          <a:p>
            <a:r>
              <a:rPr lang="en-US" sz="1200" dirty="0">
                <a:solidFill>
                  <a:srgbClr val="334155"/>
                </a:solidFill>
                <a:latin typeface="Calibri" pitchFamily="34" charset="0"/>
                <a:ea typeface="Calibri" pitchFamily="34" charset="-122"/>
                <a:cs typeface="Calibri" pitchFamily="34" charset="-120"/>
              </a:rPr>
              <a:t>https://httpbin.org/get</a:t>
            </a:r>
            <a:endParaRPr lang="en-US" sz="1200" dirty="0"/>
          </a:p>
          <a:p>
            <a:r>
              <a:rPr lang="en-US" sz="1200" b="1" dirty="0">
                <a:solidFill>
                  <a:srgbClr val="1E293B"/>
                </a:solidFill>
                <a:latin typeface="Calibri" pitchFamily="34" charset="0"/>
                <a:ea typeface="Calibri" pitchFamily="34" charset="-122"/>
                <a:cs typeface="Calibri" pitchFamily="34" charset="-120"/>
              </a:rPr>
              <a:t>Command:</a:t>
            </a:r>
            <a:endParaRPr lang="en-US" sz="1200" dirty="0"/>
          </a:p>
        </p:txBody>
      </p:sp>
      <p:sp>
        <p:nvSpPr>
          <p:cNvPr id="32" name="Shape 6">
            <a:extLst>
              <a:ext uri="{FF2B5EF4-FFF2-40B4-BE49-F238E27FC236}">
                <a16:creationId xmlns:a16="http://schemas.microsoft.com/office/drawing/2014/main" id="{A1FD7C37-ACC6-EE8F-2F59-30C95481428D}"/>
              </a:ext>
            </a:extLst>
          </p:cNvPr>
          <p:cNvSpPr/>
          <p:nvPr/>
        </p:nvSpPr>
        <p:spPr>
          <a:xfrm>
            <a:off x="823158" y="5139387"/>
            <a:ext cx="2641041" cy="682095"/>
          </a:xfrm>
          <a:prstGeom prst="roundRect">
            <a:avLst>
              <a:gd name="adj" fmla="val 8333"/>
            </a:avLst>
          </a:prstGeom>
          <a:solidFill>
            <a:srgbClr val="162440"/>
          </a:solidFill>
          <a:ln/>
        </p:spPr>
        <p:txBody>
          <a:bodyPr/>
          <a:lstStyle/>
          <a:p>
            <a:endParaRPr lang="en-DE" sz="2400"/>
          </a:p>
        </p:txBody>
      </p:sp>
      <p:sp>
        <p:nvSpPr>
          <p:cNvPr id="33" name="Text 7">
            <a:extLst>
              <a:ext uri="{FF2B5EF4-FFF2-40B4-BE49-F238E27FC236}">
                <a16:creationId xmlns:a16="http://schemas.microsoft.com/office/drawing/2014/main" id="{89785384-81FF-FD73-8060-D2427F10BA07}"/>
              </a:ext>
            </a:extLst>
          </p:cNvPr>
          <p:cNvSpPr/>
          <p:nvPr/>
        </p:nvSpPr>
        <p:spPr>
          <a:xfrm>
            <a:off x="870302" y="5070057"/>
            <a:ext cx="2546751" cy="789391"/>
          </a:xfrm>
          <a:prstGeom prst="rect">
            <a:avLst/>
          </a:prstGeom>
          <a:noFill/>
          <a:ln/>
        </p:spPr>
        <p:txBody>
          <a:bodyPr wrap="square" rtlCol="0" anchor="ctr"/>
          <a:lstStyle/>
          <a:p>
            <a:r>
              <a:rPr lang="en-US" sz="1200" dirty="0">
                <a:solidFill>
                  <a:srgbClr val="7DD8EC"/>
                </a:solidFill>
                <a:latin typeface="Courier New" pitchFamily="34" charset="0"/>
                <a:ea typeface="Courier New" pitchFamily="34" charset="-122"/>
                <a:cs typeface="Courier New" pitchFamily="34" charset="-120"/>
              </a:rPr>
              <a:t>curl -w "%{</a:t>
            </a:r>
            <a:r>
              <a:rPr lang="en-US" sz="1200" dirty="0" err="1">
                <a:solidFill>
                  <a:srgbClr val="7DD8EC"/>
                </a:solidFill>
                <a:latin typeface="Courier New" pitchFamily="34" charset="0"/>
                <a:ea typeface="Courier New" pitchFamily="34" charset="-122"/>
                <a:cs typeface="Courier New" pitchFamily="34" charset="-120"/>
              </a:rPr>
              <a:t>time_total</a:t>
            </a:r>
            <a:r>
              <a:rPr lang="en-US" sz="1200" dirty="0">
                <a:solidFill>
                  <a:srgbClr val="7DD8EC"/>
                </a:solidFill>
                <a:latin typeface="Courier New" pitchFamily="34" charset="0"/>
                <a:ea typeface="Courier New" pitchFamily="34" charset="-122"/>
                <a:cs typeface="Courier New" pitchFamily="34" charset="-120"/>
              </a:rPr>
              <a:t>}s"</a:t>
            </a:r>
            <a:endParaRPr lang="en-US" sz="1200" dirty="0"/>
          </a:p>
          <a:p>
            <a:r>
              <a:rPr lang="en-US" sz="1200" dirty="0">
                <a:solidFill>
                  <a:srgbClr val="7DD8EC"/>
                </a:solidFill>
                <a:latin typeface="Courier New" pitchFamily="34" charset="0"/>
                <a:ea typeface="Courier New" pitchFamily="34" charset="-122"/>
                <a:cs typeface="Courier New" pitchFamily="34" charset="-120"/>
              </a:rPr>
              <a:t>https://httpbin.org/get</a:t>
            </a:r>
            <a:endParaRPr lang="en-US" sz="1200" dirty="0"/>
          </a:p>
        </p:txBody>
      </p:sp>
      <p:sp>
        <p:nvSpPr>
          <p:cNvPr id="34" name="Text 8">
            <a:extLst>
              <a:ext uri="{FF2B5EF4-FFF2-40B4-BE49-F238E27FC236}">
                <a16:creationId xmlns:a16="http://schemas.microsoft.com/office/drawing/2014/main" id="{C0D297FE-7D2A-BAA2-EB95-6A8726BC657E}"/>
              </a:ext>
            </a:extLst>
          </p:cNvPr>
          <p:cNvSpPr/>
          <p:nvPr/>
        </p:nvSpPr>
        <p:spPr>
          <a:xfrm>
            <a:off x="823158" y="5738348"/>
            <a:ext cx="3269717" cy="513401"/>
          </a:xfrm>
          <a:prstGeom prst="rect">
            <a:avLst/>
          </a:prstGeom>
          <a:noFill/>
          <a:ln/>
        </p:spPr>
        <p:txBody>
          <a:bodyPr wrap="square" rtlCol="0" anchor="ctr"/>
          <a:lstStyle/>
          <a:p>
            <a:r>
              <a:rPr lang="en-US" sz="1200" b="1" dirty="0">
                <a:solidFill>
                  <a:srgbClr val="92400E"/>
                </a:solidFill>
                <a:latin typeface="Calibri" pitchFamily="34" charset="0"/>
                <a:ea typeface="Calibri" pitchFamily="34" charset="-122"/>
                <a:cs typeface="Calibri" pitchFamily="34" charset="-120"/>
              </a:rPr>
              <a:t>Result: </a:t>
            </a:r>
            <a:r>
              <a:rPr lang="en-US" sz="1200" dirty="0">
                <a:solidFill>
                  <a:srgbClr val="334155"/>
                </a:solidFill>
                <a:latin typeface="Calibri" pitchFamily="34" charset="0"/>
                <a:ea typeface="Calibri" pitchFamily="34" charset="-122"/>
                <a:cs typeface="Calibri" pitchFamily="34" charset="-120"/>
              </a:rPr>
              <a:t>0.510079 s = </a:t>
            </a:r>
            <a:r>
              <a:rPr lang="en-US" sz="1200" b="1" dirty="0">
                <a:solidFill>
                  <a:srgbClr val="92400E"/>
                </a:solidFill>
                <a:latin typeface="Calibri" pitchFamily="34" charset="0"/>
                <a:ea typeface="Calibri" pitchFamily="34" charset="-122"/>
                <a:cs typeface="Calibri" pitchFamily="34" charset="-120"/>
              </a:rPr>
              <a:t>510 </a:t>
            </a:r>
            <a:r>
              <a:rPr lang="en-US" sz="1200" b="1" dirty="0" err="1">
                <a:solidFill>
                  <a:srgbClr val="92400E"/>
                </a:solidFill>
                <a:latin typeface="Calibri" pitchFamily="34" charset="0"/>
                <a:ea typeface="Calibri" pitchFamily="34" charset="-122"/>
                <a:cs typeface="Calibri" pitchFamily="34" charset="-120"/>
              </a:rPr>
              <a:t>ms</a:t>
            </a:r>
            <a:r>
              <a:rPr lang="en-US" sz="1200" dirty="0">
                <a:solidFill>
                  <a:srgbClr val="334155"/>
                </a:solidFill>
                <a:latin typeface="Calibri" pitchFamily="34" charset="0"/>
                <a:ea typeface="Calibri" pitchFamily="34" charset="-122"/>
                <a:cs typeface="Calibri" pitchFamily="34" charset="-120"/>
              </a:rPr>
              <a:t> internet round-trip.</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Measured results: edge was consistently lower</a:t>
            </a:r>
            <a:endParaRPr lang="en-US" sz="2800" dirty="0"/>
          </a:p>
        </p:txBody>
      </p:sp>
      <p:sp>
        <p:nvSpPr>
          <p:cNvPr id="5" name="Text 3"/>
          <p:cNvSpPr/>
          <p:nvPr/>
        </p:nvSpPr>
        <p:spPr>
          <a:xfrm>
            <a:off x="530352" y="868680"/>
            <a:ext cx="10241280" cy="274320"/>
          </a:xfrm>
          <a:prstGeom prst="rect">
            <a:avLst/>
          </a:prstGeom>
          <a:noFill/>
          <a:ln/>
        </p:spPr>
        <p:txBody>
          <a:bodyPr wrap="square" lIns="0" tIns="0" rIns="0" bIns="0" rtlCol="0" anchor="ctr">
            <a:normAutofit/>
          </a:bodyPr>
          <a:lstStyle/>
          <a:p>
            <a:pPr marL="0" indent="0">
              <a:buNone/>
            </a:pPr>
            <a:r>
              <a:rPr lang="en-US" sz="1250" dirty="0">
                <a:solidFill>
                  <a:srgbClr val="64748B"/>
                </a:solidFill>
                <a:latin typeface="Aptos" pitchFamily="34" charset="0"/>
                <a:ea typeface="Aptos" pitchFamily="34" charset="-122"/>
                <a:cs typeface="Aptos" pitchFamily="34" charset="-120"/>
              </a:rPr>
              <a:t>Both environments show that processing closer to the device reduces response time.</a:t>
            </a:r>
            <a:endParaRPr lang="en-US" sz="1250" dirty="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Edge Computing in Industrial Communication • Sections VII–IX</a:t>
            </a:r>
            <a:endParaRPr lang="en-US" sz="85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05</a:t>
            </a:r>
            <a:endParaRPr lang="en-US" sz="850" dirty="0"/>
          </a:p>
        </p:txBody>
      </p:sp>
      <p:graphicFrame>
        <p:nvGraphicFramePr>
          <p:cNvPr id="8" name="Chart 0"/>
          <p:cNvGraphicFramePr/>
          <p:nvPr>
            <p:extLst>
              <p:ext uri="{D42A27DB-BD31-4B8C-83A1-F6EECF244321}">
                <p14:modId xmlns:p14="http://schemas.microsoft.com/office/powerpoint/2010/main" val="3480155006"/>
              </p:ext>
            </p:extLst>
          </p:nvPr>
        </p:nvGraphicFramePr>
        <p:xfrm>
          <a:off x="731520" y="1508760"/>
          <a:ext cx="667512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822960" y="1261872"/>
            <a:ext cx="3840480" cy="201168"/>
          </a:xfrm>
          <a:prstGeom prst="rect">
            <a:avLst/>
          </a:prstGeom>
          <a:noFill/>
          <a:ln/>
        </p:spPr>
        <p:txBody>
          <a:bodyPr wrap="square" lIns="0" tIns="0" rIns="0" bIns="0" rtlCol="0" anchor="ctr"/>
          <a:lstStyle/>
          <a:p>
            <a:pPr marL="0" indent="0">
              <a:buNone/>
            </a:pPr>
            <a:r>
              <a:rPr lang="en-US" sz="1080" dirty="0">
                <a:solidFill>
                  <a:srgbClr val="64748B"/>
                </a:solidFill>
              </a:rPr>
              <a:t>Latency in milliseconds (lower is better)</a:t>
            </a:r>
            <a:endParaRPr lang="en-US" sz="1080" dirty="0"/>
          </a:p>
        </p:txBody>
      </p:sp>
      <p:sp>
        <p:nvSpPr>
          <p:cNvPr id="10" name="Shape 7"/>
          <p:cNvSpPr/>
          <p:nvPr/>
        </p:nvSpPr>
        <p:spPr>
          <a:xfrm>
            <a:off x="8001000" y="1508760"/>
            <a:ext cx="0" cy="4343400"/>
          </a:xfrm>
          <a:prstGeom prst="line">
            <a:avLst/>
          </a:prstGeom>
          <a:noFill/>
          <a:ln w="12700">
            <a:solidFill>
              <a:srgbClr val="E2E8F0"/>
            </a:solidFill>
            <a:prstDash val="solid"/>
          </a:ln>
        </p:spPr>
        <p:txBody>
          <a:bodyPr/>
          <a:lstStyle/>
          <a:p>
            <a:endParaRPr lang="en-DE"/>
          </a:p>
        </p:txBody>
      </p:sp>
      <p:sp>
        <p:nvSpPr>
          <p:cNvPr id="11" name="Text 8"/>
          <p:cNvSpPr/>
          <p:nvPr/>
        </p:nvSpPr>
        <p:spPr>
          <a:xfrm>
            <a:off x="8458200" y="1691640"/>
            <a:ext cx="283464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Home Wi‑Fi</a:t>
            </a:r>
            <a:endParaRPr lang="en-US" sz="1100" dirty="0"/>
          </a:p>
        </p:txBody>
      </p:sp>
      <p:sp>
        <p:nvSpPr>
          <p:cNvPr id="12" name="Text 9"/>
          <p:cNvSpPr/>
          <p:nvPr/>
        </p:nvSpPr>
        <p:spPr>
          <a:xfrm>
            <a:off x="8458200" y="2011680"/>
            <a:ext cx="2834640" cy="512064"/>
          </a:xfrm>
          <a:prstGeom prst="rect">
            <a:avLst/>
          </a:prstGeom>
          <a:noFill/>
          <a:ln/>
        </p:spPr>
        <p:txBody>
          <a:bodyPr wrap="square" lIns="0" tIns="0" rIns="0" bIns="0" rtlCol="0" anchor="ctr">
            <a:normAutofit/>
          </a:bodyPr>
          <a:lstStyle/>
          <a:p>
            <a:pPr marL="0" indent="0">
              <a:buNone/>
            </a:pPr>
            <a:r>
              <a:rPr lang="en-US" sz="2800" b="1" dirty="0">
                <a:solidFill>
                  <a:srgbClr val="10B981"/>
                </a:solidFill>
                <a:latin typeface="Aptos Display" pitchFamily="34" charset="0"/>
                <a:ea typeface="Aptos Display" pitchFamily="34" charset="-122"/>
                <a:cs typeface="Aptos Display" pitchFamily="34" charset="-120"/>
              </a:rPr>
              <a:t>95 vs 510 ms</a:t>
            </a:r>
            <a:endParaRPr lang="en-US" sz="2800" dirty="0"/>
          </a:p>
        </p:txBody>
      </p:sp>
      <p:sp>
        <p:nvSpPr>
          <p:cNvPr id="13" name="Text 10"/>
          <p:cNvSpPr/>
          <p:nvPr/>
        </p:nvSpPr>
        <p:spPr>
          <a:xfrm>
            <a:off x="8458200" y="2560320"/>
            <a:ext cx="283464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Cloud took about 5.4× longer</a:t>
            </a:r>
            <a:endParaRPr lang="en-US" sz="1050" dirty="0"/>
          </a:p>
        </p:txBody>
      </p:sp>
      <p:sp>
        <p:nvSpPr>
          <p:cNvPr id="14" name="Text 11"/>
          <p:cNvSpPr/>
          <p:nvPr/>
        </p:nvSpPr>
        <p:spPr>
          <a:xfrm>
            <a:off x="8458200" y="3337560"/>
            <a:ext cx="3017520" cy="228600"/>
          </a:xfrm>
          <a:prstGeom prst="rect">
            <a:avLst/>
          </a:prstGeom>
          <a:noFill/>
          <a:ln/>
        </p:spPr>
        <p:txBody>
          <a:bodyPr wrap="square" lIns="0" tIns="0" rIns="0" bIns="0" rtlCol="0" anchor="ctr">
            <a:normAutofit/>
          </a:bodyPr>
          <a:lstStyle/>
          <a:p>
            <a:pPr marL="0" indent="0">
              <a:buNone/>
            </a:pPr>
            <a:r>
              <a:rPr lang="en-US" sz="1100" b="1" dirty="0">
                <a:solidFill>
                  <a:srgbClr val="64748B"/>
                </a:solidFill>
              </a:rPr>
              <a:t>HSHL Wi‑Fi</a:t>
            </a:r>
            <a:endParaRPr lang="en-US" sz="1100" dirty="0"/>
          </a:p>
        </p:txBody>
      </p:sp>
      <p:sp>
        <p:nvSpPr>
          <p:cNvPr id="15" name="Text 12"/>
          <p:cNvSpPr/>
          <p:nvPr/>
        </p:nvSpPr>
        <p:spPr>
          <a:xfrm>
            <a:off x="8458200" y="3657600"/>
            <a:ext cx="3017520" cy="512064"/>
          </a:xfrm>
          <a:prstGeom prst="rect">
            <a:avLst/>
          </a:prstGeom>
          <a:noFill/>
          <a:ln/>
        </p:spPr>
        <p:txBody>
          <a:bodyPr wrap="square" lIns="0" tIns="0" rIns="0" bIns="0" rtlCol="0" anchor="ctr">
            <a:normAutofit/>
          </a:bodyPr>
          <a:lstStyle/>
          <a:p>
            <a:pPr marL="0" indent="0">
              <a:buNone/>
            </a:pPr>
            <a:r>
              <a:rPr lang="en-US" sz="2800" b="1" dirty="0">
                <a:solidFill>
                  <a:srgbClr val="F59E0B"/>
                </a:solidFill>
                <a:latin typeface="Aptos Display" pitchFamily="34" charset="0"/>
                <a:ea typeface="Aptos Display" pitchFamily="34" charset="-122"/>
                <a:cs typeface="Aptos Display" pitchFamily="34" charset="-120"/>
              </a:rPr>
              <a:t>422 vs 2170 ms</a:t>
            </a:r>
            <a:endParaRPr lang="en-US" sz="2800" dirty="0"/>
          </a:p>
        </p:txBody>
      </p:sp>
      <p:sp>
        <p:nvSpPr>
          <p:cNvPr id="16" name="Text 13"/>
          <p:cNvSpPr/>
          <p:nvPr/>
        </p:nvSpPr>
        <p:spPr>
          <a:xfrm>
            <a:off x="8458200" y="4206240"/>
            <a:ext cx="301752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Cloud took about 5.1× longer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Comparative analysis: speed advantage</a:t>
            </a:r>
            <a:endParaRPr lang="en-US" sz="2800" dirty="0"/>
          </a:p>
        </p:txBody>
      </p:sp>
      <p:sp>
        <p:nvSpPr>
          <p:cNvPr id="5" name="Text 3"/>
          <p:cNvSpPr/>
          <p:nvPr/>
        </p:nvSpPr>
        <p:spPr>
          <a:xfrm>
            <a:off x="530352" y="868680"/>
            <a:ext cx="10241280" cy="274320"/>
          </a:xfrm>
          <a:prstGeom prst="rect">
            <a:avLst/>
          </a:prstGeom>
          <a:noFill/>
          <a:ln/>
        </p:spPr>
        <p:txBody>
          <a:bodyPr wrap="square" lIns="0" tIns="0" rIns="0" bIns="0" rtlCol="0" anchor="ctr">
            <a:normAutofit/>
          </a:bodyPr>
          <a:lstStyle/>
          <a:p>
            <a:pPr marL="0" indent="0">
              <a:buNone/>
            </a:pPr>
            <a:r>
              <a:rPr lang="en-US" sz="1250" dirty="0">
                <a:solidFill>
                  <a:srgbClr val="64748B"/>
                </a:solidFill>
                <a:latin typeface="Aptos" pitchFamily="34" charset="0"/>
                <a:ea typeface="Aptos" pitchFamily="34" charset="-122"/>
                <a:cs typeface="Aptos" pitchFamily="34" charset="-120"/>
              </a:rPr>
              <a:t>The closest comparison is the stable home Wi‑Fi test: local edge vs remote cloud.</a:t>
            </a:r>
            <a:endParaRPr lang="en-US" sz="1250" dirty="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Edge Computing in Industrial Communication • Sections VII–IX</a:t>
            </a:r>
            <a:endParaRPr lang="en-US" sz="85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06</a:t>
            </a:r>
            <a:endParaRPr lang="en-US" sz="850" dirty="0"/>
          </a:p>
        </p:txBody>
      </p:sp>
      <p:sp>
        <p:nvSpPr>
          <p:cNvPr id="8" name="Shape 6"/>
          <p:cNvSpPr/>
          <p:nvPr/>
        </p:nvSpPr>
        <p:spPr>
          <a:xfrm rot="1800000">
            <a:off x="822960" y="1325880"/>
            <a:ext cx="4572000" cy="4572000"/>
          </a:xfrm>
          <a:prstGeom prst="arc">
            <a:avLst/>
          </a:prstGeom>
          <a:solidFill>
            <a:srgbClr val="D1FAE5"/>
          </a:solidFill>
          <a:ln w="12700">
            <a:solidFill>
              <a:srgbClr val="D1FAE5">
                <a:alpha val="0"/>
              </a:srgbClr>
            </a:solidFill>
            <a:prstDash val="solid"/>
          </a:ln>
        </p:spPr>
        <p:txBody>
          <a:bodyPr/>
          <a:lstStyle/>
          <a:p>
            <a:endParaRPr lang="en-DE"/>
          </a:p>
        </p:txBody>
      </p:sp>
      <p:sp>
        <p:nvSpPr>
          <p:cNvPr id="9" name="Text 7"/>
          <p:cNvSpPr/>
          <p:nvPr/>
        </p:nvSpPr>
        <p:spPr>
          <a:xfrm>
            <a:off x="1508760" y="2057400"/>
            <a:ext cx="3291840" cy="914400"/>
          </a:xfrm>
          <a:prstGeom prst="rect">
            <a:avLst/>
          </a:prstGeom>
          <a:noFill/>
          <a:ln/>
        </p:spPr>
        <p:txBody>
          <a:bodyPr wrap="square" lIns="0" tIns="0" rIns="0" bIns="0" rtlCol="0" anchor="ctr"/>
          <a:lstStyle/>
          <a:p>
            <a:pPr marL="0" indent="0" algn="ctr">
              <a:buNone/>
            </a:pPr>
            <a:r>
              <a:rPr lang="en-US" sz="5600" b="1" dirty="0">
                <a:solidFill>
                  <a:srgbClr val="10B981"/>
                </a:solidFill>
                <a:latin typeface="Aptos Display" pitchFamily="34" charset="0"/>
                <a:ea typeface="Aptos Display" pitchFamily="34" charset="-122"/>
                <a:cs typeface="Aptos Display" pitchFamily="34" charset="-120"/>
              </a:rPr>
              <a:t>5.4×</a:t>
            </a:r>
            <a:endParaRPr lang="en-US" sz="5600" dirty="0"/>
          </a:p>
        </p:txBody>
      </p:sp>
      <p:sp>
        <p:nvSpPr>
          <p:cNvPr id="10" name="Text 8"/>
          <p:cNvSpPr/>
          <p:nvPr/>
        </p:nvSpPr>
        <p:spPr>
          <a:xfrm>
            <a:off x="1481328" y="2971800"/>
            <a:ext cx="3337560" cy="594360"/>
          </a:xfrm>
          <a:prstGeom prst="rect">
            <a:avLst/>
          </a:prstGeom>
          <a:noFill/>
          <a:ln/>
        </p:spPr>
        <p:txBody>
          <a:bodyPr wrap="square" lIns="0" tIns="0" rIns="0" bIns="0" rtlCol="0" anchor="ctr">
            <a:normAutofit/>
          </a:bodyPr>
          <a:lstStyle/>
          <a:p>
            <a:pPr marL="0" indent="0" algn="ctr">
              <a:buNone/>
            </a:pPr>
            <a:r>
              <a:rPr lang="en-US" sz="1700" b="1" dirty="0">
                <a:solidFill>
                  <a:srgbClr val="0B172A"/>
                </a:solidFill>
              </a:rPr>
              <a:t>cloud took longer</a:t>
            </a:r>
            <a:endParaRPr lang="en-US" sz="1700" dirty="0"/>
          </a:p>
          <a:p>
            <a:pPr marL="0" indent="0" algn="ctr">
              <a:buNone/>
            </a:pPr>
            <a:r>
              <a:rPr lang="en-US" sz="1700" b="1" dirty="0">
                <a:solidFill>
                  <a:srgbClr val="0B172A"/>
                </a:solidFill>
              </a:rPr>
              <a:t>in stable home Wi‑Fi</a:t>
            </a:r>
            <a:endParaRPr lang="en-US" sz="1700" dirty="0"/>
          </a:p>
        </p:txBody>
      </p:sp>
      <p:sp>
        <p:nvSpPr>
          <p:cNvPr id="11" name="Text 9"/>
          <p:cNvSpPr/>
          <p:nvPr/>
        </p:nvSpPr>
        <p:spPr>
          <a:xfrm>
            <a:off x="1691640" y="3749040"/>
            <a:ext cx="2926080" cy="237744"/>
          </a:xfrm>
          <a:prstGeom prst="rect">
            <a:avLst/>
          </a:prstGeom>
          <a:noFill/>
          <a:ln/>
        </p:spPr>
        <p:txBody>
          <a:bodyPr wrap="square" lIns="0" tIns="0" rIns="0" bIns="0" rtlCol="0" anchor="ctr"/>
          <a:lstStyle/>
          <a:p>
            <a:pPr marL="0" indent="0" algn="ctr">
              <a:buNone/>
            </a:pPr>
            <a:r>
              <a:rPr lang="en-US" sz="1200" dirty="0">
                <a:solidFill>
                  <a:srgbClr val="64748B"/>
                </a:solidFill>
              </a:rPr>
              <a:t>510 ms ÷ 95 ms ≈ 5.37</a:t>
            </a:r>
            <a:endParaRPr lang="en-US" sz="1200" dirty="0"/>
          </a:p>
        </p:txBody>
      </p:sp>
      <p:sp>
        <p:nvSpPr>
          <p:cNvPr id="12" name="Shape 10"/>
          <p:cNvSpPr/>
          <p:nvPr/>
        </p:nvSpPr>
        <p:spPr>
          <a:xfrm>
            <a:off x="6583680" y="1417320"/>
            <a:ext cx="4434840" cy="4251960"/>
          </a:xfrm>
          <a:prstGeom prst="roundRect">
            <a:avLst>
              <a:gd name="adj" fmla="val 1290"/>
            </a:avLst>
          </a:prstGeom>
          <a:solidFill>
            <a:srgbClr val="FFFFFF"/>
          </a:solidFill>
          <a:ln w="12700">
            <a:solidFill>
              <a:srgbClr val="E5E7EB"/>
            </a:solidFill>
            <a:prstDash val="solid"/>
          </a:ln>
          <a:effectLst>
            <a:outerShdw blurRad="19050" dist="12700" dir="2700000" algn="bl" rotWithShape="0">
              <a:srgbClr val="000000">
                <a:alpha val="8000"/>
              </a:srgbClr>
            </a:outerShdw>
          </a:effectLst>
        </p:spPr>
        <p:txBody>
          <a:bodyPr/>
          <a:lstStyle/>
          <a:p>
            <a:endParaRPr lang="en-DE"/>
          </a:p>
        </p:txBody>
      </p:sp>
      <p:sp>
        <p:nvSpPr>
          <p:cNvPr id="13" name="Text 11"/>
          <p:cNvSpPr/>
          <p:nvPr/>
        </p:nvSpPr>
        <p:spPr>
          <a:xfrm>
            <a:off x="6903720" y="1783080"/>
            <a:ext cx="3840480" cy="329184"/>
          </a:xfrm>
          <a:prstGeom prst="rect">
            <a:avLst/>
          </a:prstGeom>
          <a:noFill/>
          <a:ln/>
        </p:spPr>
        <p:txBody>
          <a:bodyPr wrap="square" lIns="0" tIns="0" rIns="0" bIns="0" rtlCol="0" anchor="ctr"/>
          <a:lstStyle/>
          <a:p>
            <a:pPr marL="0" indent="0">
              <a:buNone/>
            </a:pPr>
            <a:r>
              <a:rPr lang="en-US" sz="1800" b="1" dirty="0">
                <a:solidFill>
                  <a:srgbClr val="0B172A"/>
                </a:solidFill>
              </a:rPr>
              <a:t>Why this matters in industry</a:t>
            </a:r>
            <a:endParaRPr lang="en-US" sz="1800" dirty="0"/>
          </a:p>
        </p:txBody>
      </p:sp>
      <p:sp>
        <p:nvSpPr>
          <p:cNvPr id="14" name="Shape 12"/>
          <p:cNvSpPr/>
          <p:nvPr/>
        </p:nvSpPr>
        <p:spPr>
          <a:xfrm>
            <a:off x="6931152" y="248259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15" name="Text 13"/>
          <p:cNvSpPr/>
          <p:nvPr/>
        </p:nvSpPr>
        <p:spPr>
          <a:xfrm>
            <a:off x="7095744" y="2423160"/>
            <a:ext cx="3566160" cy="246888"/>
          </a:xfrm>
          <a:prstGeom prst="rect">
            <a:avLst/>
          </a:prstGeom>
          <a:noFill/>
          <a:ln/>
        </p:spPr>
        <p:txBody>
          <a:bodyPr wrap="square" lIns="0" tIns="0" rIns="0" bIns="0" rtlCol="0" anchor="ctr">
            <a:normAutofit/>
          </a:bodyPr>
          <a:lstStyle/>
          <a:p>
            <a:pPr marL="0" indent="0">
              <a:buNone/>
            </a:pPr>
            <a:r>
              <a:rPr lang="en-US" sz="1220" dirty="0">
                <a:solidFill>
                  <a:srgbClr val="1E293B"/>
                </a:solidFill>
              </a:rPr>
              <a:t>Fault detection must react quickly.</a:t>
            </a:r>
            <a:endParaRPr lang="en-US" sz="1220" dirty="0"/>
          </a:p>
        </p:txBody>
      </p:sp>
      <p:sp>
        <p:nvSpPr>
          <p:cNvPr id="16" name="Shape 14"/>
          <p:cNvSpPr/>
          <p:nvPr/>
        </p:nvSpPr>
        <p:spPr>
          <a:xfrm>
            <a:off x="6931152" y="293979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17" name="Text 15"/>
          <p:cNvSpPr/>
          <p:nvPr/>
        </p:nvSpPr>
        <p:spPr>
          <a:xfrm>
            <a:off x="7095744" y="2880360"/>
            <a:ext cx="3657600" cy="246888"/>
          </a:xfrm>
          <a:prstGeom prst="rect">
            <a:avLst/>
          </a:prstGeom>
          <a:noFill/>
          <a:ln/>
        </p:spPr>
        <p:txBody>
          <a:bodyPr wrap="square" lIns="0" tIns="0" rIns="0" bIns="0" rtlCol="0" anchor="ctr">
            <a:normAutofit fontScale="85000" lnSpcReduction="10000"/>
          </a:bodyPr>
          <a:lstStyle/>
          <a:p>
            <a:pPr marL="0" indent="0">
              <a:buNone/>
            </a:pPr>
            <a:r>
              <a:rPr lang="en-US" sz="1220" dirty="0">
                <a:solidFill>
                  <a:srgbClr val="1E293B"/>
                </a:solidFill>
              </a:rPr>
              <a:t>Machine stop commands cannot wait for slow internet round trips.</a:t>
            </a:r>
            <a:endParaRPr lang="en-US" sz="1220" dirty="0"/>
          </a:p>
        </p:txBody>
      </p:sp>
      <p:sp>
        <p:nvSpPr>
          <p:cNvPr id="18" name="Shape 16"/>
          <p:cNvSpPr/>
          <p:nvPr/>
        </p:nvSpPr>
        <p:spPr>
          <a:xfrm>
            <a:off x="6931152" y="3552444"/>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19" name="Text 17"/>
          <p:cNvSpPr/>
          <p:nvPr/>
        </p:nvSpPr>
        <p:spPr>
          <a:xfrm>
            <a:off x="7095744" y="3493008"/>
            <a:ext cx="3566160" cy="246888"/>
          </a:xfrm>
          <a:prstGeom prst="rect">
            <a:avLst/>
          </a:prstGeom>
          <a:noFill/>
          <a:ln/>
        </p:spPr>
        <p:txBody>
          <a:bodyPr wrap="square" lIns="0" tIns="0" rIns="0" bIns="0" rtlCol="0" anchor="ctr">
            <a:normAutofit fontScale="92500"/>
          </a:bodyPr>
          <a:lstStyle/>
          <a:p>
            <a:pPr marL="0" indent="0">
              <a:buNone/>
            </a:pPr>
            <a:r>
              <a:rPr lang="en-US" sz="1220" dirty="0">
                <a:solidFill>
                  <a:srgbClr val="1E293B"/>
                </a:solidFill>
              </a:rPr>
              <a:t>Local processing is better for alarms and control decisions.</a:t>
            </a:r>
            <a:endParaRPr lang="en-US" sz="1220" dirty="0"/>
          </a:p>
        </p:txBody>
      </p:sp>
      <p:sp>
        <p:nvSpPr>
          <p:cNvPr id="20" name="Text 18"/>
          <p:cNvSpPr/>
          <p:nvPr/>
        </p:nvSpPr>
        <p:spPr>
          <a:xfrm>
            <a:off x="6931152" y="4617720"/>
            <a:ext cx="3611880" cy="530352"/>
          </a:xfrm>
          <a:prstGeom prst="rect">
            <a:avLst/>
          </a:prstGeom>
          <a:noFill/>
          <a:ln/>
        </p:spPr>
        <p:txBody>
          <a:bodyPr wrap="square" lIns="254" tIns="254" rIns="254" bIns="254" rtlCol="0" anchor="ctr">
            <a:normAutofit fontScale="92500" lnSpcReduction="20000"/>
          </a:bodyPr>
          <a:lstStyle/>
          <a:p>
            <a:pPr marL="0" indent="0">
              <a:buNone/>
            </a:pPr>
            <a:r>
              <a:rPr lang="en-US" sz="1400" b="1" dirty="0">
                <a:solidFill>
                  <a:srgbClr val="1E293B"/>
                </a:solidFill>
              </a:rPr>
              <a:t>Main message: edge reduces the communication path and keeps response time closer to real-time needs.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Network quality changes the result</a:t>
            </a:r>
            <a:endParaRPr lang="en-US" sz="2800" dirty="0"/>
          </a:p>
        </p:txBody>
      </p:sp>
      <p:sp>
        <p:nvSpPr>
          <p:cNvPr id="5" name="Text 3"/>
          <p:cNvSpPr/>
          <p:nvPr/>
        </p:nvSpPr>
        <p:spPr>
          <a:xfrm>
            <a:off x="530352" y="868680"/>
            <a:ext cx="10241280" cy="274320"/>
          </a:xfrm>
          <a:prstGeom prst="rect">
            <a:avLst/>
          </a:prstGeom>
          <a:noFill/>
          <a:ln/>
        </p:spPr>
        <p:txBody>
          <a:bodyPr wrap="square" lIns="0" tIns="0" rIns="0" bIns="0" rtlCol="0" anchor="ctr">
            <a:normAutofit/>
          </a:bodyPr>
          <a:lstStyle/>
          <a:p>
            <a:pPr marL="0" indent="0">
              <a:buNone/>
            </a:pPr>
            <a:r>
              <a:rPr lang="en-US" sz="1250" dirty="0">
                <a:solidFill>
                  <a:srgbClr val="64748B"/>
                </a:solidFill>
                <a:latin typeface="Aptos" pitchFamily="34" charset="0"/>
                <a:ea typeface="Aptos" pitchFamily="34" charset="-122"/>
                <a:cs typeface="Aptos" pitchFamily="34" charset="-120"/>
              </a:rPr>
              <a:t>Shared or crowded networks increase latency, but cloud is affected more.</a:t>
            </a:r>
            <a:endParaRPr lang="en-US" sz="1250" dirty="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Edge Computing in Industrial Communication • Sections VII–IX</a:t>
            </a:r>
            <a:endParaRPr lang="en-US" sz="85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07</a:t>
            </a:r>
            <a:endParaRPr lang="en-US" sz="850" dirty="0"/>
          </a:p>
        </p:txBody>
      </p:sp>
      <p:sp>
        <p:nvSpPr>
          <p:cNvPr id="8" name="Text 6"/>
          <p:cNvSpPr/>
          <p:nvPr/>
        </p:nvSpPr>
        <p:spPr>
          <a:xfrm>
            <a:off x="731520" y="1417320"/>
            <a:ext cx="5120640" cy="292608"/>
          </a:xfrm>
          <a:prstGeom prst="rect">
            <a:avLst/>
          </a:prstGeom>
          <a:noFill/>
          <a:ln/>
        </p:spPr>
        <p:txBody>
          <a:bodyPr wrap="square" lIns="0" tIns="0" rIns="0" bIns="0" rtlCol="0" anchor="ctr"/>
          <a:lstStyle/>
          <a:p>
            <a:pPr marL="0" indent="0">
              <a:buNone/>
            </a:pPr>
            <a:r>
              <a:rPr lang="en-US" sz="1800" b="1" dirty="0">
                <a:solidFill>
                  <a:srgbClr val="0B172A"/>
                </a:solidFill>
              </a:rPr>
              <a:t>Edge latency increased on shared Wi‑Fi</a:t>
            </a:r>
            <a:endParaRPr lang="en-US" sz="1800" dirty="0"/>
          </a:p>
        </p:txBody>
      </p:sp>
      <p:sp>
        <p:nvSpPr>
          <p:cNvPr id="9" name="Shape 7"/>
          <p:cNvSpPr/>
          <p:nvPr/>
        </p:nvSpPr>
        <p:spPr>
          <a:xfrm>
            <a:off x="914400" y="4526280"/>
            <a:ext cx="1005840" cy="502920"/>
          </a:xfrm>
          <a:prstGeom prst="rect">
            <a:avLst/>
          </a:prstGeom>
          <a:solidFill>
            <a:srgbClr val="14B8A6"/>
          </a:solidFill>
          <a:ln w="12700">
            <a:solidFill>
              <a:srgbClr val="14B8A6">
                <a:alpha val="0"/>
              </a:srgbClr>
            </a:solidFill>
            <a:prstDash val="solid"/>
          </a:ln>
        </p:spPr>
        <p:txBody>
          <a:bodyPr/>
          <a:lstStyle/>
          <a:p>
            <a:endParaRPr lang="en-DE"/>
          </a:p>
        </p:txBody>
      </p:sp>
      <p:sp>
        <p:nvSpPr>
          <p:cNvPr id="10" name="Shape 8"/>
          <p:cNvSpPr/>
          <p:nvPr/>
        </p:nvSpPr>
        <p:spPr>
          <a:xfrm>
            <a:off x="2743200" y="2834640"/>
            <a:ext cx="1005840" cy="2194560"/>
          </a:xfrm>
          <a:prstGeom prst="rect">
            <a:avLst/>
          </a:prstGeom>
          <a:solidFill>
            <a:srgbClr val="F59E0B"/>
          </a:solidFill>
          <a:ln w="12700">
            <a:solidFill>
              <a:srgbClr val="F59E0B">
                <a:alpha val="0"/>
              </a:srgbClr>
            </a:solidFill>
            <a:prstDash val="solid"/>
          </a:ln>
        </p:spPr>
        <p:txBody>
          <a:bodyPr/>
          <a:lstStyle/>
          <a:p>
            <a:endParaRPr lang="en-DE"/>
          </a:p>
        </p:txBody>
      </p:sp>
      <p:sp>
        <p:nvSpPr>
          <p:cNvPr id="11" name="Text 9"/>
          <p:cNvSpPr/>
          <p:nvPr/>
        </p:nvSpPr>
        <p:spPr>
          <a:xfrm>
            <a:off x="777240" y="4160520"/>
            <a:ext cx="1280160" cy="228600"/>
          </a:xfrm>
          <a:prstGeom prst="rect">
            <a:avLst/>
          </a:prstGeom>
          <a:noFill/>
          <a:ln/>
        </p:spPr>
        <p:txBody>
          <a:bodyPr wrap="square" lIns="0" tIns="0" rIns="0" bIns="0" rtlCol="0" anchor="ctr"/>
          <a:lstStyle/>
          <a:p>
            <a:pPr marL="0" indent="0" algn="ctr">
              <a:buNone/>
            </a:pPr>
            <a:r>
              <a:rPr lang="en-US" sz="1300" b="1" dirty="0">
                <a:solidFill>
                  <a:srgbClr val="14B8A6"/>
                </a:solidFill>
              </a:rPr>
              <a:t>95 ms</a:t>
            </a:r>
            <a:endParaRPr lang="en-US" sz="1300" dirty="0"/>
          </a:p>
        </p:txBody>
      </p:sp>
      <p:sp>
        <p:nvSpPr>
          <p:cNvPr id="12" name="Text 10"/>
          <p:cNvSpPr/>
          <p:nvPr/>
        </p:nvSpPr>
        <p:spPr>
          <a:xfrm>
            <a:off x="2578608" y="2468880"/>
            <a:ext cx="1325880" cy="228600"/>
          </a:xfrm>
          <a:prstGeom prst="rect">
            <a:avLst/>
          </a:prstGeom>
          <a:noFill/>
          <a:ln/>
        </p:spPr>
        <p:txBody>
          <a:bodyPr wrap="square" lIns="0" tIns="0" rIns="0" bIns="0" rtlCol="0" anchor="ctr"/>
          <a:lstStyle/>
          <a:p>
            <a:pPr marL="0" indent="0" algn="ctr">
              <a:buNone/>
            </a:pPr>
            <a:r>
              <a:rPr lang="en-US" sz="1300" b="1" dirty="0">
                <a:solidFill>
                  <a:srgbClr val="F59E0B"/>
                </a:solidFill>
              </a:rPr>
              <a:t>422 ms</a:t>
            </a:r>
            <a:endParaRPr lang="en-US" sz="1300" dirty="0"/>
          </a:p>
        </p:txBody>
      </p:sp>
      <p:sp>
        <p:nvSpPr>
          <p:cNvPr id="13" name="Text 11"/>
          <p:cNvSpPr/>
          <p:nvPr/>
        </p:nvSpPr>
        <p:spPr>
          <a:xfrm>
            <a:off x="731520" y="5257800"/>
            <a:ext cx="1417320" cy="219456"/>
          </a:xfrm>
          <a:prstGeom prst="rect">
            <a:avLst/>
          </a:prstGeom>
          <a:noFill/>
          <a:ln/>
        </p:spPr>
        <p:txBody>
          <a:bodyPr wrap="square" lIns="0" tIns="0" rIns="0" bIns="0" rtlCol="0" anchor="ctr"/>
          <a:lstStyle/>
          <a:p>
            <a:pPr marL="0" indent="0" algn="ctr">
              <a:buNone/>
            </a:pPr>
            <a:r>
              <a:rPr lang="en-US" sz="1100" dirty="0">
                <a:solidFill>
                  <a:srgbClr val="64748B"/>
                </a:solidFill>
              </a:rPr>
              <a:t>Home</a:t>
            </a:r>
            <a:endParaRPr lang="en-US" sz="1100" dirty="0"/>
          </a:p>
        </p:txBody>
      </p:sp>
      <p:sp>
        <p:nvSpPr>
          <p:cNvPr id="14" name="Text 12"/>
          <p:cNvSpPr/>
          <p:nvPr/>
        </p:nvSpPr>
        <p:spPr>
          <a:xfrm>
            <a:off x="2423160" y="5257800"/>
            <a:ext cx="1691640" cy="219456"/>
          </a:xfrm>
          <a:prstGeom prst="rect">
            <a:avLst/>
          </a:prstGeom>
          <a:noFill/>
          <a:ln/>
        </p:spPr>
        <p:txBody>
          <a:bodyPr wrap="square" lIns="0" tIns="0" rIns="0" bIns="0" rtlCol="0" anchor="ctr"/>
          <a:lstStyle/>
          <a:p>
            <a:pPr marL="0" indent="0" algn="ctr">
              <a:buNone/>
            </a:pPr>
            <a:r>
              <a:rPr lang="en-US" sz="1100" dirty="0">
                <a:solidFill>
                  <a:srgbClr val="64748B"/>
                </a:solidFill>
              </a:rPr>
              <a:t>HSHL shared</a:t>
            </a:r>
            <a:endParaRPr lang="en-US" sz="1100" dirty="0"/>
          </a:p>
        </p:txBody>
      </p:sp>
      <p:sp>
        <p:nvSpPr>
          <p:cNvPr id="15" name="Shape 13"/>
          <p:cNvSpPr/>
          <p:nvPr/>
        </p:nvSpPr>
        <p:spPr>
          <a:xfrm>
            <a:off x="685800" y="5029200"/>
            <a:ext cx="4114800" cy="0"/>
          </a:xfrm>
          <a:prstGeom prst="line">
            <a:avLst/>
          </a:prstGeom>
          <a:noFill/>
          <a:ln w="15240">
            <a:solidFill>
              <a:srgbClr val="E2E8F0"/>
            </a:solidFill>
            <a:prstDash val="solid"/>
          </a:ln>
        </p:spPr>
        <p:txBody>
          <a:bodyPr/>
          <a:lstStyle/>
          <a:p>
            <a:endParaRPr lang="en-DE"/>
          </a:p>
        </p:txBody>
      </p:sp>
      <p:sp>
        <p:nvSpPr>
          <p:cNvPr id="16" name="Text 14"/>
          <p:cNvSpPr/>
          <p:nvPr/>
        </p:nvSpPr>
        <p:spPr>
          <a:xfrm>
            <a:off x="4572000" y="2880360"/>
            <a:ext cx="2011680" cy="228600"/>
          </a:xfrm>
          <a:prstGeom prst="rect">
            <a:avLst/>
          </a:prstGeom>
          <a:noFill/>
          <a:ln/>
        </p:spPr>
        <p:txBody>
          <a:bodyPr wrap="square" lIns="0" tIns="0" rIns="0" bIns="0" rtlCol="0" anchor="ctr">
            <a:normAutofit fontScale="85000" lnSpcReduction="10000"/>
          </a:bodyPr>
          <a:lstStyle/>
          <a:p>
            <a:pPr marL="0" indent="0">
              <a:buNone/>
            </a:pPr>
            <a:r>
              <a:rPr lang="en-US" sz="1100" b="1" dirty="0">
                <a:solidFill>
                  <a:srgbClr val="64748B"/>
                </a:solidFill>
              </a:rPr>
              <a:t>Increase caused by shared network</a:t>
            </a:r>
            <a:endParaRPr lang="en-US" sz="1100" dirty="0"/>
          </a:p>
        </p:txBody>
      </p:sp>
      <p:sp>
        <p:nvSpPr>
          <p:cNvPr id="17" name="Text 15"/>
          <p:cNvSpPr/>
          <p:nvPr/>
        </p:nvSpPr>
        <p:spPr>
          <a:xfrm>
            <a:off x="4572000" y="3200400"/>
            <a:ext cx="2011680" cy="512064"/>
          </a:xfrm>
          <a:prstGeom prst="rect">
            <a:avLst/>
          </a:prstGeom>
          <a:noFill/>
          <a:ln/>
        </p:spPr>
        <p:txBody>
          <a:bodyPr wrap="square" lIns="0" tIns="0" rIns="0" bIns="0" rtlCol="0" anchor="ctr">
            <a:normAutofit/>
          </a:bodyPr>
          <a:lstStyle/>
          <a:p>
            <a:pPr marL="0" indent="0">
              <a:buNone/>
            </a:pPr>
            <a:r>
              <a:rPr lang="en-US" sz="2800" b="1" dirty="0">
                <a:solidFill>
                  <a:srgbClr val="F59E0B"/>
                </a:solidFill>
                <a:latin typeface="Aptos Display" pitchFamily="34" charset="0"/>
                <a:ea typeface="Aptos Display" pitchFamily="34" charset="-122"/>
                <a:cs typeface="Aptos Display" pitchFamily="34" charset="-120"/>
              </a:rPr>
              <a:t>4.4×</a:t>
            </a:r>
            <a:endParaRPr lang="en-US" sz="2800" dirty="0"/>
          </a:p>
        </p:txBody>
      </p:sp>
      <p:sp>
        <p:nvSpPr>
          <p:cNvPr id="18" name="Text 16"/>
          <p:cNvSpPr/>
          <p:nvPr/>
        </p:nvSpPr>
        <p:spPr>
          <a:xfrm>
            <a:off x="4572000" y="3749040"/>
            <a:ext cx="2011680" cy="292608"/>
          </a:xfrm>
          <a:prstGeom prst="rect">
            <a:avLst/>
          </a:prstGeom>
          <a:noFill/>
          <a:ln/>
        </p:spPr>
        <p:txBody>
          <a:bodyPr wrap="square" lIns="0" tIns="0" rIns="0" bIns="0" rtlCol="0" anchor="ctr">
            <a:normAutofit/>
          </a:bodyPr>
          <a:lstStyle/>
          <a:p>
            <a:pPr marL="0" indent="0">
              <a:buNone/>
            </a:pPr>
            <a:r>
              <a:rPr lang="en-US" sz="1050" dirty="0">
                <a:solidFill>
                  <a:srgbClr val="64748B"/>
                </a:solidFill>
              </a:rPr>
              <a:t>422 ÷ 95</a:t>
            </a:r>
            <a:endParaRPr lang="en-US" sz="1050" dirty="0"/>
          </a:p>
        </p:txBody>
      </p:sp>
      <p:sp>
        <p:nvSpPr>
          <p:cNvPr id="19" name="Shape 17"/>
          <p:cNvSpPr/>
          <p:nvPr/>
        </p:nvSpPr>
        <p:spPr>
          <a:xfrm>
            <a:off x="6720840" y="1417320"/>
            <a:ext cx="0" cy="4343400"/>
          </a:xfrm>
          <a:prstGeom prst="line">
            <a:avLst/>
          </a:prstGeom>
          <a:noFill/>
          <a:ln w="12700">
            <a:solidFill>
              <a:srgbClr val="E2E8F0"/>
            </a:solidFill>
            <a:prstDash val="solid"/>
          </a:ln>
        </p:spPr>
        <p:txBody>
          <a:bodyPr/>
          <a:lstStyle/>
          <a:p>
            <a:endParaRPr lang="en-DE"/>
          </a:p>
        </p:txBody>
      </p:sp>
      <p:sp>
        <p:nvSpPr>
          <p:cNvPr id="20" name="Text 18"/>
          <p:cNvSpPr/>
          <p:nvPr/>
        </p:nvSpPr>
        <p:spPr>
          <a:xfrm>
            <a:off x="7360920" y="1645920"/>
            <a:ext cx="3474720" cy="292608"/>
          </a:xfrm>
          <a:prstGeom prst="rect">
            <a:avLst/>
          </a:prstGeom>
          <a:noFill/>
          <a:ln/>
        </p:spPr>
        <p:txBody>
          <a:bodyPr wrap="square" lIns="0" tIns="0" rIns="0" bIns="0" rtlCol="0" anchor="ctr"/>
          <a:lstStyle/>
          <a:p>
            <a:pPr marL="0" indent="0">
              <a:buNone/>
            </a:pPr>
            <a:r>
              <a:rPr lang="en-US" sz="1800" b="1" dirty="0">
                <a:solidFill>
                  <a:srgbClr val="0B172A"/>
                </a:solidFill>
              </a:rPr>
              <a:t>Recommendation</a:t>
            </a:r>
            <a:endParaRPr lang="en-US" sz="1800" dirty="0"/>
          </a:p>
        </p:txBody>
      </p:sp>
      <p:sp>
        <p:nvSpPr>
          <p:cNvPr id="21" name="Shape 19"/>
          <p:cNvSpPr/>
          <p:nvPr/>
        </p:nvSpPr>
        <p:spPr>
          <a:xfrm>
            <a:off x="7388352" y="239115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2" name="Text 20"/>
          <p:cNvSpPr/>
          <p:nvPr/>
        </p:nvSpPr>
        <p:spPr>
          <a:xfrm>
            <a:off x="7552944" y="2331720"/>
            <a:ext cx="3474720" cy="246888"/>
          </a:xfrm>
          <a:prstGeom prst="rect">
            <a:avLst/>
          </a:prstGeom>
          <a:noFill/>
          <a:ln/>
        </p:spPr>
        <p:txBody>
          <a:bodyPr wrap="square" lIns="0" tIns="0" rIns="0" bIns="0" rtlCol="0" anchor="ctr">
            <a:normAutofit/>
          </a:bodyPr>
          <a:lstStyle/>
          <a:p>
            <a:pPr marL="0" indent="0">
              <a:buNone/>
            </a:pPr>
            <a:r>
              <a:rPr lang="en-US" sz="1220" dirty="0">
                <a:solidFill>
                  <a:srgbClr val="1E293B"/>
                </a:solidFill>
              </a:rPr>
              <a:t>Use a dedicated local industrial network.</a:t>
            </a:r>
            <a:endParaRPr lang="en-US" sz="1220" dirty="0"/>
          </a:p>
        </p:txBody>
      </p:sp>
      <p:sp>
        <p:nvSpPr>
          <p:cNvPr id="23" name="Shape 21"/>
          <p:cNvSpPr/>
          <p:nvPr/>
        </p:nvSpPr>
        <p:spPr>
          <a:xfrm>
            <a:off x="7388352" y="293979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4" name="Text 22"/>
          <p:cNvSpPr/>
          <p:nvPr/>
        </p:nvSpPr>
        <p:spPr>
          <a:xfrm>
            <a:off x="7552944" y="2880360"/>
            <a:ext cx="3611880" cy="246888"/>
          </a:xfrm>
          <a:prstGeom prst="rect">
            <a:avLst/>
          </a:prstGeom>
          <a:noFill/>
          <a:ln/>
        </p:spPr>
        <p:txBody>
          <a:bodyPr wrap="square" lIns="0" tIns="0" rIns="0" bIns="0" rtlCol="0" anchor="ctr">
            <a:normAutofit fontScale="77500" lnSpcReduction="20000"/>
          </a:bodyPr>
          <a:lstStyle/>
          <a:p>
            <a:pPr marL="0" indent="0">
              <a:buNone/>
            </a:pPr>
            <a:r>
              <a:rPr lang="en-US" sz="1220" dirty="0">
                <a:solidFill>
                  <a:srgbClr val="1E293B"/>
                </a:solidFill>
              </a:rPr>
              <a:t>Prefer Industrial Ethernet, private 5G, or reserved wireless channels.</a:t>
            </a:r>
            <a:endParaRPr lang="en-US" sz="1220" dirty="0"/>
          </a:p>
        </p:txBody>
      </p:sp>
      <p:sp>
        <p:nvSpPr>
          <p:cNvPr id="25" name="Shape 23"/>
          <p:cNvSpPr/>
          <p:nvPr/>
        </p:nvSpPr>
        <p:spPr>
          <a:xfrm>
            <a:off x="7388352" y="3735324"/>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6" name="Text 24"/>
          <p:cNvSpPr/>
          <p:nvPr/>
        </p:nvSpPr>
        <p:spPr>
          <a:xfrm>
            <a:off x="7552944" y="3675888"/>
            <a:ext cx="3657600" cy="246888"/>
          </a:xfrm>
          <a:prstGeom prst="rect">
            <a:avLst/>
          </a:prstGeom>
          <a:noFill/>
          <a:ln/>
        </p:spPr>
        <p:txBody>
          <a:bodyPr wrap="square" lIns="0" tIns="0" rIns="0" bIns="0" rtlCol="0" anchor="ctr">
            <a:normAutofit fontScale="85000" lnSpcReduction="10000"/>
          </a:bodyPr>
          <a:lstStyle/>
          <a:p>
            <a:pPr marL="0" indent="0">
              <a:buNone/>
            </a:pPr>
            <a:r>
              <a:rPr lang="en-US" sz="1220" dirty="0">
                <a:solidFill>
                  <a:srgbClr val="1E293B"/>
                </a:solidFill>
              </a:rPr>
              <a:t>Avoid relying only on shared public Wi‑Fi for time-critical control.</a:t>
            </a:r>
            <a:endParaRPr lang="en-US" sz="1220" dirty="0"/>
          </a:p>
        </p:txBody>
      </p:sp>
      <p:sp>
        <p:nvSpPr>
          <p:cNvPr id="27" name="Text 25"/>
          <p:cNvSpPr/>
          <p:nvPr/>
        </p:nvSpPr>
        <p:spPr>
          <a:xfrm>
            <a:off x="7360920" y="4846320"/>
            <a:ext cx="3703320" cy="457200"/>
          </a:xfrm>
          <a:prstGeom prst="rect">
            <a:avLst/>
          </a:prstGeom>
          <a:noFill/>
          <a:ln/>
        </p:spPr>
        <p:txBody>
          <a:bodyPr wrap="square" lIns="254" tIns="254" rIns="254" bIns="254" rtlCol="0" anchor="ctr">
            <a:normAutofit lnSpcReduction="10000"/>
          </a:bodyPr>
          <a:lstStyle/>
          <a:p>
            <a:pPr marL="0" indent="0">
              <a:buNone/>
            </a:pPr>
            <a:r>
              <a:rPr lang="en-US" sz="1500" b="1" dirty="0">
                <a:solidFill>
                  <a:srgbClr val="1E293B"/>
                </a:solidFill>
              </a:rPr>
              <a:t>Even in the worse HSHL network, edge was still about 5.1× faster than cloud.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Latency relation: what increases delay?</a:t>
            </a:r>
            <a:endParaRPr lang="en-US" sz="2800" dirty="0"/>
          </a:p>
        </p:txBody>
      </p:sp>
      <p:sp>
        <p:nvSpPr>
          <p:cNvPr id="5" name="Text 3"/>
          <p:cNvSpPr/>
          <p:nvPr/>
        </p:nvSpPr>
        <p:spPr>
          <a:xfrm>
            <a:off x="530352" y="868680"/>
            <a:ext cx="10241280" cy="274320"/>
          </a:xfrm>
          <a:prstGeom prst="rect">
            <a:avLst/>
          </a:prstGeom>
          <a:noFill/>
          <a:ln/>
        </p:spPr>
        <p:txBody>
          <a:bodyPr wrap="square" lIns="0" tIns="0" rIns="0" bIns="0" rtlCol="0" anchor="ctr">
            <a:normAutofit/>
          </a:bodyPr>
          <a:lstStyle/>
          <a:p>
            <a:pPr marL="0" indent="0">
              <a:buNone/>
            </a:pPr>
            <a:r>
              <a:rPr lang="en-US" sz="1250" dirty="0">
                <a:solidFill>
                  <a:srgbClr val="64748B"/>
                </a:solidFill>
                <a:latin typeface="Aptos" pitchFamily="34" charset="0"/>
                <a:ea typeface="Aptos" pitchFamily="34" charset="-122"/>
                <a:cs typeface="Aptos" pitchFamily="34" charset="-120"/>
              </a:rPr>
              <a:t>The paper discusses latency using distance, bandwidth, data rate, and resources.</a:t>
            </a:r>
            <a:endParaRPr lang="en-US" sz="1250" dirty="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Edge Computing in Industrial Communication • Sections VII–IX</a:t>
            </a:r>
            <a:endParaRPr lang="en-US" sz="85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08</a:t>
            </a:r>
            <a:endParaRPr lang="en-US" sz="850" dirty="0"/>
          </a:p>
        </p:txBody>
      </p:sp>
      <p:sp>
        <p:nvSpPr>
          <p:cNvPr id="8" name="Text 6"/>
          <p:cNvSpPr/>
          <p:nvPr/>
        </p:nvSpPr>
        <p:spPr>
          <a:xfrm>
            <a:off x="822960" y="1463040"/>
            <a:ext cx="4434840" cy="713232"/>
          </a:xfrm>
          <a:prstGeom prst="rect">
            <a:avLst/>
          </a:prstGeom>
          <a:noFill/>
          <a:ln/>
        </p:spPr>
        <p:txBody>
          <a:bodyPr wrap="square" lIns="0" tIns="0" rIns="0" bIns="0" rtlCol="0" anchor="ctr"/>
          <a:lstStyle/>
          <a:p>
            <a:pPr marL="0" indent="0">
              <a:buNone/>
            </a:pPr>
            <a:r>
              <a:rPr lang="en-US" sz="3800" b="1" dirty="0">
                <a:solidFill>
                  <a:srgbClr val="2563EB"/>
                </a:solidFill>
                <a:latin typeface="Aptos Display" pitchFamily="34" charset="0"/>
                <a:ea typeface="Aptos Display" pitchFamily="34" charset="-122"/>
                <a:cs typeface="Aptos Display" pitchFamily="34" charset="-120"/>
              </a:rPr>
              <a:t>C = X / L + D / R</a:t>
            </a:r>
            <a:endParaRPr lang="en-US" sz="3800" dirty="0"/>
          </a:p>
        </p:txBody>
      </p:sp>
      <p:sp>
        <p:nvSpPr>
          <p:cNvPr id="9" name="Text 7"/>
          <p:cNvSpPr/>
          <p:nvPr/>
        </p:nvSpPr>
        <p:spPr>
          <a:xfrm>
            <a:off x="914400" y="2331720"/>
            <a:ext cx="2011680" cy="256032"/>
          </a:xfrm>
          <a:prstGeom prst="rect">
            <a:avLst/>
          </a:prstGeom>
          <a:noFill/>
          <a:ln/>
        </p:spPr>
        <p:txBody>
          <a:bodyPr wrap="square" lIns="0" tIns="0" rIns="0" bIns="0" rtlCol="0" anchor="ctr"/>
          <a:lstStyle/>
          <a:p>
            <a:pPr marL="0" indent="0">
              <a:buNone/>
            </a:pPr>
            <a:r>
              <a:rPr lang="en-US" sz="1400" b="1" dirty="0">
                <a:solidFill>
                  <a:srgbClr val="0B172A"/>
                </a:solidFill>
              </a:rPr>
              <a:t>C = latency</a:t>
            </a:r>
            <a:endParaRPr lang="en-US" sz="1400" dirty="0"/>
          </a:p>
        </p:txBody>
      </p:sp>
      <p:sp>
        <p:nvSpPr>
          <p:cNvPr id="10" name="Text 8"/>
          <p:cNvSpPr/>
          <p:nvPr/>
        </p:nvSpPr>
        <p:spPr>
          <a:xfrm>
            <a:off x="914400" y="2697480"/>
            <a:ext cx="5212080" cy="256032"/>
          </a:xfrm>
          <a:prstGeom prst="rect">
            <a:avLst/>
          </a:prstGeom>
          <a:noFill/>
          <a:ln/>
        </p:spPr>
        <p:txBody>
          <a:bodyPr wrap="square" lIns="0" tIns="0" rIns="0" bIns="0" rtlCol="0" anchor="ctr">
            <a:normAutofit/>
          </a:bodyPr>
          <a:lstStyle/>
          <a:p>
            <a:pPr marL="0" indent="0">
              <a:buNone/>
            </a:pPr>
            <a:r>
              <a:rPr lang="en-US" sz="1240" dirty="0">
                <a:solidFill>
                  <a:srgbClr val="64748B"/>
                </a:solidFill>
              </a:rPr>
              <a:t>X = distance  •  L = bandwidth  •  D = data rate  •  R = computing resources</a:t>
            </a:r>
            <a:endParaRPr lang="en-US" sz="1240" dirty="0"/>
          </a:p>
        </p:txBody>
      </p:sp>
      <p:sp>
        <p:nvSpPr>
          <p:cNvPr id="11" name="Text 9"/>
          <p:cNvSpPr/>
          <p:nvPr/>
        </p:nvSpPr>
        <p:spPr>
          <a:xfrm>
            <a:off x="822960" y="3703320"/>
            <a:ext cx="1645920" cy="228600"/>
          </a:xfrm>
          <a:prstGeom prst="rect">
            <a:avLst/>
          </a:prstGeom>
          <a:noFill/>
          <a:ln/>
        </p:spPr>
        <p:txBody>
          <a:bodyPr wrap="square" lIns="0" tIns="0" rIns="0" bIns="0" rtlCol="0" anchor="ctr"/>
          <a:lstStyle/>
          <a:p>
            <a:pPr marL="0" indent="0">
              <a:buNone/>
            </a:pPr>
            <a:r>
              <a:rPr lang="en-US" sz="1500" b="1" dirty="0">
                <a:solidFill>
                  <a:srgbClr val="10B981"/>
                </a:solidFill>
              </a:rPr>
              <a:t>Edge path</a:t>
            </a:r>
            <a:endParaRPr lang="en-US" sz="1500" dirty="0"/>
          </a:p>
        </p:txBody>
      </p:sp>
      <p:sp>
        <p:nvSpPr>
          <p:cNvPr id="12" name="Shape 10"/>
          <p:cNvSpPr/>
          <p:nvPr/>
        </p:nvSpPr>
        <p:spPr>
          <a:xfrm>
            <a:off x="2103120" y="3822192"/>
            <a:ext cx="2743200" cy="0"/>
          </a:xfrm>
          <a:prstGeom prst="line">
            <a:avLst/>
          </a:prstGeom>
          <a:noFill/>
          <a:ln w="50800">
            <a:solidFill>
              <a:srgbClr val="10B981"/>
            </a:solidFill>
            <a:prstDash val="solid"/>
            <a:tailEnd type="triangle"/>
          </a:ln>
        </p:spPr>
        <p:txBody>
          <a:bodyPr/>
          <a:lstStyle/>
          <a:p>
            <a:endParaRPr lang="en-DE"/>
          </a:p>
        </p:txBody>
      </p:sp>
      <p:sp>
        <p:nvSpPr>
          <p:cNvPr id="13" name="Text 11"/>
          <p:cNvSpPr/>
          <p:nvPr/>
        </p:nvSpPr>
        <p:spPr>
          <a:xfrm>
            <a:off x="2834640" y="4041648"/>
            <a:ext cx="1097280" cy="201168"/>
          </a:xfrm>
          <a:prstGeom prst="rect">
            <a:avLst/>
          </a:prstGeom>
          <a:noFill/>
          <a:ln/>
        </p:spPr>
        <p:txBody>
          <a:bodyPr wrap="square" lIns="0" tIns="0" rIns="0" bIns="0" rtlCol="0" anchor="ctr"/>
          <a:lstStyle/>
          <a:p>
            <a:pPr marL="0" indent="0" algn="ctr">
              <a:buNone/>
            </a:pPr>
            <a:r>
              <a:rPr lang="en-US" sz="1150" b="1" dirty="0">
                <a:solidFill>
                  <a:srgbClr val="10B981"/>
                </a:solidFill>
              </a:rPr>
              <a:t>short X</a:t>
            </a:r>
            <a:endParaRPr lang="en-US" sz="1150" dirty="0"/>
          </a:p>
        </p:txBody>
      </p:sp>
      <p:sp>
        <p:nvSpPr>
          <p:cNvPr id="14" name="Text 12"/>
          <p:cNvSpPr/>
          <p:nvPr/>
        </p:nvSpPr>
        <p:spPr>
          <a:xfrm>
            <a:off x="822960" y="4754880"/>
            <a:ext cx="1645920" cy="228600"/>
          </a:xfrm>
          <a:prstGeom prst="rect">
            <a:avLst/>
          </a:prstGeom>
          <a:noFill/>
          <a:ln/>
        </p:spPr>
        <p:txBody>
          <a:bodyPr wrap="square" lIns="0" tIns="0" rIns="0" bIns="0" rtlCol="0" anchor="ctr"/>
          <a:lstStyle/>
          <a:p>
            <a:pPr marL="0" indent="0">
              <a:buNone/>
            </a:pPr>
            <a:r>
              <a:rPr lang="en-US" sz="1500" b="1" dirty="0">
                <a:solidFill>
                  <a:srgbClr val="F59E0B"/>
                </a:solidFill>
              </a:rPr>
              <a:t>Cloud path</a:t>
            </a:r>
            <a:endParaRPr lang="en-US" sz="1500" dirty="0"/>
          </a:p>
        </p:txBody>
      </p:sp>
      <p:sp>
        <p:nvSpPr>
          <p:cNvPr id="15" name="Shape 13"/>
          <p:cNvSpPr/>
          <p:nvPr/>
        </p:nvSpPr>
        <p:spPr>
          <a:xfrm>
            <a:off x="2103120" y="4873752"/>
            <a:ext cx="4754880" cy="0"/>
          </a:xfrm>
          <a:prstGeom prst="line">
            <a:avLst/>
          </a:prstGeom>
          <a:noFill/>
          <a:ln w="50800">
            <a:solidFill>
              <a:srgbClr val="F59E0B"/>
            </a:solidFill>
            <a:prstDash val="solid"/>
            <a:tailEnd type="triangle"/>
          </a:ln>
        </p:spPr>
        <p:txBody>
          <a:bodyPr/>
          <a:lstStyle/>
          <a:p>
            <a:endParaRPr lang="en-DE"/>
          </a:p>
        </p:txBody>
      </p:sp>
      <p:sp>
        <p:nvSpPr>
          <p:cNvPr id="16" name="Text 14"/>
          <p:cNvSpPr/>
          <p:nvPr/>
        </p:nvSpPr>
        <p:spPr>
          <a:xfrm>
            <a:off x="3840480" y="5093208"/>
            <a:ext cx="1645920" cy="201168"/>
          </a:xfrm>
          <a:prstGeom prst="rect">
            <a:avLst/>
          </a:prstGeom>
          <a:noFill/>
          <a:ln/>
        </p:spPr>
        <p:txBody>
          <a:bodyPr wrap="square" lIns="0" tIns="0" rIns="0" bIns="0" rtlCol="0" anchor="ctr"/>
          <a:lstStyle/>
          <a:p>
            <a:pPr marL="0" indent="0" algn="ctr">
              <a:buNone/>
            </a:pPr>
            <a:r>
              <a:rPr lang="en-US" sz="1150" b="1" dirty="0">
                <a:solidFill>
                  <a:srgbClr val="F59E0B"/>
                </a:solidFill>
              </a:rPr>
              <a:t>large internet X</a:t>
            </a:r>
            <a:endParaRPr lang="en-US" sz="1150" dirty="0"/>
          </a:p>
        </p:txBody>
      </p:sp>
      <p:sp>
        <p:nvSpPr>
          <p:cNvPr id="17" name="Shape 15"/>
          <p:cNvSpPr/>
          <p:nvPr/>
        </p:nvSpPr>
        <p:spPr>
          <a:xfrm>
            <a:off x="7360920" y="1508760"/>
            <a:ext cx="3886200" cy="4434840"/>
          </a:xfrm>
          <a:prstGeom prst="roundRect">
            <a:avLst>
              <a:gd name="adj" fmla="val 1412"/>
            </a:avLst>
          </a:prstGeom>
          <a:solidFill>
            <a:srgbClr val="FFFFFF"/>
          </a:solidFill>
          <a:ln w="12700">
            <a:solidFill>
              <a:srgbClr val="E5E7EB"/>
            </a:solidFill>
            <a:prstDash val="solid"/>
          </a:ln>
          <a:effectLst>
            <a:outerShdw blurRad="19050" dist="12700" dir="2700000" algn="bl" rotWithShape="0">
              <a:srgbClr val="000000">
                <a:alpha val="8000"/>
              </a:srgbClr>
            </a:outerShdw>
          </a:effectLst>
        </p:spPr>
        <p:txBody>
          <a:bodyPr/>
          <a:lstStyle/>
          <a:p>
            <a:endParaRPr lang="en-DE"/>
          </a:p>
        </p:txBody>
      </p:sp>
      <p:sp>
        <p:nvSpPr>
          <p:cNvPr id="18" name="Text 16"/>
          <p:cNvSpPr/>
          <p:nvPr/>
        </p:nvSpPr>
        <p:spPr>
          <a:xfrm>
            <a:off x="7680960" y="1874520"/>
            <a:ext cx="3291840" cy="274320"/>
          </a:xfrm>
          <a:prstGeom prst="rect">
            <a:avLst/>
          </a:prstGeom>
          <a:noFill/>
          <a:ln/>
        </p:spPr>
        <p:txBody>
          <a:bodyPr wrap="square" lIns="0" tIns="0" rIns="0" bIns="0" rtlCol="0" anchor="ctr"/>
          <a:lstStyle/>
          <a:p>
            <a:pPr marL="0" indent="0">
              <a:buNone/>
            </a:pPr>
            <a:r>
              <a:rPr lang="en-US" sz="1800" b="1" dirty="0">
                <a:solidFill>
                  <a:srgbClr val="0B172A"/>
                </a:solidFill>
              </a:rPr>
              <a:t>Interpretation</a:t>
            </a:r>
            <a:endParaRPr lang="en-US" sz="1800" dirty="0"/>
          </a:p>
        </p:txBody>
      </p:sp>
      <p:sp>
        <p:nvSpPr>
          <p:cNvPr id="19" name="Shape 17"/>
          <p:cNvSpPr/>
          <p:nvPr/>
        </p:nvSpPr>
        <p:spPr>
          <a:xfrm>
            <a:off x="7699248" y="257403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0" name="Text 18"/>
          <p:cNvSpPr/>
          <p:nvPr/>
        </p:nvSpPr>
        <p:spPr>
          <a:xfrm>
            <a:off x="7863840" y="2514600"/>
            <a:ext cx="3154680" cy="246888"/>
          </a:xfrm>
          <a:prstGeom prst="rect">
            <a:avLst/>
          </a:prstGeom>
          <a:noFill/>
          <a:ln/>
        </p:spPr>
        <p:txBody>
          <a:bodyPr wrap="square" lIns="0" tIns="0" rIns="0" bIns="0" rtlCol="0" anchor="ctr">
            <a:normAutofit fontScale="85000" lnSpcReduction="10000"/>
          </a:bodyPr>
          <a:lstStyle/>
          <a:p>
            <a:pPr marL="0" indent="0">
              <a:buNone/>
            </a:pPr>
            <a:r>
              <a:rPr lang="en-US" sz="1220" dirty="0">
                <a:solidFill>
                  <a:srgbClr val="1E293B"/>
                </a:solidFill>
              </a:rPr>
              <a:t>Edge reduces the distance X because processing is local.</a:t>
            </a:r>
            <a:endParaRPr lang="en-US" sz="1220" dirty="0"/>
          </a:p>
        </p:txBody>
      </p:sp>
      <p:sp>
        <p:nvSpPr>
          <p:cNvPr id="21" name="Shape 19"/>
          <p:cNvSpPr/>
          <p:nvPr/>
        </p:nvSpPr>
        <p:spPr>
          <a:xfrm>
            <a:off x="7699248" y="330555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2" name="Text 20"/>
          <p:cNvSpPr/>
          <p:nvPr/>
        </p:nvSpPr>
        <p:spPr>
          <a:xfrm>
            <a:off x="7863840" y="3246120"/>
            <a:ext cx="3154680" cy="246888"/>
          </a:xfrm>
          <a:prstGeom prst="rect">
            <a:avLst/>
          </a:prstGeom>
          <a:noFill/>
          <a:ln/>
        </p:spPr>
        <p:txBody>
          <a:bodyPr wrap="square" lIns="0" tIns="0" rIns="0" bIns="0" rtlCol="0" anchor="ctr">
            <a:normAutofit fontScale="92500"/>
          </a:bodyPr>
          <a:lstStyle/>
          <a:p>
            <a:pPr marL="0" indent="0">
              <a:buNone/>
            </a:pPr>
            <a:r>
              <a:rPr lang="en-US" sz="1220" dirty="0">
                <a:solidFill>
                  <a:srgbClr val="1E293B"/>
                </a:solidFill>
              </a:rPr>
              <a:t>A shared network lowers available bandwidth L.</a:t>
            </a:r>
            <a:endParaRPr lang="en-US" sz="1220" dirty="0"/>
          </a:p>
        </p:txBody>
      </p:sp>
      <p:sp>
        <p:nvSpPr>
          <p:cNvPr id="23" name="Shape 21"/>
          <p:cNvSpPr/>
          <p:nvPr/>
        </p:nvSpPr>
        <p:spPr>
          <a:xfrm>
            <a:off x="7699248" y="403707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4" name="Text 22"/>
          <p:cNvSpPr/>
          <p:nvPr/>
        </p:nvSpPr>
        <p:spPr>
          <a:xfrm>
            <a:off x="7863840" y="3977640"/>
            <a:ext cx="3154680" cy="246888"/>
          </a:xfrm>
          <a:prstGeom prst="rect">
            <a:avLst/>
          </a:prstGeom>
          <a:noFill/>
          <a:ln/>
        </p:spPr>
        <p:txBody>
          <a:bodyPr wrap="square" lIns="0" tIns="0" rIns="0" bIns="0" rtlCol="0" anchor="ctr">
            <a:normAutofit fontScale="77500" lnSpcReduction="20000"/>
          </a:bodyPr>
          <a:lstStyle/>
          <a:p>
            <a:pPr marL="0" indent="0">
              <a:buNone/>
            </a:pPr>
            <a:r>
              <a:rPr lang="en-US" sz="1220" dirty="0">
                <a:solidFill>
                  <a:srgbClr val="1E293B"/>
                </a:solidFill>
              </a:rPr>
              <a:t>Cloud routes are longer, so strict millisecond response is harder.</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1280160"/>
          </a:xfrm>
          <a:prstGeom prst="rect">
            <a:avLst/>
          </a:prstGeom>
          <a:solidFill>
            <a:srgbClr val="0F1C2E"/>
          </a:solidFill>
          <a:ln w="12700">
            <a:solidFill>
              <a:srgbClr val="0F1C2E"/>
            </a:solidFill>
            <a:prstDash val="solid"/>
          </a:ln>
        </p:spPr>
        <p:txBody>
          <a:bodyPr/>
          <a:lstStyle/>
          <a:p>
            <a:endParaRPr lang="en-DE" sz="2400"/>
          </a:p>
        </p:txBody>
      </p:sp>
      <p:sp>
        <p:nvSpPr>
          <p:cNvPr id="3" name="Text 1"/>
          <p:cNvSpPr/>
          <p:nvPr/>
        </p:nvSpPr>
        <p:spPr>
          <a:xfrm>
            <a:off x="609600" y="0"/>
            <a:ext cx="9509760" cy="1280160"/>
          </a:xfrm>
          <a:prstGeom prst="rect">
            <a:avLst/>
          </a:prstGeom>
          <a:noFill/>
          <a:ln/>
        </p:spPr>
        <p:txBody>
          <a:bodyPr wrap="square" lIns="0" tIns="0" rIns="0" bIns="0" rtlCol="0" anchor="ctr"/>
          <a:lstStyle/>
          <a:p>
            <a:r>
              <a:rPr lang="en-US" sz="3467" b="1" dirty="0">
                <a:solidFill>
                  <a:srgbClr val="FFFFFF"/>
                </a:solidFill>
                <a:latin typeface="Cambria" pitchFamily="34" charset="0"/>
                <a:ea typeface="Cambria" pitchFamily="34" charset="-122"/>
                <a:cs typeface="Cambria" pitchFamily="34" charset="-120"/>
              </a:rPr>
              <a:t>Edge vs. Cloud: Full Comparison</a:t>
            </a:r>
            <a:endParaRPr lang="en-US" sz="3467" dirty="0"/>
          </a:p>
        </p:txBody>
      </p:sp>
      <p:sp>
        <p:nvSpPr>
          <p:cNvPr id="4" name="Text 2"/>
          <p:cNvSpPr/>
          <p:nvPr/>
        </p:nvSpPr>
        <p:spPr>
          <a:xfrm>
            <a:off x="9387840" y="0"/>
            <a:ext cx="2438400" cy="1280160"/>
          </a:xfrm>
          <a:prstGeom prst="rect">
            <a:avLst/>
          </a:prstGeom>
          <a:noFill/>
          <a:ln/>
        </p:spPr>
        <p:txBody>
          <a:bodyPr wrap="square" lIns="0" tIns="0" rIns="0" bIns="0" rtlCol="0" anchor="ctr"/>
          <a:lstStyle/>
          <a:p>
            <a:pPr algn="r"/>
            <a:r>
              <a:rPr lang="en-US" sz="1733" b="1" dirty="0">
                <a:solidFill>
                  <a:srgbClr val="00B4D8"/>
                </a:solidFill>
                <a:latin typeface="Calibri" pitchFamily="34" charset="0"/>
                <a:ea typeface="Calibri" pitchFamily="34" charset="-122"/>
                <a:cs typeface="Calibri" pitchFamily="34" charset="-120"/>
              </a:rPr>
              <a:t>§ IX · Table III</a:t>
            </a:r>
            <a:endParaRPr lang="en-US" sz="1733" dirty="0"/>
          </a:p>
        </p:txBody>
      </p:sp>
      <p:graphicFrame>
        <p:nvGraphicFramePr>
          <p:cNvPr id="8" name="Table 0"/>
          <p:cNvGraphicFramePr>
            <a:graphicFrameLocks noGrp="1"/>
          </p:cNvGraphicFramePr>
          <p:nvPr/>
        </p:nvGraphicFramePr>
        <p:xfrm>
          <a:off x="426720" y="1402080"/>
          <a:ext cx="11338560" cy="3998976"/>
        </p:xfrm>
        <a:graphic>
          <a:graphicData uri="http://schemas.openxmlformats.org/drawingml/2006/table">
            <a:tbl>
              <a:tblPr/>
              <a:tblGrid>
                <a:gridCol w="4693920">
                  <a:extLst>
                    <a:ext uri="{9D8B030D-6E8A-4147-A177-3AD203B41FA5}">
                      <a16:colId xmlns:a16="http://schemas.microsoft.com/office/drawing/2014/main" val="20000"/>
                    </a:ext>
                  </a:extLst>
                </a:gridCol>
                <a:gridCol w="3322320">
                  <a:extLst>
                    <a:ext uri="{9D8B030D-6E8A-4147-A177-3AD203B41FA5}">
                      <a16:colId xmlns:a16="http://schemas.microsoft.com/office/drawing/2014/main" val="20001"/>
                    </a:ext>
                  </a:extLst>
                </a:gridCol>
                <a:gridCol w="3322320">
                  <a:extLst>
                    <a:ext uri="{9D8B030D-6E8A-4147-A177-3AD203B41FA5}">
                      <a16:colId xmlns:a16="http://schemas.microsoft.com/office/drawing/2014/main" val="20002"/>
                    </a:ext>
                  </a:extLst>
                </a:gridCol>
              </a:tblGrid>
              <a:tr h="499872">
                <a:tc>
                  <a:txBody>
                    <a:bodyPr/>
                    <a:lstStyle/>
                    <a:p>
                      <a:pPr marL="0" indent="0">
                        <a:buNone/>
                      </a:pPr>
                      <a:r>
                        <a:rPr lang="en-US" sz="1600" b="1" dirty="0">
                          <a:solidFill>
                            <a:srgbClr val="FFFFFF"/>
                          </a:solidFill>
                          <a:latin typeface="Calibri" pitchFamily="34" charset="0"/>
                          <a:ea typeface="Calibri" pitchFamily="34" charset="-122"/>
                          <a:cs typeface="Calibri" pitchFamily="34" charset="-120"/>
                        </a:rPr>
                        <a:t>Criterion</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C2E"/>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Edge Computing</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65F46"/>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Cloud Computing</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7C2D12"/>
                    </a:solidFill>
                  </a:tcPr>
                </a:tc>
                <a:extLst>
                  <a:ext uri="{0D108BD9-81ED-4DB2-BD59-A6C34878D82A}">
                    <a16:rowId xmlns:a16="http://schemas.microsoft.com/office/drawing/2014/main" val="10000"/>
                  </a:ext>
                </a:extLst>
              </a:tr>
              <a:tr h="499872">
                <a:tc>
                  <a:txBody>
                    <a:bodyPr/>
                    <a:lstStyle/>
                    <a:p>
                      <a:pPr marL="0" indent="0">
                        <a:buNone/>
                      </a:pPr>
                      <a:r>
                        <a:rPr lang="en-US" sz="1600" dirty="0">
                          <a:solidFill>
                            <a:srgbClr val="1E293B"/>
                          </a:solidFill>
                          <a:latin typeface="Calibri" pitchFamily="34" charset="0"/>
                          <a:ea typeface="Calibri" pitchFamily="34" charset="-122"/>
                          <a:cs typeface="Calibri" pitchFamily="34" charset="-120"/>
                        </a:rPr>
                        <a:t>Latency (stable network)</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dirty="0">
                          <a:solidFill>
                            <a:srgbClr val="047857"/>
                          </a:solidFill>
                          <a:latin typeface="Calibri" pitchFamily="34" charset="0"/>
                          <a:ea typeface="Calibri" pitchFamily="34" charset="-122"/>
                          <a:cs typeface="Calibri" pitchFamily="34" charset="-120"/>
                        </a:rPr>
                        <a:t>95 ms</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b="1" dirty="0">
                          <a:solidFill>
                            <a:srgbClr val="92400E"/>
                          </a:solidFill>
                          <a:latin typeface="Calibri" pitchFamily="34" charset="0"/>
                          <a:ea typeface="Calibri" pitchFamily="34" charset="-122"/>
                          <a:cs typeface="Calibri" pitchFamily="34" charset="-120"/>
                        </a:rPr>
                        <a:t>510 ms</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01"/>
                  </a:ext>
                </a:extLst>
              </a:tr>
              <a:tr h="499872">
                <a:tc>
                  <a:txBody>
                    <a:bodyPr/>
                    <a:lstStyle/>
                    <a:p>
                      <a:pPr marL="0" indent="0">
                        <a:buNone/>
                      </a:pPr>
                      <a:r>
                        <a:rPr lang="en-US" sz="1600" dirty="0">
                          <a:solidFill>
                            <a:srgbClr val="1E293B"/>
                          </a:solidFill>
                          <a:latin typeface="Calibri" pitchFamily="34" charset="0"/>
                          <a:ea typeface="Calibri" pitchFamily="34" charset="-122"/>
                          <a:cs typeface="Calibri" pitchFamily="34" charset="-120"/>
                        </a:rPr>
                        <a:t>Latency (shared network)</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dirty="0">
                          <a:solidFill>
                            <a:srgbClr val="047857"/>
                          </a:solidFill>
                          <a:latin typeface="Calibri" pitchFamily="34" charset="0"/>
                          <a:ea typeface="Calibri" pitchFamily="34" charset="-122"/>
                          <a:cs typeface="Calibri" pitchFamily="34" charset="-120"/>
                        </a:rPr>
                        <a:t>422 ms</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b="1" dirty="0">
                          <a:solidFill>
                            <a:srgbClr val="DC2626"/>
                          </a:solidFill>
                          <a:latin typeface="Calibri" pitchFamily="34" charset="0"/>
                          <a:ea typeface="Calibri" pitchFamily="34" charset="-122"/>
                          <a:cs typeface="Calibri" pitchFamily="34" charset="-120"/>
                        </a:rPr>
                        <a:t>2,170 ms</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EF2F2"/>
                    </a:solidFill>
                  </a:tcPr>
                </a:tc>
                <a:extLst>
                  <a:ext uri="{0D108BD9-81ED-4DB2-BD59-A6C34878D82A}">
                    <a16:rowId xmlns:a16="http://schemas.microsoft.com/office/drawing/2014/main" val="10002"/>
                  </a:ext>
                </a:extLst>
              </a:tr>
              <a:tr h="499872">
                <a:tc>
                  <a:txBody>
                    <a:bodyPr/>
                    <a:lstStyle/>
                    <a:p>
                      <a:pPr marL="0" indent="0">
                        <a:buNone/>
                      </a:pPr>
                      <a:r>
                        <a:rPr lang="en-US" sz="1600" dirty="0">
                          <a:solidFill>
                            <a:srgbClr val="1E293B"/>
                          </a:solidFill>
                          <a:latin typeface="Calibri" pitchFamily="34" charset="0"/>
                          <a:ea typeface="Calibri" pitchFamily="34" charset="-122"/>
                          <a:cs typeface="Calibri" pitchFamily="34" charset="-120"/>
                        </a:rPr>
                        <a:t>Speed advantage</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gridSpan="2">
                  <a:txBody>
                    <a:bodyPr/>
                    <a:lstStyle/>
                    <a:p>
                      <a:pPr marL="0" indent="0" algn="ctr">
                        <a:buNone/>
                      </a:pPr>
                      <a:r>
                        <a:rPr lang="en-US" sz="1600" b="1" dirty="0">
                          <a:solidFill>
                            <a:srgbClr val="1D4ED8"/>
                          </a:solidFill>
                          <a:latin typeface="Calibri" pitchFamily="34" charset="0"/>
                          <a:ea typeface="Calibri" pitchFamily="34" charset="-122"/>
                          <a:cs typeface="Calibri" pitchFamily="34" charset="-120"/>
                        </a:rPr>
                        <a:t>5.1× – 5.4× faster in every test</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hMerge="1">
                  <a:txBody>
                    <a:bodyPr/>
                    <a:lstStyle/>
                    <a:p>
                      <a:endParaRPr lang="en-DE"/>
                    </a:p>
                  </a:txBody>
                  <a:tcPr/>
                </a:tc>
                <a:extLst>
                  <a:ext uri="{0D108BD9-81ED-4DB2-BD59-A6C34878D82A}">
                    <a16:rowId xmlns:a16="http://schemas.microsoft.com/office/drawing/2014/main" val="10003"/>
                  </a:ext>
                </a:extLst>
              </a:tr>
              <a:tr h="499872">
                <a:tc>
                  <a:txBody>
                    <a:bodyPr/>
                    <a:lstStyle/>
                    <a:p>
                      <a:pPr marL="0" indent="0">
                        <a:buNone/>
                      </a:pPr>
                      <a:r>
                        <a:rPr lang="en-US" sz="1600" dirty="0">
                          <a:solidFill>
                            <a:srgbClr val="1E293B"/>
                          </a:solidFill>
                          <a:latin typeface="Calibri" pitchFamily="34" charset="0"/>
                          <a:ea typeface="Calibri" pitchFamily="34" charset="-122"/>
                          <a:cs typeface="Calibri" pitchFamily="34" charset="-120"/>
                        </a:rPr>
                        <a:t>Offline operation</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dirty="0">
                          <a:solidFill>
                            <a:srgbClr val="047857"/>
                          </a:solidFill>
                          <a:latin typeface="Calibri" pitchFamily="34" charset="0"/>
                          <a:ea typeface="Calibri" pitchFamily="34" charset="-122"/>
                          <a:cs typeface="Calibri" pitchFamily="34" charset="-120"/>
                        </a:rPr>
                        <a:t>✓  Yes</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b="1" dirty="0">
                          <a:solidFill>
                            <a:srgbClr val="DC2626"/>
                          </a:solidFill>
                          <a:latin typeface="Calibri" pitchFamily="34" charset="0"/>
                          <a:ea typeface="Calibri" pitchFamily="34" charset="-122"/>
                          <a:cs typeface="Calibri" pitchFamily="34" charset="-120"/>
                        </a:rPr>
                        <a:t>✗  No</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EF2F2"/>
                    </a:solidFill>
                  </a:tcPr>
                </a:tc>
                <a:extLst>
                  <a:ext uri="{0D108BD9-81ED-4DB2-BD59-A6C34878D82A}">
                    <a16:rowId xmlns:a16="http://schemas.microsoft.com/office/drawing/2014/main" val="10004"/>
                  </a:ext>
                </a:extLst>
              </a:tr>
              <a:tr h="499872">
                <a:tc>
                  <a:txBody>
                    <a:bodyPr/>
                    <a:lstStyle/>
                    <a:p>
                      <a:pPr marL="0" indent="0">
                        <a:buNone/>
                      </a:pPr>
                      <a:r>
                        <a:rPr lang="en-US" sz="1600" dirty="0">
                          <a:solidFill>
                            <a:srgbClr val="1E293B"/>
                          </a:solidFill>
                          <a:latin typeface="Calibri" pitchFamily="34" charset="0"/>
                          <a:ea typeface="Calibri" pitchFamily="34" charset="-122"/>
                          <a:cs typeface="Calibri" pitchFamily="34" charset="-120"/>
                        </a:rPr>
                        <a:t>Suitable for real-time</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dirty="0">
                          <a:solidFill>
                            <a:srgbClr val="047857"/>
                          </a:solidFill>
                          <a:latin typeface="Calibri" pitchFamily="34" charset="0"/>
                          <a:ea typeface="Calibri" pitchFamily="34" charset="-122"/>
                          <a:cs typeface="Calibri" pitchFamily="34" charset="-120"/>
                        </a:rPr>
                        <a:t>✓  Yes</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dirty="0">
                          <a:solidFill>
                            <a:srgbClr val="92400E"/>
                          </a:solidFill>
                          <a:latin typeface="Calibri" pitchFamily="34" charset="0"/>
                          <a:ea typeface="Calibri" pitchFamily="34" charset="-122"/>
                          <a:cs typeface="Calibri" pitchFamily="34" charset="-120"/>
                        </a:rPr>
                        <a:t>Limited</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05"/>
                  </a:ext>
                </a:extLst>
              </a:tr>
              <a:tr h="499872">
                <a:tc>
                  <a:txBody>
                    <a:bodyPr/>
                    <a:lstStyle/>
                    <a:p>
                      <a:pPr marL="0" indent="0">
                        <a:buNone/>
                      </a:pPr>
                      <a:r>
                        <a:rPr lang="en-US" sz="1600" dirty="0">
                          <a:solidFill>
                            <a:srgbClr val="1E293B"/>
                          </a:solidFill>
                          <a:latin typeface="Calibri" pitchFamily="34" charset="0"/>
                          <a:ea typeface="Calibri" pitchFamily="34" charset="-122"/>
                          <a:cs typeface="Calibri" pitchFamily="34" charset="-120"/>
                        </a:rPr>
                        <a:t>Network dependency</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dirty="0">
                          <a:solidFill>
                            <a:srgbClr val="047857"/>
                          </a:solidFill>
                          <a:latin typeface="Calibri" pitchFamily="34" charset="0"/>
                          <a:ea typeface="Calibri" pitchFamily="34" charset="-122"/>
                          <a:cs typeface="Calibri" pitchFamily="34" charset="-120"/>
                        </a:rPr>
                        <a:t>Local network</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dirty="0">
                          <a:solidFill>
                            <a:srgbClr val="92400E"/>
                          </a:solidFill>
                          <a:latin typeface="Calibri" pitchFamily="34" charset="0"/>
                          <a:ea typeface="Calibri" pitchFamily="34" charset="-122"/>
                          <a:cs typeface="Calibri" pitchFamily="34" charset="-120"/>
                        </a:rPr>
                        <a:t>Internet required</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06"/>
                  </a:ext>
                </a:extLst>
              </a:tr>
              <a:tr h="499872">
                <a:tc>
                  <a:txBody>
                    <a:bodyPr/>
                    <a:lstStyle/>
                    <a:p>
                      <a:pPr marL="0" indent="0">
                        <a:buNone/>
                      </a:pPr>
                      <a:r>
                        <a:rPr lang="en-US" sz="1600" dirty="0">
                          <a:solidFill>
                            <a:srgbClr val="1E293B"/>
                          </a:solidFill>
                          <a:latin typeface="Calibri" pitchFamily="34" charset="0"/>
                          <a:ea typeface="Calibri" pitchFamily="34" charset="-122"/>
                          <a:cs typeface="Calibri" pitchFamily="34" charset="-120"/>
                        </a:rPr>
                        <a:t>Storage &amp; analysis scale</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dirty="0">
                          <a:solidFill>
                            <a:srgbClr val="64748B"/>
                          </a:solidFill>
                          <a:latin typeface="Calibri" pitchFamily="34" charset="0"/>
                          <a:ea typeface="Calibri" pitchFamily="34" charset="-122"/>
                          <a:cs typeface="Calibri" pitchFamily="34" charset="-120"/>
                        </a:rPr>
                        <a:t>Limited</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600" b="1" dirty="0">
                          <a:solidFill>
                            <a:srgbClr val="047857"/>
                          </a:solidFill>
                          <a:latin typeface="Calibri" pitchFamily="34" charset="0"/>
                          <a:ea typeface="Calibri" pitchFamily="34" charset="-122"/>
                          <a:cs typeface="Calibri" pitchFamily="34" charset="-120"/>
                        </a:rPr>
                        <a:t>✓  High</a:t>
                      </a:r>
                      <a:endParaRPr lang="en-US" sz="1600" dirty="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extLst>
                  <a:ext uri="{0D108BD9-81ED-4DB2-BD59-A6C34878D82A}">
                    <a16:rowId xmlns:a16="http://schemas.microsoft.com/office/drawing/2014/main" val="10007"/>
                  </a:ext>
                </a:extLst>
              </a:tr>
            </a:tbl>
          </a:graphicData>
        </a:graphic>
      </p:graphicFrame>
      <p:sp>
        <p:nvSpPr>
          <p:cNvPr id="6" name="Shape 3"/>
          <p:cNvSpPr/>
          <p:nvPr/>
        </p:nvSpPr>
        <p:spPr>
          <a:xfrm>
            <a:off x="426720" y="5888736"/>
            <a:ext cx="11338560" cy="853440"/>
          </a:xfrm>
          <a:prstGeom prst="roundRect">
            <a:avLst>
              <a:gd name="adj" fmla="val 11429"/>
            </a:avLst>
          </a:prstGeom>
          <a:solidFill>
            <a:srgbClr val="EFF6FF"/>
          </a:solidFill>
          <a:ln w="12700">
            <a:solidFill>
              <a:srgbClr val="BFDBFE"/>
            </a:solidFill>
            <a:prstDash val="solid"/>
          </a:ln>
        </p:spPr>
        <p:txBody>
          <a:bodyPr/>
          <a:lstStyle/>
          <a:p>
            <a:endParaRPr lang="en-DE" sz="2400"/>
          </a:p>
        </p:txBody>
      </p:sp>
      <p:sp>
        <p:nvSpPr>
          <p:cNvPr id="7" name="Text 4"/>
          <p:cNvSpPr/>
          <p:nvPr/>
        </p:nvSpPr>
        <p:spPr>
          <a:xfrm>
            <a:off x="670560" y="5949696"/>
            <a:ext cx="10972800" cy="731520"/>
          </a:xfrm>
          <a:prstGeom prst="rect">
            <a:avLst/>
          </a:prstGeom>
          <a:noFill/>
          <a:ln/>
        </p:spPr>
        <p:txBody>
          <a:bodyPr wrap="square" rtlCol="0" anchor="ctr"/>
          <a:lstStyle/>
          <a:p>
            <a:r>
              <a:rPr lang="en-US" sz="1467" b="1" dirty="0">
                <a:solidFill>
                  <a:srgbClr val="1D4ED8"/>
                </a:solidFill>
                <a:latin typeface="Calibri" pitchFamily="34" charset="0"/>
                <a:ea typeface="Calibri" pitchFamily="34" charset="-122"/>
                <a:cs typeface="Calibri" pitchFamily="34" charset="-120"/>
              </a:rPr>
              <a:t>Conclusion: </a:t>
            </a:r>
            <a:r>
              <a:rPr lang="en-US" sz="1467" dirty="0">
                <a:solidFill>
                  <a:srgbClr val="334155"/>
                </a:solidFill>
                <a:latin typeface="Calibri" pitchFamily="34" charset="0"/>
                <a:ea typeface="Calibri" pitchFamily="34" charset="-122"/>
                <a:cs typeface="Calibri" pitchFamily="34" charset="-120"/>
              </a:rPr>
              <a:t>A hybrid architecture is optimal — edge layer for latency-sensitive tasks (fault detection, process control, safety response); cloud layer for large-scale storage, model training, and enterprise reporting.</a:t>
            </a:r>
            <a:endParaRPr lang="en-US" sz="146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dirty="0">
                <a:solidFill>
                  <a:srgbClr val="0B172A"/>
                </a:solidFill>
                <a:latin typeface="Aptos Display" pitchFamily="34" charset="0"/>
                <a:ea typeface="Aptos Display" pitchFamily="34" charset="-122"/>
                <a:cs typeface="Aptos Display" pitchFamily="34" charset="-120"/>
              </a:rPr>
              <a:t>Edge vs cloud: what each is best for</a:t>
            </a:r>
            <a:endParaRPr lang="en-US" sz="2800" dirty="0"/>
          </a:p>
        </p:txBody>
      </p:sp>
      <p:sp>
        <p:nvSpPr>
          <p:cNvPr id="5" name="Text 3"/>
          <p:cNvSpPr/>
          <p:nvPr/>
        </p:nvSpPr>
        <p:spPr>
          <a:xfrm>
            <a:off x="530352" y="868680"/>
            <a:ext cx="10241280" cy="274320"/>
          </a:xfrm>
          <a:prstGeom prst="rect">
            <a:avLst/>
          </a:prstGeom>
          <a:noFill/>
          <a:ln/>
        </p:spPr>
        <p:txBody>
          <a:bodyPr wrap="square" lIns="0" tIns="0" rIns="0" bIns="0" rtlCol="0" anchor="ctr">
            <a:normAutofit/>
          </a:bodyPr>
          <a:lstStyle/>
          <a:p>
            <a:pPr marL="0" indent="0">
              <a:buNone/>
            </a:pPr>
            <a:r>
              <a:rPr lang="en-US" sz="1250" dirty="0">
                <a:solidFill>
                  <a:srgbClr val="64748B"/>
                </a:solidFill>
                <a:latin typeface="Aptos" pitchFamily="34" charset="0"/>
                <a:ea typeface="Aptos" pitchFamily="34" charset="-122"/>
                <a:cs typeface="Aptos" pitchFamily="34" charset="-120"/>
              </a:rPr>
              <a:t>The comparative analysis points to a practical division of tasks.</a:t>
            </a:r>
            <a:endParaRPr lang="en-US" sz="1250" dirty="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Edge Computing in Industrial Communication • Sections VII–IX</a:t>
            </a:r>
            <a:endParaRPr lang="en-US" sz="850" dirty="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dirty="0">
                <a:solidFill>
                  <a:srgbClr val="64748B"/>
                </a:solidFill>
                <a:latin typeface="Aptos" pitchFamily="34" charset="0"/>
                <a:ea typeface="Aptos" pitchFamily="34" charset="-122"/>
                <a:cs typeface="Aptos" pitchFamily="34" charset="-120"/>
              </a:rPr>
              <a:t>09</a:t>
            </a:r>
            <a:endParaRPr lang="en-US" sz="850" dirty="0"/>
          </a:p>
        </p:txBody>
      </p:sp>
      <p:sp>
        <p:nvSpPr>
          <p:cNvPr id="8" name="Shape 6"/>
          <p:cNvSpPr/>
          <p:nvPr/>
        </p:nvSpPr>
        <p:spPr>
          <a:xfrm>
            <a:off x="822960" y="1463040"/>
            <a:ext cx="10515600" cy="566928"/>
          </a:xfrm>
          <a:prstGeom prst="rect">
            <a:avLst/>
          </a:prstGeom>
          <a:solidFill>
            <a:srgbClr val="0B172A"/>
          </a:solidFill>
          <a:ln w="12700">
            <a:solidFill>
              <a:srgbClr val="0B172A">
                <a:alpha val="0"/>
              </a:srgbClr>
            </a:solidFill>
            <a:prstDash val="solid"/>
          </a:ln>
        </p:spPr>
        <p:txBody>
          <a:bodyPr/>
          <a:lstStyle/>
          <a:p>
            <a:endParaRPr lang="en-DE"/>
          </a:p>
        </p:txBody>
      </p:sp>
      <p:sp>
        <p:nvSpPr>
          <p:cNvPr id="9" name="Text 7"/>
          <p:cNvSpPr/>
          <p:nvPr/>
        </p:nvSpPr>
        <p:spPr>
          <a:xfrm>
            <a:off x="1005840" y="1636776"/>
            <a:ext cx="2743200" cy="182880"/>
          </a:xfrm>
          <a:prstGeom prst="rect">
            <a:avLst/>
          </a:prstGeom>
          <a:noFill/>
          <a:ln/>
        </p:spPr>
        <p:txBody>
          <a:bodyPr wrap="square" lIns="0" tIns="0" rIns="0" bIns="0" rtlCol="0" anchor="ctr"/>
          <a:lstStyle/>
          <a:p>
            <a:pPr marL="0" indent="0">
              <a:buNone/>
            </a:pPr>
            <a:r>
              <a:rPr lang="en-US" sz="1150" b="1" dirty="0">
                <a:solidFill>
                  <a:srgbClr val="FFFFFF"/>
                </a:solidFill>
              </a:rPr>
              <a:t>Criterion</a:t>
            </a:r>
            <a:endParaRPr lang="en-US" sz="1150" dirty="0"/>
          </a:p>
        </p:txBody>
      </p:sp>
      <p:sp>
        <p:nvSpPr>
          <p:cNvPr id="10" name="Text 8"/>
          <p:cNvSpPr/>
          <p:nvPr/>
        </p:nvSpPr>
        <p:spPr>
          <a:xfrm>
            <a:off x="4343400" y="1636776"/>
            <a:ext cx="2743200" cy="182880"/>
          </a:xfrm>
          <a:prstGeom prst="rect">
            <a:avLst/>
          </a:prstGeom>
          <a:noFill/>
          <a:ln/>
        </p:spPr>
        <p:txBody>
          <a:bodyPr wrap="square" lIns="0" tIns="0" rIns="0" bIns="0" rtlCol="0" anchor="ctr"/>
          <a:lstStyle/>
          <a:p>
            <a:pPr marL="0" indent="0">
              <a:buNone/>
            </a:pPr>
            <a:r>
              <a:rPr lang="en-US" sz="1150" b="1" dirty="0">
                <a:solidFill>
                  <a:srgbClr val="FFFFFF"/>
                </a:solidFill>
              </a:rPr>
              <a:t>Edge computing</a:t>
            </a:r>
            <a:endParaRPr lang="en-US" sz="1150" dirty="0"/>
          </a:p>
        </p:txBody>
      </p:sp>
      <p:sp>
        <p:nvSpPr>
          <p:cNvPr id="11" name="Text 9"/>
          <p:cNvSpPr/>
          <p:nvPr/>
        </p:nvSpPr>
        <p:spPr>
          <a:xfrm>
            <a:off x="7680960" y="1636776"/>
            <a:ext cx="2743200" cy="182880"/>
          </a:xfrm>
          <a:prstGeom prst="rect">
            <a:avLst/>
          </a:prstGeom>
          <a:noFill/>
          <a:ln/>
        </p:spPr>
        <p:txBody>
          <a:bodyPr wrap="square" lIns="0" tIns="0" rIns="0" bIns="0" rtlCol="0" anchor="ctr"/>
          <a:lstStyle/>
          <a:p>
            <a:pPr marL="0" indent="0">
              <a:buNone/>
            </a:pPr>
            <a:r>
              <a:rPr lang="en-US" sz="1150" b="1" dirty="0">
                <a:solidFill>
                  <a:srgbClr val="FFFFFF"/>
                </a:solidFill>
              </a:rPr>
              <a:t>Cloud computing</a:t>
            </a:r>
            <a:endParaRPr lang="en-US" sz="1150" dirty="0"/>
          </a:p>
        </p:txBody>
      </p:sp>
      <p:sp>
        <p:nvSpPr>
          <p:cNvPr id="12" name="Shape 10"/>
          <p:cNvSpPr/>
          <p:nvPr/>
        </p:nvSpPr>
        <p:spPr>
          <a:xfrm>
            <a:off x="822960" y="2029968"/>
            <a:ext cx="10515600" cy="530352"/>
          </a:xfrm>
          <a:prstGeom prst="rect">
            <a:avLst/>
          </a:prstGeom>
          <a:solidFill>
            <a:srgbClr val="FFFFFF"/>
          </a:solidFill>
          <a:ln w="6350">
            <a:solidFill>
              <a:srgbClr val="E2E8F0"/>
            </a:solidFill>
            <a:prstDash val="solid"/>
          </a:ln>
        </p:spPr>
        <p:txBody>
          <a:bodyPr/>
          <a:lstStyle/>
          <a:p>
            <a:endParaRPr lang="en-DE"/>
          </a:p>
        </p:txBody>
      </p:sp>
      <p:sp>
        <p:nvSpPr>
          <p:cNvPr id="13" name="Text 11"/>
          <p:cNvSpPr/>
          <p:nvPr/>
        </p:nvSpPr>
        <p:spPr>
          <a:xfrm>
            <a:off x="1005840" y="2194560"/>
            <a:ext cx="2926080" cy="182880"/>
          </a:xfrm>
          <a:prstGeom prst="rect">
            <a:avLst/>
          </a:prstGeom>
          <a:noFill/>
          <a:ln/>
        </p:spPr>
        <p:txBody>
          <a:bodyPr wrap="square" lIns="0" tIns="0" rIns="0" bIns="0" rtlCol="0" anchor="ctr">
            <a:normAutofit/>
          </a:bodyPr>
          <a:lstStyle/>
          <a:p>
            <a:pPr marL="0" indent="0">
              <a:buNone/>
            </a:pPr>
            <a:r>
              <a:rPr lang="en-US" sz="1060" b="1" dirty="0">
                <a:solidFill>
                  <a:srgbClr val="1E293B"/>
                </a:solidFill>
              </a:rPr>
              <a:t>Stable latency</a:t>
            </a:r>
            <a:endParaRPr lang="en-US" sz="1060" dirty="0"/>
          </a:p>
        </p:txBody>
      </p:sp>
      <p:sp>
        <p:nvSpPr>
          <p:cNvPr id="14" name="Text 12"/>
          <p:cNvSpPr/>
          <p:nvPr/>
        </p:nvSpPr>
        <p:spPr>
          <a:xfrm>
            <a:off x="4343400" y="2194560"/>
            <a:ext cx="2926080" cy="182880"/>
          </a:xfrm>
          <a:prstGeom prst="rect">
            <a:avLst/>
          </a:prstGeom>
          <a:noFill/>
          <a:ln/>
        </p:spPr>
        <p:txBody>
          <a:bodyPr wrap="square" lIns="0" tIns="0" rIns="0" bIns="0" rtlCol="0" anchor="ctr">
            <a:normAutofit/>
          </a:bodyPr>
          <a:lstStyle/>
          <a:p>
            <a:pPr marL="0" indent="0">
              <a:buNone/>
            </a:pPr>
            <a:r>
              <a:rPr lang="en-US" sz="1060" b="1" dirty="0">
                <a:solidFill>
                  <a:srgbClr val="10B981"/>
                </a:solidFill>
              </a:rPr>
              <a:t>95 ms</a:t>
            </a:r>
            <a:endParaRPr lang="en-US" sz="1060" dirty="0"/>
          </a:p>
        </p:txBody>
      </p:sp>
      <p:sp>
        <p:nvSpPr>
          <p:cNvPr id="15" name="Text 13"/>
          <p:cNvSpPr/>
          <p:nvPr/>
        </p:nvSpPr>
        <p:spPr>
          <a:xfrm>
            <a:off x="7680960" y="2194560"/>
            <a:ext cx="2926080" cy="182880"/>
          </a:xfrm>
          <a:prstGeom prst="rect">
            <a:avLst/>
          </a:prstGeom>
          <a:noFill/>
          <a:ln/>
        </p:spPr>
        <p:txBody>
          <a:bodyPr wrap="square" lIns="0" tIns="0" rIns="0" bIns="0" rtlCol="0" anchor="ctr">
            <a:normAutofit/>
          </a:bodyPr>
          <a:lstStyle/>
          <a:p>
            <a:pPr marL="0" indent="0">
              <a:buNone/>
            </a:pPr>
            <a:r>
              <a:rPr lang="en-US" sz="1060" b="1" dirty="0">
                <a:solidFill>
                  <a:srgbClr val="F59E0B"/>
                </a:solidFill>
              </a:rPr>
              <a:t>510 ms</a:t>
            </a:r>
            <a:endParaRPr lang="en-US" sz="1060" dirty="0"/>
          </a:p>
        </p:txBody>
      </p:sp>
      <p:sp>
        <p:nvSpPr>
          <p:cNvPr id="16" name="Shape 14"/>
          <p:cNvSpPr/>
          <p:nvPr/>
        </p:nvSpPr>
        <p:spPr>
          <a:xfrm>
            <a:off x="822960" y="2560320"/>
            <a:ext cx="10515600" cy="530352"/>
          </a:xfrm>
          <a:prstGeom prst="rect">
            <a:avLst/>
          </a:prstGeom>
          <a:solidFill>
            <a:srgbClr val="F1F5F9"/>
          </a:solidFill>
          <a:ln w="6350">
            <a:solidFill>
              <a:srgbClr val="E2E8F0"/>
            </a:solidFill>
            <a:prstDash val="solid"/>
          </a:ln>
        </p:spPr>
        <p:txBody>
          <a:bodyPr/>
          <a:lstStyle/>
          <a:p>
            <a:endParaRPr lang="en-DE"/>
          </a:p>
        </p:txBody>
      </p:sp>
      <p:sp>
        <p:nvSpPr>
          <p:cNvPr id="17" name="Text 15"/>
          <p:cNvSpPr/>
          <p:nvPr/>
        </p:nvSpPr>
        <p:spPr>
          <a:xfrm>
            <a:off x="1005840" y="2724912"/>
            <a:ext cx="2926080" cy="182880"/>
          </a:xfrm>
          <a:prstGeom prst="rect">
            <a:avLst/>
          </a:prstGeom>
          <a:noFill/>
          <a:ln/>
        </p:spPr>
        <p:txBody>
          <a:bodyPr wrap="square" lIns="0" tIns="0" rIns="0" bIns="0" rtlCol="0" anchor="ctr">
            <a:normAutofit/>
          </a:bodyPr>
          <a:lstStyle/>
          <a:p>
            <a:pPr marL="0" indent="0">
              <a:buNone/>
            </a:pPr>
            <a:r>
              <a:rPr lang="en-US" sz="1060" b="1" dirty="0">
                <a:solidFill>
                  <a:srgbClr val="1E293B"/>
                </a:solidFill>
              </a:rPr>
              <a:t>Shared network latency</a:t>
            </a:r>
            <a:endParaRPr lang="en-US" sz="1060" dirty="0"/>
          </a:p>
        </p:txBody>
      </p:sp>
      <p:sp>
        <p:nvSpPr>
          <p:cNvPr id="18" name="Text 16"/>
          <p:cNvSpPr/>
          <p:nvPr/>
        </p:nvSpPr>
        <p:spPr>
          <a:xfrm>
            <a:off x="4343400" y="2724912"/>
            <a:ext cx="2926080" cy="182880"/>
          </a:xfrm>
          <a:prstGeom prst="rect">
            <a:avLst/>
          </a:prstGeom>
          <a:noFill/>
          <a:ln/>
        </p:spPr>
        <p:txBody>
          <a:bodyPr wrap="square" lIns="0" tIns="0" rIns="0" bIns="0" rtlCol="0" anchor="ctr">
            <a:normAutofit/>
          </a:bodyPr>
          <a:lstStyle/>
          <a:p>
            <a:pPr marL="0" indent="0">
              <a:buNone/>
            </a:pPr>
            <a:r>
              <a:rPr lang="en-US" sz="1060" b="1" dirty="0">
                <a:solidFill>
                  <a:srgbClr val="10B981"/>
                </a:solidFill>
              </a:rPr>
              <a:t>422 ms</a:t>
            </a:r>
            <a:endParaRPr lang="en-US" sz="1060" dirty="0"/>
          </a:p>
        </p:txBody>
      </p:sp>
      <p:sp>
        <p:nvSpPr>
          <p:cNvPr id="19" name="Text 17"/>
          <p:cNvSpPr/>
          <p:nvPr/>
        </p:nvSpPr>
        <p:spPr>
          <a:xfrm>
            <a:off x="7680960" y="2724912"/>
            <a:ext cx="2926080" cy="182880"/>
          </a:xfrm>
          <a:prstGeom prst="rect">
            <a:avLst/>
          </a:prstGeom>
          <a:noFill/>
          <a:ln/>
        </p:spPr>
        <p:txBody>
          <a:bodyPr wrap="square" lIns="0" tIns="0" rIns="0" bIns="0" rtlCol="0" anchor="ctr">
            <a:normAutofit/>
          </a:bodyPr>
          <a:lstStyle/>
          <a:p>
            <a:pPr marL="0" indent="0">
              <a:buNone/>
            </a:pPr>
            <a:r>
              <a:rPr lang="en-US" sz="1060" b="1" dirty="0">
                <a:solidFill>
                  <a:srgbClr val="F59E0B"/>
                </a:solidFill>
              </a:rPr>
              <a:t>2170 ms</a:t>
            </a:r>
            <a:endParaRPr lang="en-US" sz="1060" dirty="0"/>
          </a:p>
        </p:txBody>
      </p:sp>
      <p:sp>
        <p:nvSpPr>
          <p:cNvPr id="20" name="Shape 18"/>
          <p:cNvSpPr/>
          <p:nvPr/>
        </p:nvSpPr>
        <p:spPr>
          <a:xfrm>
            <a:off x="822960" y="3090672"/>
            <a:ext cx="10515600" cy="530352"/>
          </a:xfrm>
          <a:prstGeom prst="rect">
            <a:avLst/>
          </a:prstGeom>
          <a:solidFill>
            <a:srgbClr val="FFFFFF"/>
          </a:solidFill>
          <a:ln w="6350">
            <a:solidFill>
              <a:srgbClr val="E2E8F0"/>
            </a:solidFill>
            <a:prstDash val="solid"/>
          </a:ln>
        </p:spPr>
        <p:txBody>
          <a:bodyPr/>
          <a:lstStyle/>
          <a:p>
            <a:endParaRPr lang="en-DE"/>
          </a:p>
        </p:txBody>
      </p:sp>
      <p:sp>
        <p:nvSpPr>
          <p:cNvPr id="21" name="Text 19"/>
          <p:cNvSpPr/>
          <p:nvPr/>
        </p:nvSpPr>
        <p:spPr>
          <a:xfrm>
            <a:off x="1005840" y="3255264"/>
            <a:ext cx="2926080" cy="182880"/>
          </a:xfrm>
          <a:prstGeom prst="rect">
            <a:avLst/>
          </a:prstGeom>
          <a:noFill/>
          <a:ln/>
        </p:spPr>
        <p:txBody>
          <a:bodyPr wrap="square" lIns="0" tIns="0" rIns="0" bIns="0" rtlCol="0" anchor="ctr">
            <a:normAutofit/>
          </a:bodyPr>
          <a:lstStyle/>
          <a:p>
            <a:pPr marL="0" indent="0">
              <a:buNone/>
            </a:pPr>
            <a:r>
              <a:rPr lang="en-US" sz="1060" b="1" dirty="0">
                <a:solidFill>
                  <a:srgbClr val="1E293B"/>
                </a:solidFill>
              </a:rPr>
              <a:t>Network dependency</a:t>
            </a:r>
            <a:endParaRPr lang="en-US" sz="1060" dirty="0"/>
          </a:p>
        </p:txBody>
      </p:sp>
      <p:sp>
        <p:nvSpPr>
          <p:cNvPr id="22" name="Text 20"/>
          <p:cNvSpPr/>
          <p:nvPr/>
        </p:nvSpPr>
        <p:spPr>
          <a:xfrm>
            <a:off x="4343400" y="3255264"/>
            <a:ext cx="2926080" cy="182880"/>
          </a:xfrm>
          <a:prstGeom prst="rect">
            <a:avLst/>
          </a:prstGeom>
          <a:noFill/>
          <a:ln/>
        </p:spPr>
        <p:txBody>
          <a:bodyPr wrap="square" lIns="0" tIns="0" rIns="0" bIns="0" rtlCol="0" anchor="ctr">
            <a:normAutofit/>
          </a:bodyPr>
          <a:lstStyle/>
          <a:p>
            <a:pPr marL="0" indent="0">
              <a:buNone/>
            </a:pPr>
            <a:r>
              <a:rPr lang="en-US" sz="1060" dirty="0">
                <a:solidFill>
                  <a:srgbClr val="10B981"/>
                </a:solidFill>
              </a:rPr>
              <a:t>Local network</a:t>
            </a:r>
            <a:endParaRPr lang="en-US" sz="1060" dirty="0"/>
          </a:p>
        </p:txBody>
      </p:sp>
      <p:sp>
        <p:nvSpPr>
          <p:cNvPr id="23" name="Text 21"/>
          <p:cNvSpPr/>
          <p:nvPr/>
        </p:nvSpPr>
        <p:spPr>
          <a:xfrm>
            <a:off x="7680960" y="3255264"/>
            <a:ext cx="2926080" cy="182880"/>
          </a:xfrm>
          <a:prstGeom prst="rect">
            <a:avLst/>
          </a:prstGeom>
          <a:noFill/>
          <a:ln/>
        </p:spPr>
        <p:txBody>
          <a:bodyPr wrap="square" lIns="0" tIns="0" rIns="0" bIns="0" rtlCol="0" anchor="ctr">
            <a:normAutofit/>
          </a:bodyPr>
          <a:lstStyle/>
          <a:p>
            <a:pPr marL="0" indent="0">
              <a:buNone/>
            </a:pPr>
            <a:r>
              <a:rPr lang="en-US" sz="1060" dirty="0">
                <a:solidFill>
                  <a:srgbClr val="1E293B"/>
                </a:solidFill>
              </a:rPr>
              <a:t>Internet route</a:t>
            </a:r>
            <a:endParaRPr lang="en-US" sz="1060" dirty="0"/>
          </a:p>
        </p:txBody>
      </p:sp>
      <p:sp>
        <p:nvSpPr>
          <p:cNvPr id="24" name="Shape 22"/>
          <p:cNvSpPr/>
          <p:nvPr/>
        </p:nvSpPr>
        <p:spPr>
          <a:xfrm>
            <a:off x="822960" y="3621024"/>
            <a:ext cx="10515600" cy="530352"/>
          </a:xfrm>
          <a:prstGeom prst="rect">
            <a:avLst/>
          </a:prstGeom>
          <a:solidFill>
            <a:srgbClr val="F1F5F9"/>
          </a:solidFill>
          <a:ln w="6350">
            <a:solidFill>
              <a:srgbClr val="E2E8F0"/>
            </a:solidFill>
            <a:prstDash val="solid"/>
          </a:ln>
        </p:spPr>
        <p:txBody>
          <a:bodyPr/>
          <a:lstStyle/>
          <a:p>
            <a:endParaRPr lang="en-DE"/>
          </a:p>
        </p:txBody>
      </p:sp>
      <p:sp>
        <p:nvSpPr>
          <p:cNvPr id="25" name="Text 23"/>
          <p:cNvSpPr/>
          <p:nvPr/>
        </p:nvSpPr>
        <p:spPr>
          <a:xfrm>
            <a:off x="1005840" y="3785616"/>
            <a:ext cx="2926080" cy="182880"/>
          </a:xfrm>
          <a:prstGeom prst="rect">
            <a:avLst/>
          </a:prstGeom>
          <a:noFill/>
          <a:ln/>
        </p:spPr>
        <p:txBody>
          <a:bodyPr wrap="square" lIns="0" tIns="0" rIns="0" bIns="0" rtlCol="0" anchor="ctr">
            <a:normAutofit/>
          </a:bodyPr>
          <a:lstStyle/>
          <a:p>
            <a:pPr marL="0" indent="0">
              <a:buNone/>
            </a:pPr>
            <a:r>
              <a:rPr lang="en-US" sz="1060" b="1" dirty="0">
                <a:solidFill>
                  <a:srgbClr val="1E293B"/>
                </a:solidFill>
              </a:rPr>
              <a:t>Offline operation</a:t>
            </a:r>
            <a:endParaRPr lang="en-US" sz="1060" dirty="0"/>
          </a:p>
        </p:txBody>
      </p:sp>
      <p:sp>
        <p:nvSpPr>
          <p:cNvPr id="26" name="Text 24"/>
          <p:cNvSpPr/>
          <p:nvPr/>
        </p:nvSpPr>
        <p:spPr>
          <a:xfrm>
            <a:off x="4343400" y="3785616"/>
            <a:ext cx="2926080" cy="182880"/>
          </a:xfrm>
          <a:prstGeom prst="rect">
            <a:avLst/>
          </a:prstGeom>
          <a:noFill/>
          <a:ln/>
        </p:spPr>
        <p:txBody>
          <a:bodyPr wrap="square" lIns="0" tIns="0" rIns="0" bIns="0" rtlCol="0" anchor="ctr">
            <a:normAutofit/>
          </a:bodyPr>
          <a:lstStyle/>
          <a:p>
            <a:pPr marL="0" indent="0">
              <a:buNone/>
            </a:pPr>
            <a:r>
              <a:rPr lang="en-US" sz="1060" dirty="0">
                <a:solidFill>
                  <a:srgbClr val="10B981"/>
                </a:solidFill>
              </a:rPr>
              <a:t>Possible</a:t>
            </a:r>
            <a:endParaRPr lang="en-US" sz="1060" dirty="0"/>
          </a:p>
        </p:txBody>
      </p:sp>
      <p:sp>
        <p:nvSpPr>
          <p:cNvPr id="27" name="Text 25"/>
          <p:cNvSpPr/>
          <p:nvPr/>
        </p:nvSpPr>
        <p:spPr>
          <a:xfrm>
            <a:off x="7680960" y="3785616"/>
            <a:ext cx="2926080" cy="182880"/>
          </a:xfrm>
          <a:prstGeom prst="rect">
            <a:avLst/>
          </a:prstGeom>
          <a:noFill/>
          <a:ln/>
        </p:spPr>
        <p:txBody>
          <a:bodyPr wrap="square" lIns="0" tIns="0" rIns="0" bIns="0" rtlCol="0" anchor="ctr">
            <a:normAutofit/>
          </a:bodyPr>
          <a:lstStyle/>
          <a:p>
            <a:pPr marL="0" indent="0">
              <a:buNone/>
            </a:pPr>
            <a:r>
              <a:rPr lang="en-US" sz="1060" dirty="0">
                <a:solidFill>
                  <a:srgbClr val="1E293B"/>
                </a:solidFill>
              </a:rPr>
              <a:t>Not suitable alone</a:t>
            </a:r>
            <a:endParaRPr lang="en-US" sz="1060" dirty="0"/>
          </a:p>
        </p:txBody>
      </p:sp>
      <p:sp>
        <p:nvSpPr>
          <p:cNvPr id="28" name="Shape 26"/>
          <p:cNvSpPr/>
          <p:nvPr/>
        </p:nvSpPr>
        <p:spPr>
          <a:xfrm>
            <a:off x="822960" y="4151376"/>
            <a:ext cx="10515600" cy="530352"/>
          </a:xfrm>
          <a:prstGeom prst="rect">
            <a:avLst/>
          </a:prstGeom>
          <a:solidFill>
            <a:srgbClr val="FFFFFF"/>
          </a:solidFill>
          <a:ln w="6350">
            <a:solidFill>
              <a:srgbClr val="E2E8F0"/>
            </a:solidFill>
            <a:prstDash val="solid"/>
          </a:ln>
        </p:spPr>
        <p:txBody>
          <a:bodyPr/>
          <a:lstStyle/>
          <a:p>
            <a:endParaRPr lang="en-DE"/>
          </a:p>
        </p:txBody>
      </p:sp>
      <p:sp>
        <p:nvSpPr>
          <p:cNvPr id="29" name="Text 27"/>
          <p:cNvSpPr/>
          <p:nvPr/>
        </p:nvSpPr>
        <p:spPr>
          <a:xfrm>
            <a:off x="1005840" y="4315968"/>
            <a:ext cx="2926080" cy="182880"/>
          </a:xfrm>
          <a:prstGeom prst="rect">
            <a:avLst/>
          </a:prstGeom>
          <a:noFill/>
          <a:ln/>
        </p:spPr>
        <p:txBody>
          <a:bodyPr wrap="square" lIns="0" tIns="0" rIns="0" bIns="0" rtlCol="0" anchor="ctr">
            <a:normAutofit/>
          </a:bodyPr>
          <a:lstStyle/>
          <a:p>
            <a:pPr marL="0" indent="0">
              <a:buNone/>
            </a:pPr>
            <a:r>
              <a:rPr lang="en-US" sz="1060" b="1" dirty="0">
                <a:solidFill>
                  <a:srgbClr val="1E293B"/>
                </a:solidFill>
              </a:rPr>
              <a:t>Real-time suitability</a:t>
            </a:r>
            <a:endParaRPr lang="en-US" sz="1060" dirty="0"/>
          </a:p>
        </p:txBody>
      </p:sp>
      <p:sp>
        <p:nvSpPr>
          <p:cNvPr id="30" name="Text 28"/>
          <p:cNvSpPr/>
          <p:nvPr/>
        </p:nvSpPr>
        <p:spPr>
          <a:xfrm>
            <a:off x="4343400" y="4315968"/>
            <a:ext cx="2926080" cy="182880"/>
          </a:xfrm>
          <a:prstGeom prst="rect">
            <a:avLst/>
          </a:prstGeom>
          <a:noFill/>
          <a:ln/>
        </p:spPr>
        <p:txBody>
          <a:bodyPr wrap="square" lIns="0" tIns="0" rIns="0" bIns="0" rtlCol="0" anchor="ctr">
            <a:normAutofit/>
          </a:bodyPr>
          <a:lstStyle/>
          <a:p>
            <a:pPr marL="0" indent="0">
              <a:buNone/>
            </a:pPr>
            <a:r>
              <a:rPr lang="en-US" sz="1060" dirty="0">
                <a:solidFill>
                  <a:srgbClr val="10B981"/>
                </a:solidFill>
              </a:rPr>
              <a:t>High</a:t>
            </a:r>
            <a:endParaRPr lang="en-US" sz="1060" dirty="0"/>
          </a:p>
        </p:txBody>
      </p:sp>
      <p:sp>
        <p:nvSpPr>
          <p:cNvPr id="31" name="Text 29"/>
          <p:cNvSpPr/>
          <p:nvPr/>
        </p:nvSpPr>
        <p:spPr>
          <a:xfrm>
            <a:off x="7680960" y="4315968"/>
            <a:ext cx="2926080" cy="182880"/>
          </a:xfrm>
          <a:prstGeom prst="rect">
            <a:avLst/>
          </a:prstGeom>
          <a:noFill/>
          <a:ln/>
        </p:spPr>
        <p:txBody>
          <a:bodyPr wrap="square" lIns="0" tIns="0" rIns="0" bIns="0" rtlCol="0" anchor="ctr">
            <a:normAutofit/>
          </a:bodyPr>
          <a:lstStyle/>
          <a:p>
            <a:pPr marL="0" indent="0">
              <a:buNone/>
            </a:pPr>
            <a:r>
              <a:rPr lang="en-US" sz="1060" dirty="0">
                <a:solidFill>
                  <a:srgbClr val="1E293B"/>
                </a:solidFill>
              </a:rPr>
              <a:t>Limited</a:t>
            </a:r>
            <a:endParaRPr lang="en-US" sz="1060" dirty="0"/>
          </a:p>
        </p:txBody>
      </p:sp>
      <p:sp>
        <p:nvSpPr>
          <p:cNvPr id="32" name="Shape 30"/>
          <p:cNvSpPr/>
          <p:nvPr/>
        </p:nvSpPr>
        <p:spPr>
          <a:xfrm>
            <a:off x="822960" y="4681728"/>
            <a:ext cx="10515600" cy="530352"/>
          </a:xfrm>
          <a:prstGeom prst="rect">
            <a:avLst/>
          </a:prstGeom>
          <a:solidFill>
            <a:srgbClr val="F1F5F9"/>
          </a:solidFill>
          <a:ln w="6350">
            <a:solidFill>
              <a:srgbClr val="E2E8F0"/>
            </a:solidFill>
            <a:prstDash val="solid"/>
          </a:ln>
        </p:spPr>
        <p:txBody>
          <a:bodyPr/>
          <a:lstStyle/>
          <a:p>
            <a:endParaRPr lang="en-DE"/>
          </a:p>
        </p:txBody>
      </p:sp>
      <p:sp>
        <p:nvSpPr>
          <p:cNvPr id="33" name="Text 31"/>
          <p:cNvSpPr/>
          <p:nvPr/>
        </p:nvSpPr>
        <p:spPr>
          <a:xfrm>
            <a:off x="1005840" y="4846320"/>
            <a:ext cx="2926080" cy="182880"/>
          </a:xfrm>
          <a:prstGeom prst="rect">
            <a:avLst/>
          </a:prstGeom>
          <a:noFill/>
          <a:ln/>
        </p:spPr>
        <p:txBody>
          <a:bodyPr wrap="square" lIns="0" tIns="0" rIns="0" bIns="0" rtlCol="0" anchor="ctr">
            <a:normAutofit/>
          </a:bodyPr>
          <a:lstStyle/>
          <a:p>
            <a:pPr marL="0" indent="0">
              <a:buNone/>
            </a:pPr>
            <a:r>
              <a:rPr lang="en-US" sz="1060" b="1" dirty="0">
                <a:solidFill>
                  <a:srgbClr val="1E293B"/>
                </a:solidFill>
              </a:rPr>
              <a:t>Storage &amp; analysis scale</a:t>
            </a:r>
            <a:endParaRPr lang="en-US" sz="1060" dirty="0"/>
          </a:p>
        </p:txBody>
      </p:sp>
      <p:sp>
        <p:nvSpPr>
          <p:cNvPr id="34" name="Text 32"/>
          <p:cNvSpPr/>
          <p:nvPr/>
        </p:nvSpPr>
        <p:spPr>
          <a:xfrm>
            <a:off x="4343400" y="4846320"/>
            <a:ext cx="2926080" cy="182880"/>
          </a:xfrm>
          <a:prstGeom prst="rect">
            <a:avLst/>
          </a:prstGeom>
          <a:noFill/>
          <a:ln/>
        </p:spPr>
        <p:txBody>
          <a:bodyPr wrap="square" lIns="0" tIns="0" rIns="0" bIns="0" rtlCol="0" anchor="ctr">
            <a:normAutofit/>
          </a:bodyPr>
          <a:lstStyle/>
          <a:p>
            <a:pPr marL="0" indent="0">
              <a:buNone/>
            </a:pPr>
            <a:r>
              <a:rPr lang="en-US" sz="1060" dirty="0">
                <a:solidFill>
                  <a:srgbClr val="10B981"/>
                </a:solidFill>
              </a:rPr>
              <a:t>Limited</a:t>
            </a:r>
            <a:endParaRPr lang="en-US" sz="1060" dirty="0"/>
          </a:p>
        </p:txBody>
      </p:sp>
      <p:sp>
        <p:nvSpPr>
          <p:cNvPr id="35" name="Text 33"/>
          <p:cNvSpPr/>
          <p:nvPr/>
        </p:nvSpPr>
        <p:spPr>
          <a:xfrm>
            <a:off x="7680960" y="4846320"/>
            <a:ext cx="2926080" cy="182880"/>
          </a:xfrm>
          <a:prstGeom prst="rect">
            <a:avLst/>
          </a:prstGeom>
          <a:noFill/>
          <a:ln/>
        </p:spPr>
        <p:txBody>
          <a:bodyPr wrap="square" lIns="0" tIns="0" rIns="0" bIns="0" rtlCol="0" anchor="ctr">
            <a:normAutofit/>
          </a:bodyPr>
          <a:lstStyle/>
          <a:p>
            <a:pPr marL="0" indent="0">
              <a:buNone/>
            </a:pPr>
            <a:r>
              <a:rPr lang="en-US" sz="1060" dirty="0">
                <a:solidFill>
                  <a:srgbClr val="1E293B"/>
                </a:solidFill>
              </a:rPr>
              <a:t>High</a:t>
            </a:r>
            <a:endParaRPr lang="en-US" sz="1060" dirty="0"/>
          </a:p>
        </p:txBody>
      </p:sp>
      <p:sp>
        <p:nvSpPr>
          <p:cNvPr id="36" name="Text 34"/>
          <p:cNvSpPr/>
          <p:nvPr/>
        </p:nvSpPr>
        <p:spPr>
          <a:xfrm>
            <a:off x="1051560" y="5806440"/>
            <a:ext cx="9966960" cy="292608"/>
          </a:xfrm>
          <a:prstGeom prst="rect">
            <a:avLst/>
          </a:prstGeom>
          <a:noFill/>
          <a:ln/>
        </p:spPr>
        <p:txBody>
          <a:bodyPr wrap="square" lIns="0" tIns="0" rIns="0" bIns="0" rtlCol="0" anchor="ctr">
            <a:normAutofit/>
          </a:bodyPr>
          <a:lstStyle/>
          <a:p>
            <a:pPr marL="0" indent="0" algn="ctr">
              <a:buNone/>
            </a:pPr>
            <a:r>
              <a:rPr lang="en-US" sz="1500" b="1" dirty="0">
                <a:solidFill>
                  <a:srgbClr val="0B172A"/>
                </a:solidFill>
              </a:rPr>
              <a:t>Edge is best for fast local actions. Cloud is best for heavy storage, training, reporting, and long-term analytics.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1382</Words>
  <Application>Microsoft Office PowerPoint</Application>
  <PresentationFormat>Widescreen</PresentationFormat>
  <Paragraphs>222</Paragraphs>
  <Slides>10</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Aptos Display</vt:lpstr>
      <vt:lpstr>Arial</vt:lpstr>
      <vt:lpstr>Calibri</vt:lpstr>
      <vt:lpstr>Cambria</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Edge vs Cloud Latency Test</dc:title>
  <dc:subject>Edge vs Cloud Latency Test</dc:subject>
  <dc:creator>OpenAI</dc:creator>
  <cp:lastModifiedBy>M R Sohan</cp:lastModifiedBy>
  <cp:revision>2</cp:revision>
  <dcterms:created xsi:type="dcterms:W3CDTF">2026-06-22T21:01:43Z</dcterms:created>
  <dcterms:modified xsi:type="dcterms:W3CDTF">2026-06-22T21:58:23Z</dcterms:modified>
</cp:coreProperties>
</file>