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embeddedFontLst>
    <p:embeddedFont>
      <p:font typeface="Crimson Pro Medium"/>
      <p:regular r:id="rId201314"/>
    </p:embeddedFont>
    <p:embeddedFont>
      <p:font typeface="Crimson Pro ExtraBold"/>
      <p:regular r:id="rId201315"/>
    </p:embeddedFont>
    <p:embeddedFont>
      <p:font typeface="Crimson Pro Black"/>
      <p:regular r:id="rId201316"/>
    </p:embeddedFont>
    <p:embeddedFont>
      <p:font typeface="Crimson Pro ExtraLight"/>
      <p:regular r:id="rId201317"/>
    </p:embeddedFont>
    <p:embeddedFont>
      <p:font typeface="Crimson Pro Light"/>
      <p:regular r:id="rId201318"/>
    </p:embeddedFont>
    <p:embeddedFont>
      <p:font typeface="Crimson Pro"/>
      <p:regular r:id="rId201319"/>
    </p:embeddedFont>
    <p:embeddedFont>
      <p:font typeface="Crimson Pro SemiBold"/>
      <p:regular r:id="rId201320"/>
    </p:embeddedFont>
    <p:embeddedFont>
      <p:font typeface="Crimson Pro Bold"/>
      <p:regular r:id="rId201321"/>
    </p:embeddedFont>
    <p:embeddedFont>
      <p:font typeface="Open Sans Light"/>
      <p:regular r:id="rId201322"/>
    </p:embeddedFont>
    <p:embeddedFont>
      <p:font typeface="Open Sans Bold"/>
      <p:regular r:id="rId201323"/>
    </p:embeddedFont>
    <p:embeddedFont>
      <p:font typeface="Open Sans"/>
      <p:regular r:id="rId201324"/>
    </p:embeddedFont>
    <p:embeddedFont>
      <p:font typeface="Open Sans Medium"/>
      <p:regular r:id="rId201325"/>
    </p:embeddedFont>
    <p:embeddedFont>
      <p:font typeface="Open Sans SemiBold"/>
      <p:regular r:id="rId201326"/>
    </p:embeddedFont>
    <p:embeddedFont>
      <p:font typeface="Open Sans ExtraBold"/>
      <p:regular r:id="rId2013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image" Target="../media/image-2-10.png"/><Relationship Id="rId11" Type="http://schemas.openxmlformats.org/officeDocument/2006/relationships/image" Target="../media/image-2-11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image" Target="../media/image-3-10.png"/><Relationship Id="rId11" Type="http://schemas.openxmlformats.org/officeDocument/2006/relationships/image" Target="../media/image-3-11.svg"/><Relationship Id="rId12" Type="http://schemas.openxmlformats.org/officeDocument/2006/relationships/image" Target="../media/image-3-12.png"/><Relationship Id="rId13" Type="http://schemas.openxmlformats.org/officeDocument/2006/relationships/image" Target="../media/image-3-13.svg"/><Relationship Id="rId14" Type="http://schemas.openxmlformats.org/officeDocument/2006/relationships/image" Target="../media/image-3-14.png"/><Relationship Id="rId15" Type="http://schemas.openxmlformats.org/officeDocument/2006/relationships/image" Target="../media/image-3-15.svg"/><Relationship Id="rId16" Type="http://schemas.openxmlformats.org/officeDocument/2006/relationships/image" Target="../media/image-3-16.png"/><Relationship Id="rId17" Type="http://schemas.openxmlformats.org/officeDocument/2006/relationships/image" Target="../media/image-3-17.svg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Edge Computing in Industrial Communication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Exploring the applications, benefits, and limitations of edge computing — where data processing meets the machine.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14114"/>
            <a:ext cx="318477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Applications of Edge Computing</a:t>
            </a:r>
            <a:endParaRPr lang="en-US" sz="1550" dirty="0"/>
          </a:p>
        </p:txBody>
      </p:sp>
      <p:sp>
        <p:nvSpPr>
          <p:cNvPr id="4" name="Shape 1"/>
          <p:cNvSpPr/>
          <p:nvPr/>
        </p:nvSpPr>
        <p:spPr>
          <a:xfrm>
            <a:off x="3925119" y="730523"/>
            <a:ext cx="4722763" cy="803821"/>
          </a:xfrm>
          <a:prstGeom prst="roundRect">
            <a:avLst>
              <a:gd name="adj" fmla="val 4167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009579" y="814983"/>
            <a:ext cx="239167" cy="239167"/>
          </a:xfrm>
          <a:prstGeom prst="roundRect">
            <a:avLst>
              <a:gd name="adj" fmla="val 23893048"/>
            </a:avLst>
          </a:prstGeom>
          <a:solidFill>
            <a:srgbClr val="835E54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75361" y="880765"/>
            <a:ext cx="107603" cy="10760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09579" y="1098947"/>
            <a:ext cx="1006822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Internet of Things (IoT)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4009579" y="1250454"/>
            <a:ext cx="4553843" cy="199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Enables IoT devices to process data locally and react quickly. Examples: smart homes, smart factories, and smart agriculture.</a:t>
            </a:r>
            <a:endParaRPr lang="en-US" sz="600" dirty="0"/>
          </a:p>
        </p:txBody>
      </p:sp>
      <p:sp>
        <p:nvSpPr>
          <p:cNvPr id="9" name="Shape 5"/>
          <p:cNvSpPr/>
          <p:nvPr/>
        </p:nvSpPr>
        <p:spPr>
          <a:xfrm>
            <a:off x="3925119" y="1579141"/>
            <a:ext cx="4722763" cy="704106"/>
          </a:xfrm>
          <a:prstGeom prst="roundRect">
            <a:avLst>
              <a:gd name="adj" fmla="val 4757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009579" y="1663601"/>
            <a:ext cx="239167" cy="239167"/>
          </a:xfrm>
          <a:prstGeom prst="roundRect">
            <a:avLst>
              <a:gd name="adj" fmla="val 23893048"/>
            </a:avLst>
          </a:prstGeom>
          <a:solidFill>
            <a:srgbClr val="835E54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75361" y="1729383"/>
            <a:ext cx="107603" cy="10760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009579" y="1947565"/>
            <a:ext cx="996776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Autonomous Vehicles</a:t>
            </a:r>
            <a:endParaRPr lang="en-US" sz="750" dirty="0"/>
          </a:p>
        </p:txBody>
      </p:sp>
      <p:sp>
        <p:nvSpPr>
          <p:cNvPr id="13" name="Text 8"/>
          <p:cNvSpPr/>
          <p:nvPr/>
        </p:nvSpPr>
        <p:spPr>
          <a:xfrm>
            <a:off x="4009579" y="2099072"/>
            <a:ext cx="4553843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Vehicles make split-second decisions by processing sensor and camera data locally without relying on the cloud.</a:t>
            </a:r>
            <a:endParaRPr lang="en-US" sz="600" dirty="0"/>
          </a:p>
        </p:txBody>
      </p:sp>
      <p:sp>
        <p:nvSpPr>
          <p:cNvPr id="14" name="Shape 9"/>
          <p:cNvSpPr/>
          <p:nvPr/>
        </p:nvSpPr>
        <p:spPr>
          <a:xfrm>
            <a:off x="3925119" y="2328044"/>
            <a:ext cx="4722763" cy="803821"/>
          </a:xfrm>
          <a:prstGeom prst="roundRect">
            <a:avLst>
              <a:gd name="adj" fmla="val 4167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009579" y="2412504"/>
            <a:ext cx="239167" cy="239167"/>
          </a:xfrm>
          <a:prstGeom prst="roundRect">
            <a:avLst>
              <a:gd name="adj" fmla="val 23893048"/>
            </a:avLst>
          </a:prstGeom>
          <a:solidFill>
            <a:srgbClr val="835E54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5361" y="2478286"/>
            <a:ext cx="107603" cy="10760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009579" y="2696468"/>
            <a:ext cx="996776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Healthcare</a:t>
            </a:r>
            <a:endParaRPr lang="en-US" sz="750" dirty="0"/>
          </a:p>
        </p:txBody>
      </p:sp>
      <p:sp>
        <p:nvSpPr>
          <p:cNvPr id="18" name="Text 12"/>
          <p:cNvSpPr/>
          <p:nvPr/>
        </p:nvSpPr>
        <p:spPr>
          <a:xfrm>
            <a:off x="4009579" y="2847975"/>
            <a:ext cx="4553843" cy="199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Used for patient monitoring, wearable devices, and emergency alert systems to help doctors react faster to changing conditions.</a:t>
            </a:r>
            <a:endParaRPr lang="en-US" sz="600" dirty="0"/>
          </a:p>
        </p:txBody>
      </p:sp>
      <p:sp>
        <p:nvSpPr>
          <p:cNvPr id="19" name="Shape 13"/>
          <p:cNvSpPr/>
          <p:nvPr/>
        </p:nvSpPr>
        <p:spPr>
          <a:xfrm>
            <a:off x="3925119" y="3176662"/>
            <a:ext cx="4722763" cy="803821"/>
          </a:xfrm>
          <a:prstGeom prst="roundRect">
            <a:avLst>
              <a:gd name="adj" fmla="val 4167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009579" y="3261122"/>
            <a:ext cx="239167" cy="239167"/>
          </a:xfrm>
          <a:prstGeom prst="roundRect">
            <a:avLst>
              <a:gd name="adj" fmla="val 23893048"/>
            </a:avLst>
          </a:prstGeom>
          <a:solidFill>
            <a:srgbClr val="835E54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75361" y="3326904"/>
            <a:ext cx="107603" cy="10760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009579" y="3545086"/>
            <a:ext cx="996776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Industrial Automation</a:t>
            </a:r>
            <a:endParaRPr lang="en-US" sz="750" dirty="0"/>
          </a:p>
        </p:txBody>
      </p:sp>
      <p:sp>
        <p:nvSpPr>
          <p:cNvPr id="23" name="Text 16"/>
          <p:cNvSpPr/>
          <p:nvPr/>
        </p:nvSpPr>
        <p:spPr>
          <a:xfrm>
            <a:off x="4009579" y="3696593"/>
            <a:ext cx="4553843" cy="199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Controls production processes, detects faults, and monitors machines in real time across factories with many robots and sensors.</a:t>
            </a:r>
            <a:endParaRPr lang="en-US" sz="600" dirty="0"/>
          </a:p>
        </p:txBody>
      </p:sp>
      <p:sp>
        <p:nvSpPr>
          <p:cNvPr id="24" name="Shape 17"/>
          <p:cNvSpPr/>
          <p:nvPr/>
        </p:nvSpPr>
        <p:spPr>
          <a:xfrm>
            <a:off x="3925119" y="4025280"/>
            <a:ext cx="4722763" cy="704106"/>
          </a:xfrm>
          <a:prstGeom prst="roundRect">
            <a:avLst>
              <a:gd name="adj" fmla="val 4757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4009579" y="4109740"/>
            <a:ext cx="239167" cy="239167"/>
          </a:xfrm>
          <a:prstGeom prst="roundRect">
            <a:avLst>
              <a:gd name="adj" fmla="val 23893048"/>
            </a:avLst>
          </a:prstGeom>
          <a:solidFill>
            <a:srgbClr val="835E54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075361" y="4175522"/>
            <a:ext cx="107603" cy="107603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009579" y="4393704"/>
            <a:ext cx="996776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Smart Cities</a:t>
            </a:r>
            <a:endParaRPr lang="en-US" sz="750" dirty="0"/>
          </a:p>
        </p:txBody>
      </p:sp>
      <p:sp>
        <p:nvSpPr>
          <p:cNvPr id="28" name="Text 20"/>
          <p:cNvSpPr/>
          <p:nvPr/>
        </p:nvSpPr>
        <p:spPr>
          <a:xfrm>
            <a:off x="4009579" y="4545211"/>
            <a:ext cx="4553843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Analyses data from traffic sensors and public safety cameras locally to improve traffic management and public safety.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A">
              <a:alpha val="7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96119" y="438150"/>
            <a:ext cx="5604718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Benefits &amp; Limitations of Edge Computing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496119" y="1031974"/>
            <a:ext cx="2760911" cy="287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Benefits</a:t>
            </a:r>
            <a:endParaRPr lang="en-US" sz="1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1831" y="1425178"/>
            <a:ext cx="1935212" cy="153419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8387" y="1554584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Low Latency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68387" y="1828056"/>
            <a:ext cx="1619250" cy="1001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processed near the source enables response times in milliseconds, critical for robotics, autonomous vehicles, and emergency healthcare.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96294" y="1425178"/>
            <a:ext cx="1935212" cy="153419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682850" y="1554584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Reduced Bandwidth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2682850" y="1828056"/>
            <a:ext cx="1619250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Only key results and summaries are sent to the cloud, reducing network load significantly.</a:t>
            </a:r>
            <a:endParaRPr lang="en-US" sz="9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1831" y="3052911"/>
            <a:ext cx="1935212" cy="15471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8387" y="3182317"/>
            <a:ext cx="1619250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Improved Privacy &amp; Security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668387" y="3635722"/>
            <a:ext cx="1619250" cy="8349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Sensitive data stays local and is not transmitted to the cloud, enhancing data protection (e.g., in healthcare).</a:t>
            </a:r>
            <a:endParaRPr lang="en-US" sz="9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96294" y="3052911"/>
            <a:ext cx="1935212" cy="15471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682850" y="3182317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Better Reliability</a:t>
            </a:r>
            <a:endParaRPr lang="en-US" sz="1100" dirty="0"/>
          </a:p>
        </p:txBody>
      </p:sp>
      <p:sp>
        <p:nvSpPr>
          <p:cNvPr id="17" name="Text 10"/>
          <p:cNvSpPr/>
          <p:nvPr/>
        </p:nvSpPr>
        <p:spPr>
          <a:xfrm>
            <a:off x="2682850" y="3455789"/>
            <a:ext cx="1619250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Edge systems continue to operate even when cloud connectivity is poor or unavailable.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4717256" y="1031974"/>
            <a:ext cx="2760911" cy="287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Limitations</a:t>
            </a:r>
            <a:endParaRPr lang="en-US" sz="18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02969" y="1425178"/>
            <a:ext cx="1935212" cy="136721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889525" y="1554584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Security Issues</a:t>
            </a:r>
            <a:endParaRPr lang="en-US" sz="1100" dirty="0"/>
          </a:p>
        </p:txBody>
      </p:sp>
      <p:sp>
        <p:nvSpPr>
          <p:cNvPr id="21" name="Text 13"/>
          <p:cNvSpPr/>
          <p:nvPr/>
        </p:nvSpPr>
        <p:spPr>
          <a:xfrm>
            <a:off x="4889525" y="1828056"/>
            <a:ext cx="1619250" cy="8349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Distributed edge devices are harder to protect than centralized cloud servers. A single compromised device can impact the whole system.</a:t>
            </a:r>
            <a:endParaRPr lang="en-US" sz="9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717432" y="1425178"/>
            <a:ext cx="1935212" cy="136721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903988" y="1554584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Limited Resources</a:t>
            </a:r>
            <a:endParaRPr lang="en-US" sz="1100" dirty="0"/>
          </a:p>
        </p:txBody>
      </p:sp>
      <p:sp>
        <p:nvSpPr>
          <p:cNvPr id="24" name="Text 15"/>
          <p:cNvSpPr/>
          <p:nvPr/>
        </p:nvSpPr>
        <p:spPr>
          <a:xfrm>
            <a:off x="6903988" y="1828056"/>
            <a:ext cx="1619250" cy="8349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Edge devices have less computing power, memory, and storage than cloud servers, requiring careful application design.</a:t>
            </a:r>
            <a:endParaRPr lang="en-US" sz="9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702969" y="2885926"/>
            <a:ext cx="1935212" cy="136721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4889525" y="3015332"/>
            <a:ext cx="1541785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Management Complexity</a:t>
            </a:r>
            <a:endParaRPr lang="en-US" sz="1100" dirty="0"/>
          </a:p>
        </p:txBody>
      </p:sp>
      <p:sp>
        <p:nvSpPr>
          <p:cNvPr id="27" name="Text 17"/>
          <p:cNvSpPr/>
          <p:nvPr/>
        </p:nvSpPr>
        <p:spPr>
          <a:xfrm>
            <a:off x="4889525" y="3288804"/>
            <a:ext cx="1619250" cy="8349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Managing many edge devices is difficult — software updates, monitoring, and fault detection are all more complex.</a:t>
            </a:r>
            <a:endParaRPr lang="en-US" sz="90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717432" y="2885926"/>
            <a:ext cx="1935212" cy="136721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6903988" y="3015332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Data Consistency</a:t>
            </a:r>
            <a:endParaRPr lang="en-US" sz="1100" dirty="0"/>
          </a:p>
        </p:txBody>
      </p:sp>
      <p:sp>
        <p:nvSpPr>
          <p:cNvPr id="30" name="Text 19"/>
          <p:cNvSpPr/>
          <p:nvPr/>
        </p:nvSpPr>
        <p:spPr>
          <a:xfrm>
            <a:off x="6903988" y="3288804"/>
            <a:ext cx="1619250" cy="8349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Processing data across multiple sites makes it hard to maintain consistency between edge and cloud systems.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2026-06-23T09:06:17Z</dcterms:created>
  <dcterms:modified xsi:type="dcterms:W3CDTF">2026-06-23T09:06:17Z</dcterms:modified>
</cp:coreProperties>
</file>