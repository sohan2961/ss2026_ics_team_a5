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 Computing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Paderborn
Home Wi-Fi</c:v>
                </c:pt>
                <c:pt idx="1">
                  <c:v>HSHL Central
Wi-Fi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</c:v>
                </c:pt>
                <c:pt idx="1">
                  <c:v>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09-499B-863F-AA0D68086B4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Cloud Computing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Paderborn
Home Wi-Fi</c:v>
                </c:pt>
                <c:pt idx="1">
                  <c:v>HSHL Central
Wi-Fi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510</c:v>
                </c:pt>
                <c:pt idx="1">
                  <c:v>2170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09-499B-863F-AA0D68086B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8F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A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E8FAA"/>
                    </a:solidFill>
                    <a:latin typeface="Arial"/>
                  </a:defRPr>
                </a:pPr>
                <a:r>
                  <a:rPr lang="de-DE" sz="1000" b="0" i="0" u="none" strike="noStrike">
                    <a:solidFill>
                      <a:srgbClr val="5E8FAA"/>
                    </a:solidFill>
                    <a:latin typeface="Arial"/>
                  </a:rPr>
                  <a:t>Latency (ms)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8F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0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38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— introduce the paper and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sections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moves computation to the network edge — next to factories, hospitals, and vehicles.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insight: latency-sensitive tasks (millisecond control) happen at the edge; long-horizon tasks (analytics, training) happen in the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benefits make edge computing indispensable for industrial real-time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and cloud are complementary, not competing. The hybrid model uses each for what it does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computing is now deployed across virtually every sector where timely local decisions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experiment used a Flask server on an Ubuntu 22.04 laptop as the edge node and httpbin.org as the cloud endpoint.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home, edge is 5.4× faster; under HSHL shared WiFi, edge is still 5.1× faster than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Cloud-only processing cannot handle any of these scenarios — latency is simply too high for real-time safety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challenges are real but solvable — dedicated private networks, hardware security modules, and centralised device management platforms address most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edge + cloud is complementary. Key stat: 5.1–5.4× speed advantage confirmed in real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144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Industrial Communication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514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at the source — faster, smarter, more resilient.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Barua · Rahman · Kapil · Chowdhury</a:t>
            </a:r>
            <a:r>
              <a:rPr lang="en-US" sz="1100" dirty="0">
                <a:solidFill>
                  <a:srgbClr val="6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Electronic Engineering · HSHL Lippstadt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edge computing &amp; why it matters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model: Cloud → Fog → Edge → Devices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· Bandwidth · Privacy · Reliability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1430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7"/>
          <p:cNvSpPr/>
          <p:nvPr/>
        </p:nvSpPr>
        <p:spPr>
          <a:xfrm>
            <a:off x="4892040" y="114300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892040" y="114300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6002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· Automotive · Healthcare · Industry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3774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4" name="Shape 22"/>
          <p:cNvSpPr/>
          <p:nvPr/>
        </p:nvSpPr>
        <p:spPr>
          <a:xfrm>
            <a:off x="4892040" y="237744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892040" y="237744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4688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Experiment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28346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vs. Cloud — real measurements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61188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9" name="Shape 27"/>
          <p:cNvSpPr/>
          <p:nvPr/>
        </p:nvSpPr>
        <p:spPr>
          <a:xfrm>
            <a:off x="4892040" y="3611880"/>
            <a:ext cx="502920" cy="105156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4892040" y="3611880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3703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Conclusion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4069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future outlook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Edge Computing?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143000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Closer to the source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893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happens at local gateways or edge servers — not distant cloud data centers.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2130552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11480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947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2768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devices at the bottom, edge nodes in the middle, cloud at the top.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118104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11480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9352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Millisecond decisions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2644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can't wait: robotic arms, conveyor belts and safety systems need sub-millisecond responses.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105656"/>
            <a:ext cx="292608" cy="29260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1148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9227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by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251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systems operate independently even when the cloud connection is lost.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17520" cy="374904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097280"/>
            <a:ext cx="777240" cy="7772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852160" y="2011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897880" y="2468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IoT devices generate data that can no longer be efficiently routed to distant cloud servers.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5216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500 ms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852160" y="3931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cloud round-trip in industry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B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defined role — speed-sensitive tasks stay close to the machines.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Layer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storage · Model retraining · ERP/MES reporting · Global monitoring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80560" y="2011680"/>
            <a:ext cx="0" cy="914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  Fog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5146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between edge and cloud · Short-term aggregation · Prevents cloud overload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2926080"/>
            <a:ext cx="0" cy="914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Shape 10"/>
          <p:cNvSpPr/>
          <p:nvPr/>
        </p:nvSpPr>
        <p:spPr>
          <a:xfrm>
            <a:off x="914400" y="3063240"/>
            <a:ext cx="7315200" cy="749808"/>
          </a:xfrm>
          <a:prstGeom prst="roundRect">
            <a:avLst>
              <a:gd name="adj" fmla="val 9756"/>
            </a:avLst>
          </a:prstGeom>
          <a:solidFill>
            <a:srgbClr val="02A882"/>
          </a:solidFill>
          <a:ln w="12700">
            <a:solidFill>
              <a:srgbClr val="02A8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10515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429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ML/AI analytics · Protocol translation (MODBUS ↔ OPC-UA) · Anomaly detection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80560" y="3840480"/>
            <a:ext cx="0" cy="9144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Shape 14"/>
          <p:cNvSpPr/>
          <p:nvPr/>
        </p:nvSpPr>
        <p:spPr>
          <a:xfrm>
            <a:off x="1188720" y="3977640"/>
            <a:ext cx="6766560" cy="749808"/>
          </a:xfrm>
          <a:prstGeom prst="roundRect">
            <a:avLst>
              <a:gd name="adj" fmla="val 9756"/>
            </a:avLst>
          </a:prstGeom>
          <a:solidFill>
            <a:srgbClr val="026C54"/>
          </a:solidFill>
          <a:ln w="12700">
            <a:solidFill>
              <a:srgbClr val="026C5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1325880" y="4023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Field Devices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43434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· PLCs · Cameras · Robots · IoT modules — raw data sources on the factory floor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612648" y="120700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261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7592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Latency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12648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near the source cuts response times to milliseconds — essential for autonomous vehicles, robotics, and emergency healthcare.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00584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5047488" y="120700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352" y="1261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742432" y="12344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Bandwidth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47488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key results (alarms, status updates) travel to the cloud. Raw data stays local, saving network capacity.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30175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0"/>
          <p:cNvSpPr/>
          <p:nvPr/>
        </p:nvSpPr>
        <p:spPr>
          <a:xfrm>
            <a:off x="612648" y="321868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2735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07592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Privacy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264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(e.g. patient records) stays on-premise. Only necessary summaries reach the cloud.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46320" y="301752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4"/>
          <p:cNvSpPr/>
          <p:nvPr/>
        </p:nvSpPr>
        <p:spPr>
          <a:xfrm>
            <a:off x="5047488" y="3218688"/>
            <a:ext cx="566928" cy="5669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32735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42432" y="32461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Reliability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04748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systems continue operating when cloud connectivity is poor or lost — critical for remote factories.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vs. Edge Computing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971800" y="960120"/>
            <a:ext cx="2788920" cy="502920"/>
          </a:xfrm>
          <a:prstGeom prst="roundRect">
            <a:avLst>
              <a:gd name="adj" fmla="val 1272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2971800" y="960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0" y="960120"/>
            <a:ext cx="2788920" cy="502920"/>
          </a:xfrm>
          <a:prstGeom prst="roundRect">
            <a:avLst>
              <a:gd name="adj" fmla="val 1272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035040" y="9601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8412480" cy="530352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Location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71800" y="15544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cloud servers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5544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device/user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971800" y="2103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(≥ 500 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103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(&lt; 100 ms local)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51760"/>
            <a:ext cx="8412480" cy="530352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Use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71800" y="26517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all data to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6517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only summaries sent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Capacity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71800" y="320040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(unlimited)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(local storage)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530352"/>
          </a:xfrm>
          <a:prstGeom prst="rect">
            <a:avLst/>
          </a:prstGeom>
          <a:solidFill>
            <a:srgbClr val="F8FBFD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57200" y="374904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971800" y="37490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connection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0" y="374904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E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8" name="Text 26"/>
          <p:cNvSpPr/>
          <p:nvPr/>
        </p:nvSpPr>
        <p:spPr>
          <a:xfrm>
            <a:off x="457200" y="4297680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 Case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971800" y="4297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· ML training · ERP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35040" y="429768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· Safety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Areas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170432"/>
            <a:ext cx="512064" cy="5120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of Things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21214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homes, factories &amp; agriculture process sensor data locally for instant reactions.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48840" y="10058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912" y="1170432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4884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148840" y="21214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and LIDAR data processed on-vehicle — cloud round-trips are too slow for safety.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931920" y="10058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992" y="1170432"/>
            <a:ext cx="512064" cy="5120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31920" y="1755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931920" y="21214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and patient monitors trigger local emergency alerts within milliseconds.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1261872" y="28346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7944" y="2999232"/>
            <a:ext cx="512064" cy="5120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Automation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261872" y="39502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detection, quality control, and real-time machine monitoring on the factory floor.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3044952" y="2834640"/>
            <a:ext cx="1645920" cy="164592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24" y="2999232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044952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3044952" y="395020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sensors and cameras analysed locally to reduce congestion and improve safety.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120640" y="960120"/>
            <a:ext cx="3657600" cy="3657600"/>
          </a:xfrm>
          <a:prstGeom prst="roundRect">
            <a:avLst>
              <a:gd name="adj" fmla="val 3000"/>
            </a:avLst>
          </a:prstGeom>
          <a:solidFill>
            <a:srgbClr val="031E30"/>
          </a:solidFill>
          <a:ln w="12700">
            <a:solidFill>
              <a:srgbClr val="1A4F7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17"/>
          <p:cNvSpPr/>
          <p:nvPr/>
        </p:nvSpPr>
        <p:spPr>
          <a:xfrm>
            <a:off x="5212080" y="1097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257800" y="160020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domain, the unifying theme is the same: decisions that matter happen in real time, and real time means milliseconds — not the 500 ms+ of a cloud round-trip.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8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bridges the gap between raw sensor data and timely, local intelligence.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Experiment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measurement — not an estimate — using two common network environments.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Edge Computing Test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 →  Home Wi-Fi  →  Ubuntu Laptop (Flask)  →  Mobile Phone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server at 192.168.178.78:5000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round-trip measured end-to-end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411480"/>
          </a:xfrm>
          <a:prstGeom prst="roundRect">
            <a:avLst>
              <a:gd name="adj" fmla="val 22222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Computing Test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7190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 →  Internet  →  Remote Cloud Server  →  Mobile Phone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-w "%{time_total}" https://httpbin.org/get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round-trip measured end-to-end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1600200"/>
          </a:xfrm>
          <a:prstGeom prst="roundRect">
            <a:avLst>
              <a:gd name="adj" fmla="val 5714"/>
            </a:avLst>
          </a:prstGeom>
          <a:solidFill>
            <a:srgbClr val="E4F2F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Network Environments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Paderborn Home Wi-Fi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9959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Private, stable, low contention — closest to ideal industrial private network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HSHL Central Wi-Fi (Lippstadt)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0600" y="399592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university network — simulates a busy factory floor environment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6868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989320" y="9144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21B2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6035040" y="1005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5.4×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03504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(home Wi-Fi)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ms vs 510 ms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989320" y="2286000"/>
            <a:ext cx="2834640" cy="1234440"/>
          </a:xfrm>
          <a:prstGeom prst="roundRect">
            <a:avLst>
              <a:gd name="adj" fmla="val 7407"/>
            </a:avLst>
          </a:prstGeom>
          <a:solidFill>
            <a:srgbClr val="021B2E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6"/>
          <p:cNvSpPr/>
          <p:nvPr/>
        </p:nvSpPr>
        <p:spPr>
          <a:xfrm>
            <a:off x="6035040" y="23774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035040" y="2944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(HSHL Wi-Fi)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32278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 ms vs 2170 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3767328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E4F2F8"/>
          </a:solidFill>
          <a:ln w="12700">
            <a:solidFill>
              <a:srgbClr val="B8D8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0"/>
          <p:cNvSpPr/>
          <p:nvPr/>
        </p:nvSpPr>
        <p:spPr>
          <a:xfrm>
            <a:off x="6035040" y="38313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Takeaway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41513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is faster even on congested networks — the gap only widens under load.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Use Cases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02920" y="11247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11247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PCB &amp; SMT Assembly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1618488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inspection detects misplaced components, missing solder, or bad orientation. The edge system rejects the board instantly — before bad units continue down the line.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4937760" y="11247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577840" y="112471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CNC Machining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01768" y="1618488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temperature, and current sensors feed into an edge node that predicts tool wear before breakage, alerting operators to swap tools proactively.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502920" y="31363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143000" y="3136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Welding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" y="3630168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weld's current, voltage, and timing are compared against quality limits in real time. Defective welds are flagged and the robot halted within milliseconds.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27000" dist="381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4937760" y="31363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77840" y="313639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Filling Lines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01768" y="3630168"/>
            <a:ext cx="3730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check fill level, weight, label position, and packaging integrity. Under-filled or contaminated units are removed before final packaging.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4" name="Shape 2"/>
          <p:cNvSpPr/>
          <p:nvPr/>
        </p:nvSpPr>
        <p:spPr>
          <a:xfrm>
            <a:off x="566928" y="1207008"/>
            <a:ext cx="566928" cy="566928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26187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61872" y="1234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are distributed across many sites, making centralised protection difficult. A compromised device can impact the whole system.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Shape 6"/>
          <p:cNvSpPr/>
          <p:nvPr/>
        </p:nvSpPr>
        <p:spPr>
          <a:xfrm>
            <a:off x="5001768" y="1207008"/>
            <a:ext cx="566928" cy="566928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26187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96712" y="12344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Resources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001768" y="18745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hardware has less compute, memory, and storage than cloud servers. Applications must be carefully optimised.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0175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Shape 10"/>
          <p:cNvSpPr/>
          <p:nvPr/>
        </p:nvSpPr>
        <p:spPr>
          <a:xfrm>
            <a:off x="566928" y="3218688"/>
            <a:ext cx="566928" cy="566928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27355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61872" y="3246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Complexity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6692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software updates, monitoring, and fault detection across hundreds of edge nodes is a significant operational challenge.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00600" y="30175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EF8F8"/>
          </a:solidFill>
          <a:ln w="12700">
            <a:solidFill>
              <a:srgbClr val="FDDED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9" name="Shape 14"/>
          <p:cNvSpPr/>
          <p:nvPr/>
        </p:nvSpPr>
        <p:spPr>
          <a:xfrm>
            <a:off x="5001768" y="3218688"/>
            <a:ext cx="566928" cy="566928"/>
          </a:xfrm>
          <a:prstGeom prst="ellipse">
            <a:avLst/>
          </a:prstGeom>
          <a:solidFill>
            <a:srgbClr val="D94F4F"/>
          </a:solidFill>
          <a:ln w="12700">
            <a:solidFill>
              <a:srgbClr val="D94F4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27355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96712" y="324612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Consistency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001768" y="388620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data at multiple sites makes it harder to maintain a single consistent view between edge and cloud systems.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 is a key technology for modern distributed systems — not a replacement for the cloud, but a complement.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5544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handles latency-sensitive local tasks (fault detection, safety response, quality control).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handles large-scale storage, model training, and long-term analytics.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confirm edge processing is 5.1–5.4× faster across all network conditions tested.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33756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777240" y="3291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edge–cloud architecture is the practical solution for Industry 4.0.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09651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FB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Barua · Rahman · Kapil · Chowdhury  |  HSHL Lippstadt  |  Electronic Engineering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1300</Words>
  <Application>Microsoft Office PowerPoint</Application>
  <PresentationFormat>On-screen Show (16:9)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Computing in Industrial Communication</dc:title>
  <dc:subject>PptxGenJS Presentation</dc:subject>
  <dc:creator>PptxGenJS</dc:creator>
  <cp:lastModifiedBy>M R Sohan</cp:lastModifiedBy>
  <cp:revision>1</cp:revision>
  <dcterms:created xsi:type="dcterms:W3CDTF">2026-06-22T22:25:08Z</dcterms:created>
  <dcterms:modified xsi:type="dcterms:W3CDTF">2026-06-23T09:29:35Z</dcterms:modified>
</cp:coreProperties>
</file>