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 computing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Home Wi‑Fi</c:v>
                  </c:pt>
                  <c:pt idx="1">
                    <c:v>HSHL Wi‑Fi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422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Cloud computing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Home Wi‑Fi</c:v>
                  </c:pt>
                  <c:pt idx="1">
                    <c:v>HSHL Wi‑Fi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510</c:v>
                </c:pt>
                <c:pt idx="1">
                  <c:v>2170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14B5B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0"/>
        </c:scaling>
        <c:delete val="0"/>
        <c:axPos val="l"/>
        <c:majorGridlines>
          <c:spPr>
            <a:ln w="12700" cap="flat">
              <a:solidFill>
                <a:srgbClr val="D8E5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14B5B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saying: This presentation explains why edge computing is important in industrial communication. The simple idea is that data should be processed near the machines, not always in a far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with a simple example: If a machine overheats, the system must react immediately. If the data must travel to the cloud and back first, the answer can arrive too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Edge computing does not remove the cloud. It uses edge for quick local work and cloud for storage, reports, and long-term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layer from bottom to top: devices create data, edge reacts quickly, fog helps aggregate, cloud stores and analyses for the long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human example: different machines speak different languages. The edge node works like a translator and also decides which messages are important.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difference is not just technology. The main question is where the data is processed. Cloud is far but powerful. Edge is close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simple: list the four benefits. Explain that edge computing is especially useful when time, bandwidth and reliability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 all these areas, the common need is quick local decision-making. For example, in PCB assembly an edge system can reject a bad board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 test is simple but useful. It compares a local edge server with a remote cloud request. Latency means request time plus response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The most important number is not only 95 ms. The key is comparison. In the same location, edge was about five times faster than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formula simply: latency goes up when distance is larger, bandwidth is limited, data is large, or computing resources are slow. Edge reduces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Our prototype used everyday devices, but the role mapping is clear. Phone becomes sensor/PLC, laptop becomes edge gateway, Wi-Fi becomes industrial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main message: Edge computing is important because factories need fast decisions. The best solution is hybrid: edge for urgent tasks, cloud for heavy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GE_MASTER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13232"/>
            <a:ext cx="1051560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713232"/>
            <a:ext cx="502920" cy="91440"/>
          </a:xfrm>
          <a:prstGeom prst="rect">
            <a:avLst/>
          </a:prstGeom>
          <a:solidFill>
            <a:srgbClr val="5EC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05840"/>
            <a:ext cx="571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Computing in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Industrial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EEAF2"/>
                </a:solidFill>
              </a:rPr>
              <a:t>From sensors and machines to fast local decisions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85800" y="5742432"/>
            <a:ext cx="6583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4E8F2"/>
                </a:solidFill>
              </a:rPr>
              <a:t>Turja Barua • Md Mostafizur Rahman • Deepak Kapil • Moaz Bin Alamgir Chowdhury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8F2"/>
                </a:solidFill>
              </a:rPr>
              <a:t>Electronic Engineering · Hochschule Hamm‑Lippstadt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960120"/>
            <a:ext cx="48920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endParaRPr lang="en-US" sz="1500" dirty="0"/>
          </a:p>
        </p:txBody>
      </p:sp>
      <p:pic>
        <p:nvPicPr>
          <p:cNvPr id="9" name="Image 0" descr="/mnt/data/edge_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627918"/>
            <a:ext cx="4745736" cy="266947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49440" y="5303520"/>
            <a:ext cx="4297680" cy="438912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latency • Less bandwidth • Local reliability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cloud-only processing is a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12344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A3A"/>
                </a:solidFill>
              </a:rPr>
              <a:t>Industrial systems are time-critical: robots, conveyor belts, sensors and PLCs often need responses in milliseconds.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2011680"/>
            <a:ext cx="40233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Sending every signal to a distant cloud adds network delay.
</a:t>
            </a:r>
            <a:pPr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late response can mean defects, machine damage or safety risk.
</a:t>
            </a:r>
            <a:pPr indent="0" marL="0">
              <a:buNone/>
            </a:pPr>
            <a:r>
              <a:rPr lang="en-US" sz="15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internet/cloud connection fails, production still needs to continue.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2834640"/>
            <a:ext cx="1097280" cy="0"/>
          </a:xfrm>
          <a:prstGeom prst="line">
            <a:avLst/>
          </a:prstGeom>
          <a:noFill/>
          <a:ln w="25400">
            <a:solidFill>
              <a:srgbClr val="C8D7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796528" y="2834640"/>
            <a:ext cx="1097280" cy="0"/>
          </a:xfrm>
          <a:prstGeom prst="line">
            <a:avLst/>
          </a:prstGeom>
          <a:noFill/>
          <a:ln w="25400">
            <a:solidFill>
              <a:srgbClr val="C8D7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349240" y="2240280"/>
            <a:ext cx="1234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562088" y="2240280"/>
            <a:ext cx="123444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BBF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893808" y="2240280"/>
            <a:ext cx="1234440" cy="1143000"/>
          </a:xfrm>
          <a:prstGeom prst="rect">
            <a:avLst/>
          </a:prstGeom>
          <a:solidFill>
            <a:srgbClr val="EAF3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4114800"/>
            <a:ext cx="20574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510 ms
</a:t>
            </a:r>
            <a:pPr algn="ctr" indent="0" marL="0">
              <a:buNone/>
            </a:pPr>
            <a:r>
              <a:rPr lang="en-US" sz="1020" b="1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cloud latency on home Wi‑Fi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851392" y="4114800"/>
            <a:ext cx="242316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2170 ms
</a:t>
            </a:r>
            <a:pPr algn="ctr" indent="0" marL="0">
              <a:buNone/>
            </a:pPr>
            <a:r>
              <a:rPr lang="en-US" sz="1020" b="1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cloud latency on shared HSHL Wi‑Fi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99632" y="5532120"/>
            <a:ext cx="4434840" cy="475488"/>
          </a:xfrm>
          <a:prstGeom prst="rect">
            <a:avLst/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cannot wait for a distant server.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CONCEPT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idea: process near the data source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34440"/>
            <a:ext cx="571500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endParaRPr lang="en-US" sz="1500" dirty="0"/>
          </a:p>
        </p:txBody>
      </p:sp>
      <p:pic>
        <p:nvPicPr>
          <p:cNvPr id="6" name="Image 0" descr="/mnt/data/edge_assets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32" y="1307592"/>
            <a:ext cx="520192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4251960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58190"/>
                </a:solidFill>
              </a:rPr>
              <a:t>Industrial devices → edge layer → selected data to cloud</a:t>
            </a:r>
            <a:endParaRPr lang="en-US" sz="83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280160"/>
            <a:ext cx="45262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computing places a local gateway/server near sensors, PLCs, robots or cameras.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12280" y="2240280"/>
            <a:ext cx="4251960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 is processed locally.
</a:t>
            </a:r>
            <a:pPr indent="0" marL="0">
              <a:buNone/>
            </a:pPr>
            <a:r>
              <a:rPr lang="en-US" sz="15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alarms, summaries or important results go to SCADA, ERP or cloud.
</a:t>
            </a:r>
            <a:pPr indent="0" marL="0">
              <a:buNone/>
            </a:pPr>
            <a:r>
              <a:rPr lang="en-US" sz="15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factory can continue operating even if cloud connectivity is unstable.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720840" y="4297680"/>
            <a:ext cx="4526280" cy="566928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stays close. Decisions are faster.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12280" y="5257800"/>
            <a:ext cx="13716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67B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
</a:t>
            </a:r>
            <a:pPr algn="ctr" indent="0" marL="0">
              <a:buNone/>
            </a:pPr>
            <a:r>
              <a:rPr lang="en-US" sz="1020" b="1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near machines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339328" y="5257800"/>
            <a:ext cx="1417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Real‑time
</a:t>
            </a:r>
            <a:pPr algn="ctr" indent="0" marL="0">
              <a:buNone/>
            </a:pPr>
            <a:r>
              <a:rPr lang="en-US" sz="1020" b="1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alerts and actions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948672" y="5257800"/>
            <a:ext cx="1417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
</a:t>
            </a:r>
            <a:pPr algn="ctr" indent="0" marL="0">
              <a:buNone/>
            </a:pPr>
            <a:r>
              <a:rPr lang="en-US" sz="1020" b="1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+ cloud together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STRUCTURE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Industrial edge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4300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endParaRPr lang="en-US" sz="1500" dirty="0"/>
          </a:p>
        </p:txBody>
      </p:sp>
      <p:pic>
        <p:nvPicPr>
          <p:cNvPr id="6" name="Image 0" descr="/mnt/data/edge_assets/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79096"/>
            <a:ext cx="5248656" cy="362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18464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58190"/>
                </a:solidFill>
              </a:rPr>
              <a:t>Edge devices, edge gateways, fog layer and cloud layer</a:t>
            </a:r>
            <a:endParaRPr lang="en-US" sz="83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225296"/>
            <a:ext cx="1508760" cy="530352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layer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028432" y="1225296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storage, dashboards, model training, ERP/MES reporting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185416"/>
            <a:ext cx="1508760" cy="530352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Fog layer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028432" y="2185416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Buffers and aggregates data between edge and cloud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3145536"/>
            <a:ext cx="1508760" cy="530352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layer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028432" y="3145536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processing, AI/fault detection, protocol translation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4105656"/>
            <a:ext cx="1508760" cy="53035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devices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028432" y="4105656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Sensors, cameras, PLCs, robots and IoT modules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92240" y="5468112"/>
            <a:ext cx="4389120" cy="502920"/>
          </a:xfrm>
          <a:prstGeom prst="rect">
            <a:avLst/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tasks stay low. Heavy analysis moves up.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COMMUNICATION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edge node acts like a local translator and brain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43000"/>
            <a:ext cx="5943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endParaRPr lang="en-US" sz="1500" dirty="0"/>
          </a:p>
        </p:txBody>
      </p:sp>
      <p:pic>
        <p:nvPicPr>
          <p:cNvPr id="6" name="Image 0" descr="/mnt/data/edge_assets/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74" y="1216152"/>
            <a:ext cx="5552172" cy="2807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041648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58190"/>
                </a:solidFill>
              </a:rPr>
              <a:t>Field devices connect through an industrial edge node to upper systems</a:t>
            </a:r>
            <a:endParaRPr lang="en-US" sz="830" dirty="0"/>
          </a:p>
        </p:txBody>
      </p:sp>
      <p:sp>
        <p:nvSpPr>
          <p:cNvPr id="8" name="Shape 5"/>
          <p:cNvSpPr/>
          <p:nvPr/>
        </p:nvSpPr>
        <p:spPr>
          <a:xfrm>
            <a:off x="2103120" y="5266944"/>
            <a:ext cx="1417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166360" y="5266944"/>
            <a:ext cx="1417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229600" y="5266944"/>
            <a:ext cx="1417320" cy="0"/>
          </a:xfrm>
          <a:prstGeom prst="line">
            <a:avLst/>
          </a:prstGeom>
          <a:noFill/>
          <a:ln w="254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685800" y="4754880"/>
            <a:ext cx="14173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MODBUS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4754880"/>
            <a:ext cx="1645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OPC‑UA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663440"/>
            <a:ext cx="1645920" cy="1143000"/>
          </a:xfrm>
          <a:prstGeom prst="rect">
            <a:avLst/>
          </a:prstGeom>
          <a:solidFill>
            <a:srgbClr val="E9F6F6"/>
          </a:solidFill>
          <a:ln w="12700">
            <a:solidFill>
              <a:srgbClr val="9DDCD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gateway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+ filter + analyse</a:t>
            </a:r>
            <a:endParaRPr lang="en-US" sz="1180" dirty="0"/>
          </a:p>
        </p:txBody>
      </p:sp>
      <p:sp>
        <p:nvSpPr>
          <p:cNvPr id="14" name="Text 11"/>
          <p:cNvSpPr txBox="1"/>
          <p:nvPr/>
        </p:nvSpPr>
        <p:spPr>
          <a:xfrm>
            <a:off x="9646920" y="4754880"/>
            <a:ext cx="1691640" cy="960120"/>
          </a:xfrm>
          <a:prstGeom prst="rect">
            <a:avLst/>
          </a:prstGeom>
          <a:solidFill>
            <a:srgbClr val="EAF3FF"/>
          </a:solidFill>
          <a:ln w="12700">
            <a:solidFill>
              <a:srgbClr val="93C5F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SCADA / ERP / Cloud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116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data only</a:t>
            </a:r>
            <a:endParaRPr lang="en-US" sz="118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1325880"/>
            <a:ext cx="4343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if an abnormal vibration is detected, the edge gateway can trigger an alarm or stop command locally.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086600" y="2651760"/>
            <a:ext cx="38862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conversion
</a:t>
            </a:r>
            <a:pPr indent="0" marL="0">
              <a:buNone/>
            </a:pPr>
            <a:r>
              <a:rPr lang="en-US" sz="14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analytics and filtering
</a:t>
            </a:r>
            <a:pPr indent="0" marL="0">
              <a:buNone/>
            </a:pPr>
            <a:r>
              <a:rPr lang="en-US" sz="14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4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traffic between factory floor and upper network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computing vs. edge computing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98448"/>
            <a:ext cx="4709160" cy="502920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computing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711696" y="1298448"/>
            <a:ext cx="4709160" cy="502920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1920240" cy="475488"/>
          </a:xfrm>
          <a:prstGeom prst="rect">
            <a:avLst/>
          </a:prstGeom>
          <a:solidFill>
            <a:srgbClr val="EDF4F8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location</a:t>
            </a:r>
            <a:endParaRPr lang="en-US" sz="126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057400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 cloud server</a:t>
            </a:r>
            <a:endParaRPr lang="en-US" sz="1270" dirty="0"/>
          </a:p>
        </p:txBody>
      </p:sp>
      <p:sp>
        <p:nvSpPr>
          <p:cNvPr id="9" name="Text 7"/>
          <p:cNvSpPr txBox="1"/>
          <p:nvPr/>
        </p:nvSpPr>
        <p:spPr>
          <a:xfrm>
            <a:off x="6711696" y="2057400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 the device or user</a:t>
            </a:r>
            <a:endParaRPr lang="en-US" sz="127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862072"/>
            <a:ext cx="1920240" cy="475488"/>
          </a:xfrm>
          <a:prstGeom prst="rect">
            <a:avLst/>
          </a:prstGeom>
          <a:solidFill>
            <a:srgbClr val="EDF4F8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26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862072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</a:t>
            </a:r>
            <a:endParaRPr lang="en-US" sz="1270" dirty="0"/>
          </a:p>
        </p:txBody>
      </p:sp>
      <p:sp>
        <p:nvSpPr>
          <p:cNvPr id="12" name="Text 10"/>
          <p:cNvSpPr txBox="1"/>
          <p:nvPr/>
        </p:nvSpPr>
        <p:spPr>
          <a:xfrm>
            <a:off x="6711696" y="2862072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</a:t>
            </a:r>
            <a:endParaRPr lang="en-US" sz="127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66744"/>
            <a:ext cx="1920240" cy="475488"/>
          </a:xfrm>
          <a:prstGeom prst="rect">
            <a:avLst/>
          </a:prstGeom>
          <a:solidFill>
            <a:srgbClr val="EDF4F8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Bandwidth use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3666744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raw data sent to cloud</a:t>
            </a:r>
            <a:endParaRPr lang="en-US" sz="127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3666744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data leaves the factory</a:t>
            </a:r>
            <a:endParaRPr lang="en-US" sz="127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71416"/>
            <a:ext cx="1920240" cy="475488"/>
          </a:xfrm>
          <a:prstGeom prst="rect">
            <a:avLst/>
          </a:prstGeom>
          <a:solidFill>
            <a:srgbClr val="EDF4F8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use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4471416"/>
            <a:ext cx="2697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storage and long-term analytics</a:t>
            </a:r>
            <a:endParaRPr lang="en-US" sz="1270" dirty="0"/>
          </a:p>
        </p:txBody>
      </p:sp>
      <p:sp>
        <p:nvSpPr>
          <p:cNvPr id="18" name="Text 16"/>
          <p:cNvSpPr txBox="1"/>
          <p:nvPr/>
        </p:nvSpPr>
        <p:spPr>
          <a:xfrm>
            <a:off x="6711696" y="4471416"/>
            <a:ext cx="4709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local response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1828800" y="5760720"/>
            <a:ext cx="8549640" cy="512064"/>
          </a:xfrm>
          <a:prstGeom prst="rect">
            <a:avLst/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They are partners: edge handles urgent tasks, cloud handles heavy tasks.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benefits of edge computing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658368" cy="658368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09928" y="1536192"/>
            <a:ext cx="4434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Low latency
</a:t>
            </a:r>
            <a:pPr indent="0" marL="0">
              <a:buNone/>
            </a:pPr>
            <a:r>
              <a:rPr lang="en-US" sz="1450" dirty="0">
                <a:solidFill>
                  <a:srgbClr val="314B5B"/>
                </a:solidFill>
              </a:rPr>
              <a:t>Faster response because data is processed nearby.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554480"/>
            <a:ext cx="658368" cy="658368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96328" y="1536192"/>
            <a:ext cx="4434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Reduced bandwidth
</a:t>
            </a:r>
            <a:pPr indent="0" marL="0">
              <a:buNone/>
            </a:pPr>
            <a:r>
              <a:rPr lang="en-US" sz="1450" dirty="0">
                <a:solidFill>
                  <a:srgbClr val="314B5B"/>
                </a:solidFill>
              </a:rPr>
              <a:t>Only useful results are sent to cloud or upper systems.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94760"/>
            <a:ext cx="658368" cy="658368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709928" y="3776472"/>
            <a:ext cx="4434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Better privacy
</a:t>
            </a:r>
            <a:pPr indent="0" marL="0">
              <a:buNone/>
            </a:pPr>
            <a:r>
              <a:rPr lang="en-US" sz="1450" dirty="0">
                <a:solidFill>
                  <a:srgbClr val="314B5B"/>
                </a:solidFill>
              </a:rPr>
              <a:t>Sensitive data can remain local inside the factory.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794760"/>
            <a:ext cx="658368" cy="658368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96328" y="3776472"/>
            <a:ext cx="4434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Higher reliability
</a:t>
            </a:r>
            <a:pPr indent="0" marL="0">
              <a:buNone/>
            </a:pPr>
            <a:r>
              <a:rPr lang="en-US" sz="1450" dirty="0">
                <a:solidFill>
                  <a:srgbClr val="314B5B"/>
                </a:solidFill>
              </a:rPr>
              <a:t>Local operation can continue if cloud connection is weak.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40280" y="5669280"/>
            <a:ext cx="7680960" cy="50292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fit: real-time industrial monitoring, fault detection and quality control.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AREAS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edge computing is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17320"/>
            <a:ext cx="3291840" cy="411480"/>
          </a:xfrm>
          <a:prstGeom prst="rect">
            <a:avLst/>
          </a:prstGeom>
          <a:solidFill>
            <a:srgbClr val="E9F6F6"/>
          </a:solidFill>
          <a:ln w="12700">
            <a:solidFill>
              <a:srgbClr val="A6E0E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factories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9384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monitoring, robots, PLCs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17320"/>
            <a:ext cx="3291840" cy="411480"/>
          </a:xfrm>
          <a:prstGeom prst="rect">
            <a:avLst/>
          </a:prstGeom>
          <a:solidFill>
            <a:srgbClr val="EAF3FF"/>
          </a:solidFill>
          <a:ln w="12700">
            <a:solidFill>
              <a:srgbClr val="B8D7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vehicles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929384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sensor and camera decisions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1417320"/>
            <a:ext cx="3291840" cy="411480"/>
          </a:xfrm>
          <a:prstGeom prst="rect">
            <a:avLst/>
          </a:prstGeom>
          <a:solidFill>
            <a:srgbClr val="E9F6F6"/>
          </a:solidFill>
          <a:ln w="12700">
            <a:solidFill>
              <a:srgbClr val="A6E0E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929384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wearables and emergency alerts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3291840" cy="411480"/>
          </a:xfrm>
          <a:prstGeom prst="rect">
            <a:avLst/>
          </a:prstGeom>
          <a:solidFill>
            <a:srgbClr val="EAF3FF"/>
          </a:solidFill>
          <a:ln w="12700">
            <a:solidFill>
              <a:srgbClr val="B8D7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cities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215384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cameras and public safety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703320"/>
            <a:ext cx="3291840" cy="411480"/>
          </a:xfrm>
          <a:prstGeom prst="rect">
            <a:avLst/>
          </a:prstGeom>
          <a:solidFill>
            <a:srgbClr val="E9F6F6"/>
          </a:solidFill>
          <a:ln w="12700">
            <a:solidFill>
              <a:srgbClr val="A6E0E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systems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4215384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homes, agriculture and devices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5833872"/>
            <a:ext cx="10469880" cy="438912"/>
          </a:xfrm>
          <a:prstGeom prst="rect">
            <a:avLst/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industry examples: PCB inspection • CNC tool wear • robotic welding • pharmaceutical packaging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TEST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Latency experiment: edge vs. cloud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2588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endParaRPr lang="en-US" sz="1500" dirty="0"/>
          </a:p>
        </p:txBody>
      </p:sp>
      <p:pic>
        <p:nvPicPr>
          <p:cNvPr id="6" name="Image 0" descr="/mnt/data/edge_assets/img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06801"/>
            <a:ext cx="5111496" cy="14943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27248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58190"/>
                </a:solidFill>
              </a:rPr>
              <a:t>Edge test: mobile phone → home Wi‑Fi → Ubuntu laptop server</a:t>
            </a:r>
            <a:endParaRPr lang="en-US" sz="830" dirty="0"/>
          </a:p>
        </p:txBody>
      </p:sp>
      <p:sp>
        <p:nvSpPr>
          <p:cNvPr id="8" name="Text 5"/>
          <p:cNvSpPr txBox="1"/>
          <p:nvPr/>
        </p:nvSpPr>
        <p:spPr>
          <a:xfrm>
            <a:off x="6236208" y="132588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l" indent="0" marL="0">
              <a:buNone/>
            </a:pPr>
            <a:endParaRPr lang="en-US" sz="1500" dirty="0"/>
          </a:p>
        </p:txBody>
      </p:sp>
      <p:pic>
        <p:nvPicPr>
          <p:cNvPr id="9" name="Image 1" descr="/mnt/data/edge_assets/img-00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702" y="1399032"/>
            <a:ext cx="4484811" cy="1709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7648" y="3127248"/>
            <a:ext cx="5074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58190"/>
                </a:solidFill>
              </a:rPr>
              <a:t>Cloud test: mobile phone → internet → remote cloud server</a:t>
            </a:r>
            <a:endParaRPr lang="en-US" sz="83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886200"/>
            <a:ext cx="4160520" cy="438912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setup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078992" y="4498848"/>
            <a:ext cx="425196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phone acted as client
</a:t>
            </a:r>
            <a:pPr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22.04 laptop ran a Python Flask server
</a:t>
            </a:r>
            <a:pPr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were on the same local Wi‑Fi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748272" y="3886200"/>
            <a:ext cx="4160520" cy="438912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setup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01968" y="4498848"/>
            <a:ext cx="425196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request sent through the internet
</a:t>
            </a:r>
            <a:pPr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server measured with curl
</a:t>
            </a:r>
            <a:pPr indent="0" marL="0">
              <a:buNone/>
            </a:pPr>
            <a:r>
              <a:rPr lang="en-US" sz="13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3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request-response time recorded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OUTPUT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Measured latency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32588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26680" y="1417320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 ms
</a:t>
            </a:r>
            <a:pPr algn="ctr" indent="0" marL="0">
              <a:buNone/>
            </a:pPr>
            <a:r>
              <a:rPr lang="en-US" sz="1020" b="1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latency on stable home Wi‑Fi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26680" y="2670048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1D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510 ms
</a:t>
            </a:r>
            <a:pPr algn="ctr" indent="0" marL="0">
              <a:buNone/>
            </a:pPr>
            <a:r>
              <a:rPr lang="en-US" sz="1020" b="1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latency on stable home Wi‑Fi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26680" y="3931920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5.1–5.4×
</a:t>
            </a:r>
            <a:pPr algn="ctr" indent="0" marL="0">
              <a:buNone/>
            </a:pPr>
            <a:r>
              <a:rPr lang="en-US" sz="1020" b="1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was faster in the tests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5760720"/>
            <a:ext cx="10241280" cy="457200"/>
          </a:xfrm>
          <a:prstGeom prst="rect">
            <a:avLst/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edge computing reduced response time in both network environments.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results mean for industry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325880"/>
            <a:ext cx="3291840" cy="457200"/>
          </a:xfrm>
          <a:prstGeom prst="rect">
            <a:avLst/>
          </a:prstGeom>
          <a:solidFill>
            <a:srgbClr val="0B1F33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relation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6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= X / L + D / 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246888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distance
</a:t>
            </a:r>
            <a:pPr indent="0" marL="0">
              <a:buNone/>
            </a:pPr>
            <a:r>
              <a:rPr lang="en-US" sz="12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network bandwidth
</a:t>
            </a:r>
            <a:pPr indent="0" marL="0">
              <a:buNone/>
            </a:pPr>
            <a:r>
              <a:rPr lang="en-US" sz="12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= data rate
</a:t>
            </a:r>
            <a:pPr indent="0" marL="0">
              <a:buNone/>
            </a:pPr>
            <a:r>
              <a:rPr lang="en-US" sz="12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5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computing resources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1325880"/>
            <a:ext cx="2194560" cy="438912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quality matters</a:t>
            </a:r>
            <a:endParaRPr lang="en-US" sz="138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32588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Wi‑Fi increased latency strongly, even for edge computing.</a:t>
            </a:r>
            <a:endParaRPr lang="en-US" sz="127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60320"/>
            <a:ext cx="2194560" cy="438912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distance matters more</a:t>
            </a:r>
            <a:endParaRPr lang="en-US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56032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traffic must travel through the public internet and back.</a:t>
            </a:r>
            <a:endParaRPr lang="en-US" sz="127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794760"/>
            <a:ext cx="2194560" cy="438912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practice</a:t>
            </a:r>
            <a:endParaRPr lang="en-US" sz="138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379476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dedicated local industrial network for edge tasks.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2103120" y="5687568"/>
            <a:ext cx="8001000" cy="502920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edge for immediate control; use cloud for long-term analysis.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Mapping the prototype to an industrial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234440"/>
            <a:ext cx="2880360" cy="438912"/>
          </a:xfrm>
          <a:prstGeom prst="rect">
            <a:avLst/>
          </a:prstGeom>
          <a:solidFill>
            <a:srgbClr val="E9F6F6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phone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3977640" y="1234440"/>
            <a:ext cx="7086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/ PLC / robot / machine / IIoT device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2880360" cy="438912"/>
          </a:xfrm>
          <a:prstGeom prst="rect">
            <a:avLst/>
          </a:prstGeom>
          <a:solidFill>
            <a:srgbClr val="EAF3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Wi‑Fi network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1920240"/>
            <a:ext cx="7086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Ethernet / PROFINET / OPC UA / MQTT / 5G</a:t>
            </a:r>
            <a:endParaRPr lang="en-US" sz="126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06040"/>
            <a:ext cx="2880360" cy="438912"/>
          </a:xfrm>
          <a:prstGeom prst="rect">
            <a:avLst/>
          </a:prstGeom>
          <a:solidFill>
            <a:srgbClr val="E9F6F6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laptop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606040"/>
            <a:ext cx="7086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gateway / industrial PC / local server</a:t>
            </a:r>
            <a:endParaRPr lang="en-US" sz="126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291840"/>
            <a:ext cx="2880360" cy="438912"/>
          </a:xfrm>
          <a:prstGeom prst="rect">
            <a:avLst/>
          </a:prstGeom>
          <a:solidFill>
            <a:srgbClr val="EAF3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app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3291840"/>
            <a:ext cx="7086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edge analytics or preprocessing software</a:t>
            </a:r>
            <a:endParaRPr lang="en-US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977640"/>
            <a:ext cx="2880360" cy="438912"/>
          </a:xfrm>
          <a:prstGeom prst="rect">
            <a:avLst/>
          </a:prstGeom>
          <a:solidFill>
            <a:srgbClr val="E9F6F6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value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3977640"/>
            <a:ext cx="7086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response time in milliseconds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1463040" y="5074920"/>
            <a:ext cx="9281160" cy="475488"/>
          </a:xfrm>
          <a:prstGeom prst="rect">
            <a:avLst/>
          </a:prstGeom>
          <a:solidFill>
            <a:srgbClr val="0B1F33"/>
          </a:solidFill>
          <a:ln>
            <a:solidFill>
              <a:srgbClr val="0B1F33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experiment is small, but the industrial idea is the same.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5687568"/>
            <a:ext cx="9372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314B5B"/>
                </a:solidFill>
              </a:rPr>
              <a:t>In a factory, the edge gateway can filter raw machine data and send only warnings, summaries or useful results to upper systems.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and final takeaway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28816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58190"/>
                </a:solidFill>
              </a:rPr>
              <a:t>Edge Computing in Industrial Communication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53312"/>
            <a:ext cx="1874520" cy="438912"/>
          </a:xfrm>
          <a:prstGeom prst="rect">
            <a:avLst/>
          </a:prstGeom>
          <a:solidFill>
            <a:srgbClr val="E11D48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353312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distributed devices are harder to protect.</a:t>
            </a:r>
            <a:endParaRPr lang="en-US" sz="1230" dirty="0"/>
          </a:p>
        </p:txBody>
      </p:sp>
      <p:sp>
        <p:nvSpPr>
          <p:cNvPr id="7" name="Text 5"/>
          <p:cNvSpPr txBox="1"/>
          <p:nvPr/>
        </p:nvSpPr>
        <p:spPr>
          <a:xfrm>
            <a:off x="6199632" y="1353312"/>
            <a:ext cx="1874520" cy="43891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resources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11312" y="1353312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 devices have less power than cloud servers.</a:t>
            </a:r>
            <a:endParaRPr lang="en-US" sz="123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1874520" cy="438912"/>
          </a:xfrm>
          <a:prstGeom prst="rect">
            <a:avLst/>
          </a:prstGeom>
          <a:solidFill>
            <a:srgbClr val="1167B1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complexity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971800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and monitoring across many nodes are difficult.</a:t>
            </a:r>
            <a:endParaRPr lang="en-US" sz="123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2971800"/>
            <a:ext cx="1874520" cy="438912"/>
          </a:xfrm>
          <a:prstGeom prst="rect">
            <a:avLst/>
          </a:prstGeom>
          <a:solidFill>
            <a:srgbClr val="00A6A6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consistency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11312" y="2971800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314B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edge sites must stay synchronized.</a:t>
            </a:r>
            <a:endParaRPr lang="en-US" sz="123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800600"/>
            <a:ext cx="1965960" cy="475488"/>
          </a:xfrm>
          <a:prstGeom prst="rect">
            <a:avLst/>
          </a:prstGeom>
          <a:solidFill>
            <a:srgbClr val="0B1F33"/>
          </a:solidFill>
          <a:ln/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takeaway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37560" y="4718304"/>
            <a:ext cx="7452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 computing is not a replacement for cloud computing.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the fast local layer that makes industrial communication more responsive, reliable and practical.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5870448"/>
            <a:ext cx="9144000" cy="438912"/>
          </a:xfrm>
          <a:prstGeom prst="rect">
            <a:avLst/>
          </a:prstGeom>
          <a:solidFill>
            <a:srgbClr val="00A6A6"/>
          </a:solidFill>
          <a:ln>
            <a:solidFill>
              <a:srgbClr val="00A6A6">
                <a:alpha val="0"/>
              </a:srgbClr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architecture: edge for real-time actions + cloud for storage and analytics.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5819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HSHL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Computing in Industrial Communication</dc:title>
  <dc:subject>Edge Computing in Industrial Communication</dc:subject>
  <dc:creator>OpenAI</dc:creator>
  <cp:lastModifiedBy>OpenAI</cp:lastModifiedBy>
  <cp:revision>1</cp:revision>
  <dcterms:created xsi:type="dcterms:W3CDTF">2026-06-22T22:26:14Z</dcterms:created>
  <dcterms:modified xsi:type="dcterms:W3CDTF">2026-06-22T22:26:14Z</dcterms:modified>
</cp:coreProperties>
</file>