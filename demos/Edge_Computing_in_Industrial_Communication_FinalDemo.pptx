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  <p:sldMasterId id="2147483701" r:id="rId2"/>
  </p:sldMasterIdLst>
  <p:notesMasterIdLst>
    <p:notesMasterId r:id="rId19"/>
  </p:notesMasterIdLst>
  <p:sldIdLst>
    <p:sldId id="272" r:id="rId3"/>
    <p:sldId id="276" r:id="rId4"/>
    <p:sldId id="269" r:id="rId5"/>
    <p:sldId id="261" r:id="rId6"/>
    <p:sldId id="257" r:id="rId7"/>
    <p:sldId id="268" r:id="rId8"/>
    <p:sldId id="258" r:id="rId9"/>
    <p:sldId id="259" r:id="rId10"/>
    <p:sldId id="260" r:id="rId11"/>
    <p:sldId id="263" r:id="rId12"/>
    <p:sldId id="267" r:id="rId13"/>
    <p:sldId id="265" r:id="rId14"/>
    <p:sldId id="271" r:id="rId15"/>
    <p:sldId id="262" r:id="rId16"/>
    <p:sldId id="266" r:id="rId17"/>
    <p:sldId id="274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Edge computing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Home Wi‑Fi</c:v>
                </c:pt>
                <c:pt idx="1">
                  <c:v>HSHL central Wi‑Fi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</c:v>
                </c:pt>
                <c:pt idx="1">
                  <c:v>422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3A-4DA0-921F-9F809ED0B2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Cloud computing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Home Wi‑Fi</c:v>
                </c:pt>
                <c:pt idx="1">
                  <c:v>HSHL central Wi‑Fi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510</c:v>
                </c:pt>
                <c:pt idx="1">
                  <c:v>2170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3A-4DA0-921F-9F809ED0B2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00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40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60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 computing moves computation to the network edge — next to factories, hospitals, and vehicles.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layer from bottom to top: devices create data, edge reacts quickly, fog helps aggregate, cloud stores and analyses for the long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 and cloud are complementary, not competing. The hybrid model uses each for what it does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that latency means the full round-trip time. The test used a mobile phone as the client, a laptop as the local edge server, and an external internet server for cloud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3D3CC-7D84-F18C-673B-6219129F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12D27-7ADB-1645-DBB0-3D13C0BFB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842DB5-B9B2-A733-A73E-B8C58624D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Say that in the edge test, the laptop acts like a small local server. The phone sends data over the same Wi-Fi network, the laptop processes it, and the response comes back without going to a remote cloud server.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4C515-0AE6-2916-1A41-FD0978E456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40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that in the edge test, the laptop acts like a small local server. The phone sends data over the same Wi-Fi network, the laptop processes it, and the response comes back without going to a remote cloud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cloud test used a remote HTTP server. The request must go through the public internet, reach the server, and return. This adds round-trip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Cloud-only processing cannot handle any of these scenarios — latency is simply too high for real-time safety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benefits make edge computing indispensable for industrial real-time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 computing is now deployed across virtually every sector where timely local decisions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challenges are real but solvable — dedicated private networks, hardware security modules, and centralised device management platforms address most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edge + cloud is complementary. Key stat: 5.1–5.4× speed advantage confirmed in real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79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8765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13593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7337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94323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33632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55867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7675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9156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4914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63699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62497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DGE_MASTER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29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053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1298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098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6389BC5-A3AC-6923-F702-E2785BCD09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24" r="4511" b="15312"/>
          <a:stretch>
            <a:fillRect/>
          </a:stretch>
        </p:blipFill>
        <p:spPr>
          <a:xfrm>
            <a:off x="5521036" y="1953491"/>
            <a:ext cx="6670964" cy="34310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F6D112-3A23-6CB9-7240-3D30C15A455D}"/>
              </a:ext>
            </a:extLst>
          </p:cNvPr>
          <p:cNvSpPr txBox="1"/>
          <p:nvPr/>
        </p:nvSpPr>
        <p:spPr>
          <a:xfrm>
            <a:off x="475888" y="716973"/>
            <a:ext cx="98065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Edge Computing in Industrial Communication</a:t>
            </a:r>
            <a:endParaRPr lang="en-DE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D65FFC-A754-CCBD-91D0-C5A8EBE6FF75}"/>
              </a:ext>
            </a:extLst>
          </p:cNvPr>
          <p:cNvSpPr txBox="1"/>
          <p:nvPr/>
        </p:nvSpPr>
        <p:spPr>
          <a:xfrm>
            <a:off x="613064" y="2826327"/>
            <a:ext cx="1576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/>
              <a:t>TEAM-A5</a:t>
            </a:r>
            <a:endParaRPr lang="en-DE" sz="2800" b="1" u="sn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AAA4F4-FDDC-F03A-6344-95C48199B9E9}"/>
              </a:ext>
            </a:extLst>
          </p:cNvPr>
          <p:cNvSpPr txBox="1"/>
          <p:nvPr/>
        </p:nvSpPr>
        <p:spPr>
          <a:xfrm>
            <a:off x="613064" y="3508454"/>
            <a:ext cx="295465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de-DE" sz="2000" dirty="0"/>
              <a:t>Md Mostafizur Rahman	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de-DE" sz="2000" dirty="0"/>
              <a:t>Turja Barua	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de-DE" sz="2000" dirty="0"/>
              <a:t>Deepak Kapil	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de-DE" sz="2000" dirty="0"/>
              <a:t>Moaz Chowdhury</a:t>
            </a:r>
            <a:endParaRPr lang="en-DE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B818D-CD01-B9C1-8E5F-7E9C6109E93A}"/>
              </a:ext>
            </a:extLst>
          </p:cNvPr>
          <p:cNvSpPr txBox="1"/>
          <p:nvPr/>
        </p:nvSpPr>
        <p:spPr>
          <a:xfrm>
            <a:off x="4031673" y="6400800"/>
            <a:ext cx="3506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Industrial Communication Standard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812882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Edge Computing?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548640" y="1524000"/>
            <a:ext cx="390144" cy="3901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4" name="Text 2"/>
          <p:cNvSpPr/>
          <p:nvPr/>
        </p:nvSpPr>
        <p:spPr>
          <a:xfrm>
            <a:off x="548640" y="1524000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6096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Closer to the source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1097280" y="1719072"/>
            <a:ext cx="609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happens at local gateways or edge servers — not distant cloud data centers.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548640" y="2840736"/>
            <a:ext cx="390144" cy="3901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8" name="Text 6"/>
          <p:cNvSpPr/>
          <p:nvPr/>
        </p:nvSpPr>
        <p:spPr>
          <a:xfrm>
            <a:off x="548640" y="2840736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1097280" y="2596896"/>
            <a:ext cx="6096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architecture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1097280" y="3035808"/>
            <a:ext cx="609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devices at the bottom, edge nodes in the middle, cloud at the top.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548640" y="4157472"/>
            <a:ext cx="390144" cy="3901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12" name="Text 10"/>
          <p:cNvSpPr/>
          <p:nvPr/>
        </p:nvSpPr>
        <p:spPr>
          <a:xfrm>
            <a:off x="548640" y="4157472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1097280" y="3913632"/>
            <a:ext cx="6096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Millisecond decisions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1097280" y="4352544"/>
            <a:ext cx="609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can't wait: robotic arms, conveyor belts and safety systems need sub-millisecond responses.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548640" y="5474208"/>
            <a:ext cx="390144" cy="3901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16" name="Text 14"/>
          <p:cNvSpPr/>
          <p:nvPr/>
        </p:nvSpPr>
        <p:spPr>
          <a:xfrm>
            <a:off x="548640" y="5474208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1097280" y="5230368"/>
            <a:ext cx="6096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Resilient by design</a:t>
            </a:r>
            <a:endParaRPr lang="en-US" sz="1867" dirty="0"/>
          </a:p>
        </p:txBody>
      </p:sp>
      <p:sp>
        <p:nvSpPr>
          <p:cNvPr id="18" name="Text 16"/>
          <p:cNvSpPr/>
          <p:nvPr/>
        </p:nvSpPr>
        <p:spPr>
          <a:xfrm>
            <a:off x="1097280" y="5669280"/>
            <a:ext cx="609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systems operate independently even when the cloud connection is lost.</a:t>
            </a:r>
            <a:endParaRPr lang="en-US" sz="1467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960" y="1463040"/>
            <a:ext cx="1036320" cy="1036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802880" y="2682240"/>
            <a:ext cx="377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pic>
        <p:nvPicPr>
          <p:cNvPr id="25" name="Image 0" descr="/mnt/data/edge_assets/img-000.png">
            <a:extLst>
              <a:ext uri="{FF2B5EF4-FFF2-40B4-BE49-F238E27FC236}">
                <a16:creationId xmlns:a16="http://schemas.microsoft.com/office/drawing/2014/main" id="{F5BA1A8D-78DA-8FD4-C716-8CC085081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990" y="2223932"/>
            <a:ext cx="4884928" cy="27477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47466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of Edge Computing</a:t>
            </a:r>
            <a:endParaRPr lang="en-US" sz="2800" dirty="0"/>
          </a:p>
        </p:txBody>
      </p:sp>
      <p:pic>
        <p:nvPicPr>
          <p:cNvPr id="6" name="Image 0" descr="/mnt/data/edge_assets/img-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78" y="1379920"/>
            <a:ext cx="6570482" cy="45370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223760" y="1900705"/>
            <a:ext cx="1508760" cy="530352"/>
          </a:xfrm>
          <a:prstGeom prst="rect">
            <a:avLst/>
          </a:prstGeom>
          <a:solidFill>
            <a:srgbClr val="1167B1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layer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897112" y="1900705"/>
            <a:ext cx="3063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storage, dashboards, model training, ERP/MES reporting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2860825"/>
            <a:ext cx="1508760" cy="530352"/>
          </a:xfrm>
          <a:prstGeom prst="rect">
            <a:avLst/>
          </a:prstGeom>
          <a:solidFill>
            <a:srgbClr val="00A6A6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Fog layer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897112" y="2860825"/>
            <a:ext cx="3063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Buffers and aggregates data between edge and cloud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3820945"/>
            <a:ext cx="1508760" cy="530352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layer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8897112" y="3820945"/>
            <a:ext cx="3063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processing, AI/fault detection, protocol translation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4781065"/>
            <a:ext cx="1508760" cy="53035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devices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897112" y="4781065"/>
            <a:ext cx="3063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Sensors, cameras, PLCs, robots and IoT modules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658190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6882245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D2B3E"/>
                </a:solidFill>
                <a:latin typeface="Aptos Display" panose="020B0004020202020204" pitchFamily="34" charset="0"/>
                <a:ea typeface="Cambria" pitchFamily="34" charset="-122"/>
                <a:cs typeface="Cambria" pitchFamily="34" charset="-120"/>
              </a:rPr>
              <a:t>Cloud vs. Edge Computing</a:t>
            </a:r>
            <a:endParaRPr lang="en-US" sz="2800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962400" y="1280160"/>
            <a:ext cx="3718560" cy="670560"/>
          </a:xfrm>
          <a:prstGeom prst="roundRect">
            <a:avLst>
              <a:gd name="adj" fmla="val 1272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4" name="Text 2"/>
          <p:cNvSpPr/>
          <p:nvPr/>
        </p:nvSpPr>
        <p:spPr>
          <a:xfrm>
            <a:off x="3962400" y="1280160"/>
            <a:ext cx="3718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8046720" y="1280160"/>
            <a:ext cx="3718560" cy="670560"/>
          </a:xfrm>
          <a:prstGeom prst="roundRect">
            <a:avLst>
              <a:gd name="adj" fmla="val 1272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6" name="Text 4"/>
          <p:cNvSpPr/>
          <p:nvPr/>
        </p:nvSpPr>
        <p:spPr>
          <a:xfrm>
            <a:off x="8046720" y="1280160"/>
            <a:ext cx="3718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487680" y="2072640"/>
            <a:ext cx="11216640" cy="707136"/>
          </a:xfrm>
          <a:prstGeom prst="rect">
            <a:avLst/>
          </a:prstGeom>
          <a:solidFill>
            <a:srgbClr val="F8FBFD"/>
          </a:solidFill>
          <a:ln w="12700">
            <a:solidFill>
              <a:srgbClr val="E0EEF5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8" name="Text 6"/>
          <p:cNvSpPr/>
          <p:nvPr/>
        </p:nvSpPr>
        <p:spPr>
          <a:xfrm>
            <a:off x="609600" y="2072640"/>
            <a:ext cx="32308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Location</a:t>
            </a:r>
            <a:endParaRPr lang="en-US" sz="1533" dirty="0"/>
          </a:p>
        </p:txBody>
      </p:sp>
      <p:sp>
        <p:nvSpPr>
          <p:cNvPr id="9" name="Text 7"/>
          <p:cNvSpPr/>
          <p:nvPr/>
        </p:nvSpPr>
        <p:spPr>
          <a:xfrm>
            <a:off x="3962400" y="207264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cloud servers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8046720" y="207264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0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device/user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487680" y="2804160"/>
            <a:ext cx="1121664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12" name="Text 10"/>
          <p:cNvSpPr/>
          <p:nvPr/>
        </p:nvSpPr>
        <p:spPr>
          <a:xfrm>
            <a:off x="609600" y="2804160"/>
            <a:ext cx="32308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533" dirty="0"/>
          </a:p>
        </p:txBody>
      </p:sp>
      <p:sp>
        <p:nvSpPr>
          <p:cNvPr id="13" name="Text 11"/>
          <p:cNvSpPr/>
          <p:nvPr/>
        </p:nvSpPr>
        <p:spPr>
          <a:xfrm>
            <a:off x="3962400" y="280416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</a:p>
        </p:txBody>
      </p:sp>
      <p:sp>
        <p:nvSpPr>
          <p:cNvPr id="14" name="Text 12"/>
          <p:cNvSpPr/>
          <p:nvPr/>
        </p:nvSpPr>
        <p:spPr>
          <a:xfrm>
            <a:off x="8046720" y="280416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0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487680" y="3535680"/>
            <a:ext cx="11216640" cy="707136"/>
          </a:xfrm>
          <a:prstGeom prst="rect">
            <a:avLst/>
          </a:prstGeom>
          <a:solidFill>
            <a:srgbClr val="F8FBFD"/>
          </a:solidFill>
          <a:ln w="12700">
            <a:solidFill>
              <a:srgbClr val="E0EEF5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16" name="Text 14"/>
          <p:cNvSpPr/>
          <p:nvPr/>
        </p:nvSpPr>
        <p:spPr>
          <a:xfrm>
            <a:off x="609600" y="3535680"/>
            <a:ext cx="32308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Use</a:t>
            </a:r>
            <a:endParaRPr lang="en-US" sz="1533" dirty="0"/>
          </a:p>
        </p:txBody>
      </p:sp>
      <p:sp>
        <p:nvSpPr>
          <p:cNvPr id="17" name="Text 15"/>
          <p:cNvSpPr/>
          <p:nvPr/>
        </p:nvSpPr>
        <p:spPr>
          <a:xfrm>
            <a:off x="3962400" y="353568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all data to cloud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8046720" y="353568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0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only summaries sent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487680" y="4267200"/>
            <a:ext cx="1121664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20" name="Text 18"/>
          <p:cNvSpPr/>
          <p:nvPr/>
        </p:nvSpPr>
        <p:spPr>
          <a:xfrm>
            <a:off x="609600" y="4267200"/>
            <a:ext cx="32308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Capacity</a:t>
            </a:r>
            <a:endParaRPr lang="en-US" sz="1533" dirty="0"/>
          </a:p>
        </p:txBody>
      </p:sp>
      <p:sp>
        <p:nvSpPr>
          <p:cNvPr id="21" name="Text 19"/>
          <p:cNvSpPr/>
          <p:nvPr/>
        </p:nvSpPr>
        <p:spPr>
          <a:xfrm>
            <a:off x="3962400" y="426720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(unlimited)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8046720" y="426720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0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(local storage)</a:t>
            </a:r>
            <a:endParaRPr lang="en-US" sz="1467" dirty="0"/>
          </a:p>
        </p:txBody>
      </p:sp>
      <p:sp>
        <p:nvSpPr>
          <p:cNvPr id="23" name="Shape 21"/>
          <p:cNvSpPr/>
          <p:nvPr/>
        </p:nvSpPr>
        <p:spPr>
          <a:xfrm>
            <a:off x="487680" y="4998720"/>
            <a:ext cx="11216640" cy="707136"/>
          </a:xfrm>
          <a:prstGeom prst="rect">
            <a:avLst/>
          </a:prstGeom>
          <a:solidFill>
            <a:srgbClr val="F8FBFD"/>
          </a:solidFill>
          <a:ln w="12700">
            <a:solidFill>
              <a:srgbClr val="E0EEF5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24" name="Text 22"/>
          <p:cNvSpPr/>
          <p:nvPr/>
        </p:nvSpPr>
        <p:spPr>
          <a:xfrm>
            <a:off x="609600" y="4998720"/>
            <a:ext cx="32308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533" dirty="0"/>
          </a:p>
        </p:txBody>
      </p:sp>
      <p:sp>
        <p:nvSpPr>
          <p:cNvPr id="25" name="Text 23"/>
          <p:cNvSpPr/>
          <p:nvPr/>
        </p:nvSpPr>
        <p:spPr>
          <a:xfrm>
            <a:off x="3962400" y="499872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internet connection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8046720" y="499872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0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467" dirty="0"/>
          </a:p>
        </p:txBody>
      </p:sp>
      <p:sp>
        <p:nvSpPr>
          <p:cNvPr id="27" name="Shape 25"/>
          <p:cNvSpPr/>
          <p:nvPr/>
        </p:nvSpPr>
        <p:spPr>
          <a:xfrm>
            <a:off x="487680" y="5730240"/>
            <a:ext cx="1121664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28" name="Text 26"/>
          <p:cNvSpPr/>
          <p:nvPr/>
        </p:nvSpPr>
        <p:spPr>
          <a:xfrm>
            <a:off x="609600" y="5730240"/>
            <a:ext cx="32308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</a:t>
            </a:r>
            <a:endParaRPr lang="en-US" sz="1533" dirty="0"/>
          </a:p>
        </p:txBody>
      </p:sp>
      <p:sp>
        <p:nvSpPr>
          <p:cNvPr id="29" name="Text 27"/>
          <p:cNvSpPr/>
          <p:nvPr/>
        </p:nvSpPr>
        <p:spPr>
          <a:xfrm>
            <a:off x="3962400" y="573024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· ML training · ERP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8046720" y="573024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0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control · Safety</a:t>
            </a:r>
            <a:endParaRPr lang="en-US" sz="146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Latency test Setup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658368" y="141732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172A"/>
                </a:solidFill>
              </a:rPr>
              <a:t>Latency Definition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3578047" y="5628131"/>
            <a:ext cx="6035040" cy="3657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1E293B"/>
                </a:solidFill>
              </a:rPr>
              <a:t>Time from sending a request until the response is received.</a:t>
            </a:r>
            <a:endParaRPr lang="en-US" sz="1700"/>
          </a:p>
        </p:txBody>
      </p:sp>
      <p:sp>
        <p:nvSpPr>
          <p:cNvPr id="10" name="Text 8"/>
          <p:cNvSpPr/>
          <p:nvPr/>
        </p:nvSpPr>
        <p:spPr>
          <a:xfrm>
            <a:off x="658368" y="2788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</a:rPr>
              <a:t>Client device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658368" y="310896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Mobile phone</a:t>
            </a:r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658368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Generated sensor-like data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3886200" y="2788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</a:rPr>
              <a:t>Edge server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3886200" y="31089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Ubuntu laptop</a:t>
            </a:r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3886200" y="3657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Processed the request locally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7269480" y="2788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</a:rPr>
              <a:t>Cloud target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7269480" y="310896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Internet server</a:t>
            </a:r>
            <a:endParaRPr lang="en-US" sz="2800"/>
          </a:p>
        </p:txBody>
      </p:sp>
      <p:sp>
        <p:nvSpPr>
          <p:cNvPr id="18" name="Text 16"/>
          <p:cNvSpPr/>
          <p:nvPr/>
        </p:nvSpPr>
        <p:spPr>
          <a:xfrm>
            <a:off x="7269480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External online server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1097280" y="5349240"/>
            <a:ext cx="969264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1005840" y="525780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10698480" y="525780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777240" y="55595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</a:rPr>
              <a:t>Request sent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10058400" y="55595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</a:rPr>
              <a:t>Response received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4754880" y="4983481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172A"/>
                </a:solidFill>
              </a:rPr>
              <a:t>Measured latency</a:t>
            </a:r>
            <a:endParaRPr lang="en-US" sz="15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8BDE60-736E-D0C2-FCA8-713757DCD0F8}"/>
              </a:ext>
            </a:extLst>
          </p:cNvPr>
          <p:cNvSpPr txBox="1"/>
          <p:nvPr/>
        </p:nvSpPr>
        <p:spPr>
          <a:xfrm>
            <a:off x="548528" y="1711305"/>
            <a:ext cx="1115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Tested in two environments: </a:t>
            </a:r>
            <a:r>
              <a:rPr lang="en-US"/>
              <a:t>Paderborn home Wi-Fi (stable, private)  ·  HSHL central Wi-Fi (shared, congested)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0459A-53A9-BD5B-5EEF-0B4F2007E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DD03136-E4C0-0DAA-28DA-2BD5E6A07FA6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E7F8F0-1F0C-387B-4448-78239C79AF0C}"/>
              </a:ext>
            </a:extLst>
          </p:cNvPr>
          <p:cNvSpPr/>
          <p:nvPr/>
        </p:nvSpPr>
        <p:spPr>
          <a:xfrm>
            <a:off x="1188720" y="2742784"/>
            <a:ext cx="5658889" cy="686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Only “HSHL”  </a:t>
            </a:r>
            <a:r>
              <a:rPr lang="en-US" sz="4000" b="1" dirty="0" err="1">
                <a:solidFill>
                  <a:schemeClr val="accent2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Wifi</a:t>
            </a:r>
            <a:r>
              <a:rPr lang="en-US" sz="4000" b="1" dirty="0">
                <a:solidFill>
                  <a:schemeClr val="accent2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 USER</a:t>
            </a:r>
            <a:endParaRPr lang="en-US" sz="40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48FF9C-25A3-A045-BC25-D28645176F15}"/>
              </a:ext>
            </a:extLst>
          </p:cNvPr>
          <p:cNvSpPr/>
          <p:nvPr/>
        </p:nvSpPr>
        <p:spPr>
          <a:xfrm>
            <a:off x="50292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D12924C-D3D3-A054-49F3-F49585B21B4A}"/>
              </a:ext>
            </a:extLst>
          </p:cNvPr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148068-6652-E8D2-22A6-D11BEB80D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534" y="1039091"/>
            <a:ext cx="3574964" cy="463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15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Edge Latency Test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/>
          </a:p>
        </p:txBody>
      </p:sp>
      <p:sp>
        <p:nvSpPr>
          <p:cNvPr id="26" name="Text 24"/>
          <p:cNvSpPr/>
          <p:nvPr/>
        </p:nvSpPr>
        <p:spPr>
          <a:xfrm>
            <a:off x="7315200" y="4343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</a:rPr>
              <a:t>Stable local network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7315200" y="466344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 ms</a:t>
            </a:r>
            <a:endParaRPr lang="en-US" sz="2800"/>
          </a:p>
        </p:txBody>
      </p:sp>
      <p:sp>
        <p:nvSpPr>
          <p:cNvPr id="28" name="Text 26"/>
          <p:cNvSpPr/>
          <p:nvPr/>
        </p:nvSpPr>
        <p:spPr>
          <a:xfrm>
            <a:off x="7315200" y="5212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Paderborn home Wi‑Fi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960120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</a:rPr>
              <a:t>Shared network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9601200" y="466344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422 ms</a:t>
            </a:r>
            <a:endParaRPr lang="en-US" sz="2800"/>
          </a:p>
        </p:txBody>
      </p:sp>
      <p:sp>
        <p:nvSpPr>
          <p:cNvPr id="31" name="Text 29"/>
          <p:cNvSpPr/>
          <p:nvPr/>
        </p:nvSpPr>
        <p:spPr>
          <a:xfrm>
            <a:off x="9601200" y="5212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HSHL central Wi‑Fi</a:t>
            </a:r>
            <a:endParaRPr lang="en-US" sz="1050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85871834-A737-5935-230C-D6D183FD7CD8}"/>
              </a:ext>
            </a:extLst>
          </p:cNvPr>
          <p:cNvSpPr/>
          <p:nvPr/>
        </p:nvSpPr>
        <p:spPr>
          <a:xfrm>
            <a:off x="685800" y="3840545"/>
            <a:ext cx="3946767" cy="2464424"/>
          </a:xfrm>
          <a:prstGeom prst="roundRect">
            <a:avLst>
              <a:gd name="adj" fmla="val 2410"/>
            </a:avLst>
          </a:prstGeom>
          <a:solidFill>
            <a:srgbClr val="ECFDF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9DCD7F8F-A20B-0EF4-55BB-FE1CC7778FFD}"/>
              </a:ext>
            </a:extLst>
          </p:cNvPr>
          <p:cNvSpPr/>
          <p:nvPr/>
        </p:nvSpPr>
        <p:spPr>
          <a:xfrm>
            <a:off x="1259905" y="3950273"/>
            <a:ext cx="2204294" cy="368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kern="0" spc="267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Procedure</a:t>
            </a: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C303A1E8-3446-A622-FD51-EC338289595B}"/>
              </a:ext>
            </a:extLst>
          </p:cNvPr>
          <p:cNvSpPr/>
          <p:nvPr/>
        </p:nvSpPr>
        <p:spPr>
          <a:xfrm>
            <a:off x="823158" y="4243804"/>
            <a:ext cx="3218688" cy="11429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</a:t>
            </a: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running Python Flask</a:t>
            </a:r>
            <a:endParaRPr lang="en-US" sz="1200"/>
          </a:p>
          <a:p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</a:t>
            </a:r>
            <a:endParaRPr lang="en-US" sz="1200"/>
          </a:p>
          <a:p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→ http://192.168.178.78:5000</a:t>
            </a:r>
            <a:endParaRPr lang="en-US" sz="1200"/>
          </a:p>
          <a:p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log:</a:t>
            </a:r>
            <a:endParaRPr lang="en-US" sz="1200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B6309E4E-9632-44EB-B7B7-60EC75C3457F}"/>
              </a:ext>
            </a:extLst>
          </p:cNvPr>
          <p:cNvSpPr/>
          <p:nvPr/>
        </p:nvSpPr>
        <p:spPr>
          <a:xfrm>
            <a:off x="823158" y="5139387"/>
            <a:ext cx="3294690" cy="682095"/>
          </a:xfrm>
          <a:prstGeom prst="roundRect">
            <a:avLst>
              <a:gd name="adj" fmla="val 8333"/>
            </a:avLst>
          </a:prstGeom>
          <a:solidFill>
            <a:srgbClr val="162440"/>
          </a:solidFill>
          <a:ln/>
        </p:spPr>
        <p:txBody>
          <a:bodyPr/>
          <a:lstStyle/>
          <a:p>
            <a:endParaRPr lang="en-DE" sz="240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8ED202C2-BBA9-962D-5181-3572D42DF858}"/>
              </a:ext>
            </a:extLst>
          </p:cNvPr>
          <p:cNvSpPr/>
          <p:nvPr/>
        </p:nvSpPr>
        <p:spPr>
          <a:xfrm>
            <a:off x="917448" y="5017115"/>
            <a:ext cx="3577467" cy="7893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7D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/process HTTP/1.1" 200</a:t>
            </a:r>
            <a:endParaRPr lang="en-US" sz="1200"/>
          </a:p>
          <a:p>
            <a:r>
              <a:rPr lang="en-US" sz="1200">
                <a:solidFill>
                  <a:srgbClr val="7D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192.168.178.117 → .78:5000</a:t>
            </a:r>
            <a:endParaRPr lang="en-US" sz="120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96C6CB1F-073B-DCD1-C084-2369A9603D3E}"/>
              </a:ext>
            </a:extLst>
          </p:cNvPr>
          <p:cNvSpPr/>
          <p:nvPr/>
        </p:nvSpPr>
        <p:spPr>
          <a:xfrm>
            <a:off x="874776" y="5676754"/>
            <a:ext cx="4583700" cy="51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200 OK </a:t>
            </a: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successful edge communication.</a:t>
            </a:r>
            <a:endParaRPr lang="en-US" sz="12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16AF6F-B879-93F2-F14D-F4379335E0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0744" r="-266" b="20744"/>
          <a:stretch>
            <a:fillRect/>
          </a:stretch>
        </p:blipFill>
        <p:spPr bwMode="auto">
          <a:xfrm>
            <a:off x="2599886" y="1306836"/>
            <a:ext cx="7046075" cy="20586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0B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Latency Test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/>
          </a:p>
        </p:txBody>
      </p:sp>
      <p:sp>
        <p:nvSpPr>
          <p:cNvPr id="20" name="Text 18"/>
          <p:cNvSpPr/>
          <p:nvPr/>
        </p:nvSpPr>
        <p:spPr>
          <a:xfrm>
            <a:off x="1051560" y="4379976"/>
            <a:ext cx="48463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DCFC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-w "Total time: %{time_total} seconds"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DCFC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https://httpbin.org/get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7040880" y="4160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</a:rPr>
              <a:t>Measured cloud latency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7040880" y="448056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510 ms</a:t>
            </a:r>
            <a:endParaRPr lang="en-US" sz="2800"/>
          </a:p>
        </p:txBody>
      </p:sp>
      <p:sp>
        <p:nvSpPr>
          <p:cNvPr id="24" name="Text 22"/>
          <p:cNvSpPr/>
          <p:nvPr/>
        </p:nvSpPr>
        <p:spPr>
          <a:xfrm>
            <a:off x="9326880" y="4160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</a:rPr>
              <a:t>Worst shared network result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9326880" y="448056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EF44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2170 ms</a:t>
            </a:r>
            <a:endParaRPr lang="en-US" sz="2800"/>
          </a:p>
        </p:txBody>
      </p:sp>
      <p:sp>
        <p:nvSpPr>
          <p:cNvPr id="26" name="Text 24"/>
          <p:cNvSpPr/>
          <p:nvPr/>
        </p:nvSpPr>
        <p:spPr>
          <a:xfrm>
            <a:off x="9436018" y="50292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HSHL central Wi‑Fi</a:t>
            </a:r>
            <a:endParaRPr lang="en-US" sz="1050"/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8203E6DC-67BD-FB27-94D8-1F598C2ACDB4}"/>
              </a:ext>
            </a:extLst>
          </p:cNvPr>
          <p:cNvSpPr/>
          <p:nvPr/>
        </p:nvSpPr>
        <p:spPr>
          <a:xfrm>
            <a:off x="670560" y="3766835"/>
            <a:ext cx="3517982" cy="2394698"/>
          </a:xfrm>
          <a:prstGeom prst="roundRect">
            <a:avLst>
              <a:gd name="adj" fmla="val 2410"/>
            </a:avLst>
          </a:prstGeom>
          <a:solidFill>
            <a:srgbClr val="FFF7ED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B0AF9283-CA5D-5EA0-A88D-234AA2F85E86}"/>
              </a:ext>
            </a:extLst>
          </p:cNvPr>
          <p:cNvSpPr/>
          <p:nvPr/>
        </p:nvSpPr>
        <p:spPr>
          <a:xfrm>
            <a:off x="1119939" y="3882576"/>
            <a:ext cx="2204294" cy="368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kern="0" spc="267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Procedure</a:t>
            </a: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73A74130-AF13-4964-DD0F-F2EFA7FA2CF0}"/>
              </a:ext>
            </a:extLst>
          </p:cNvPr>
          <p:cNvSpPr/>
          <p:nvPr/>
        </p:nvSpPr>
        <p:spPr>
          <a:xfrm>
            <a:off x="823158" y="4243804"/>
            <a:ext cx="3218688" cy="11429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via public internet</a:t>
            </a:r>
            <a:endParaRPr lang="en-US" sz="1200"/>
          </a:p>
          <a:p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endParaRPr lang="en-US" sz="1200"/>
          </a:p>
          <a:p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https://httpbin.org/get</a:t>
            </a:r>
            <a:endParaRPr lang="en-US" sz="1200"/>
          </a:p>
          <a:p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</a:t>
            </a:r>
            <a:endParaRPr lang="en-US" sz="1200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A1FD7C37-ACC6-EE8F-2F59-30C95481428D}"/>
              </a:ext>
            </a:extLst>
          </p:cNvPr>
          <p:cNvSpPr/>
          <p:nvPr/>
        </p:nvSpPr>
        <p:spPr>
          <a:xfrm>
            <a:off x="823158" y="5139387"/>
            <a:ext cx="2641041" cy="682095"/>
          </a:xfrm>
          <a:prstGeom prst="roundRect">
            <a:avLst>
              <a:gd name="adj" fmla="val 8333"/>
            </a:avLst>
          </a:prstGeom>
          <a:solidFill>
            <a:srgbClr val="162440"/>
          </a:solidFill>
          <a:ln/>
        </p:spPr>
        <p:txBody>
          <a:bodyPr/>
          <a:lstStyle/>
          <a:p>
            <a:endParaRPr lang="en-DE" sz="240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89785384-81FF-FD73-8060-D2427F10BA07}"/>
              </a:ext>
            </a:extLst>
          </p:cNvPr>
          <p:cNvSpPr/>
          <p:nvPr/>
        </p:nvSpPr>
        <p:spPr>
          <a:xfrm>
            <a:off x="870302" y="5070057"/>
            <a:ext cx="2546751" cy="7893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7D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-w "%{</a:t>
            </a:r>
            <a:r>
              <a:rPr lang="en-US" sz="1200" err="1">
                <a:solidFill>
                  <a:srgbClr val="7D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time_total</a:t>
            </a:r>
            <a:r>
              <a:rPr lang="en-US" sz="1200">
                <a:solidFill>
                  <a:srgbClr val="7D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}s"</a:t>
            </a:r>
            <a:endParaRPr lang="en-US" sz="1200"/>
          </a:p>
          <a:p>
            <a:r>
              <a:rPr lang="en-US" sz="1200">
                <a:solidFill>
                  <a:srgbClr val="7D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https://httpbin.org/get</a:t>
            </a:r>
            <a:endParaRPr lang="en-US" sz="120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C0D297FE-7D2A-BAA2-EB95-6A8726BC657E}"/>
              </a:ext>
            </a:extLst>
          </p:cNvPr>
          <p:cNvSpPr/>
          <p:nvPr/>
        </p:nvSpPr>
        <p:spPr>
          <a:xfrm>
            <a:off x="823158" y="5738348"/>
            <a:ext cx="3269717" cy="5134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0.510079 s = </a:t>
            </a:r>
            <a:r>
              <a:rPr lang="en-US" sz="1200" b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 </a:t>
            </a:r>
            <a:r>
              <a:rPr lang="en-US" sz="1200" b="1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internet round-trip.</a:t>
            </a:r>
            <a:endParaRPr lang="en-US" sz="1200"/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DCC7BCEA-7C16-450C-0713-96C5488C24AF}"/>
              </a:ext>
            </a:extLst>
          </p:cNvPr>
          <p:cNvSpPr/>
          <p:nvPr/>
        </p:nvSpPr>
        <p:spPr>
          <a:xfrm>
            <a:off x="7040880" y="5030183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Paderborn home Wi‑Fi</a:t>
            </a:r>
            <a:endParaRPr lang="en-US" sz="10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482F7-053A-6314-82D6-CFADE3A2A9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4322" r="400" b="14070"/>
          <a:stretch>
            <a:fillRect/>
          </a:stretch>
        </p:blipFill>
        <p:spPr bwMode="auto">
          <a:xfrm>
            <a:off x="2429551" y="810183"/>
            <a:ext cx="7639921" cy="291093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0B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Measured Results: Edge vs Cloud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3480155006"/>
              </p:ext>
            </p:extLst>
          </p:nvPr>
        </p:nvGraphicFramePr>
        <p:xfrm>
          <a:off x="731520" y="1508760"/>
          <a:ext cx="667512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822960" y="1261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>
                <a:solidFill>
                  <a:srgbClr val="64748B"/>
                </a:solidFill>
              </a:rPr>
              <a:t>Latency in milliseconds (lower is better)</a:t>
            </a:r>
            <a:endParaRPr lang="en-US" sz="1080"/>
          </a:p>
        </p:txBody>
      </p:sp>
      <p:sp>
        <p:nvSpPr>
          <p:cNvPr id="10" name="Shape 7"/>
          <p:cNvSpPr/>
          <p:nvPr/>
        </p:nvSpPr>
        <p:spPr>
          <a:xfrm>
            <a:off x="8001000" y="1508760"/>
            <a:ext cx="0" cy="43434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8458200" y="16916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</a:rPr>
              <a:t>Home Wi‑Fi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8458200" y="201168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 vs 510 ms</a:t>
            </a:r>
            <a:endParaRPr lang="en-US" sz="2800"/>
          </a:p>
        </p:txBody>
      </p:sp>
      <p:sp>
        <p:nvSpPr>
          <p:cNvPr id="13" name="Text 10"/>
          <p:cNvSpPr/>
          <p:nvPr/>
        </p:nvSpPr>
        <p:spPr>
          <a:xfrm>
            <a:off x="8458200" y="2560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Cloud took about 5.4× longer</a:t>
            </a:r>
            <a:endParaRPr lang="en-US" sz="1050"/>
          </a:p>
        </p:txBody>
      </p:sp>
      <p:sp>
        <p:nvSpPr>
          <p:cNvPr id="14" name="Text 11"/>
          <p:cNvSpPr/>
          <p:nvPr/>
        </p:nvSpPr>
        <p:spPr>
          <a:xfrm>
            <a:off x="8458200" y="33375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</a:rPr>
              <a:t>HSHL Wi‑Fi</a:t>
            </a:r>
            <a:endParaRPr lang="en-US" sz="1100"/>
          </a:p>
        </p:txBody>
      </p:sp>
      <p:sp>
        <p:nvSpPr>
          <p:cNvPr id="15" name="Text 12"/>
          <p:cNvSpPr/>
          <p:nvPr/>
        </p:nvSpPr>
        <p:spPr>
          <a:xfrm>
            <a:off x="8458200" y="365760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422 vs 2170 ms</a:t>
            </a:r>
            <a:endParaRPr lang="en-US" sz="2800"/>
          </a:p>
        </p:txBody>
      </p:sp>
      <p:sp>
        <p:nvSpPr>
          <p:cNvPr id="16" name="Text 13"/>
          <p:cNvSpPr/>
          <p:nvPr/>
        </p:nvSpPr>
        <p:spPr>
          <a:xfrm>
            <a:off x="8458200" y="42062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Cloud took about 5.1× longer</a:t>
            </a:r>
            <a:endParaRPr lang="en-US"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0B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Latency Formulation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 = X / L + D / R</a:t>
            </a:r>
            <a:endParaRPr lang="en-US" sz="380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72A"/>
                </a:solidFill>
              </a:rPr>
              <a:t>C = latency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>
                <a:solidFill>
                  <a:srgbClr val="64748B"/>
                </a:solidFill>
              </a:rPr>
              <a:t>X = distance  •  L = bandwidth  •  D = data rate  •  R = computing resources</a:t>
            </a:r>
            <a:endParaRPr lang="en-US" sz="124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B981"/>
                </a:solidFill>
              </a:rPr>
              <a:t>Edge path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2103120" y="3822192"/>
            <a:ext cx="2743200" cy="0"/>
          </a:xfrm>
          <a:prstGeom prst="line">
            <a:avLst/>
          </a:prstGeom>
          <a:noFill/>
          <a:ln w="50800">
            <a:solidFill>
              <a:srgbClr val="10B981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2834640" y="4041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0B981"/>
                </a:solidFill>
              </a:rPr>
              <a:t>short X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9E0B"/>
                </a:solidFill>
              </a:rPr>
              <a:t>Cloud path</a:t>
            </a:r>
            <a:endParaRPr lang="en-US" sz="1500"/>
          </a:p>
        </p:txBody>
      </p:sp>
      <p:sp>
        <p:nvSpPr>
          <p:cNvPr id="15" name="Shape 13"/>
          <p:cNvSpPr/>
          <p:nvPr/>
        </p:nvSpPr>
        <p:spPr>
          <a:xfrm>
            <a:off x="2103120" y="4873752"/>
            <a:ext cx="4754880" cy="0"/>
          </a:xfrm>
          <a:prstGeom prst="line">
            <a:avLst/>
          </a:prstGeom>
          <a:noFill/>
          <a:ln w="5080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3840480" y="50932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59E0B"/>
                </a:solidFill>
              </a:rPr>
              <a:t>large internet X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7360920" y="1508760"/>
            <a:ext cx="3886200" cy="443484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768096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0B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increases delay?</a:t>
            </a:r>
            <a:endParaRPr lang="en-US" sz="1800"/>
          </a:p>
        </p:txBody>
      </p:sp>
      <p:sp>
        <p:nvSpPr>
          <p:cNvPr id="19" name="Shape 17"/>
          <p:cNvSpPr/>
          <p:nvPr/>
        </p:nvSpPr>
        <p:spPr>
          <a:xfrm>
            <a:off x="7699248" y="2574036"/>
            <a:ext cx="82296" cy="822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Edge reduces the distance X because processing is local.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7699248" y="3305556"/>
            <a:ext cx="82296" cy="822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7863840" y="3246120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1E293B"/>
                </a:solidFill>
              </a:rPr>
              <a:t>A shared network lowers available bandwidth L.</a:t>
            </a:r>
            <a:endParaRPr lang="en-US" sz="1220"/>
          </a:p>
        </p:txBody>
      </p:sp>
      <p:sp>
        <p:nvSpPr>
          <p:cNvPr id="23" name="Shape 21"/>
          <p:cNvSpPr/>
          <p:nvPr/>
        </p:nvSpPr>
        <p:spPr>
          <a:xfrm>
            <a:off x="7699248" y="4037076"/>
            <a:ext cx="82296" cy="822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7863840" y="3977640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Cloud routes are longer, so strict millisecond response is harder.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3" name="Text 1"/>
          <p:cNvSpPr/>
          <p:nvPr/>
        </p:nvSpPr>
        <p:spPr>
          <a:xfrm>
            <a:off x="609600" y="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vs. Cloud: Full Comparison</a:t>
            </a:r>
            <a:endParaRPr lang="en-US" sz="3467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223678"/>
              </p:ext>
            </p:extLst>
          </p:nvPr>
        </p:nvGraphicFramePr>
        <p:xfrm>
          <a:off x="475881" y="1923189"/>
          <a:ext cx="11338560" cy="3998976"/>
        </p:xfrm>
        <a:graphic>
          <a:graphicData uri="http://schemas.openxmlformats.org/drawingml/2006/table">
            <a:tbl>
              <a:tblPr/>
              <a:tblGrid>
                <a:gridCol w="469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Computing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Computing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2D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(stable network)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ms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 ms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(shared network)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 ms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2,170 ms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advantage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5.1× – 5.4× faster in every test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operation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Suitable for real-time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dependency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network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required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&amp; analysis scale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High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" name="Text 34"/>
          <p:cNvSpPr/>
          <p:nvPr/>
        </p:nvSpPr>
        <p:spPr>
          <a:xfrm>
            <a:off x="854915" y="6268161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0B172A"/>
                </a:solidFill>
              </a:rPr>
              <a:t>Edge is best for fast local actions. Cloud is best for heavy storage, training, reporting, and long-term analytics.</a:t>
            </a:r>
            <a:endParaRPr lang="en-US"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Use Cases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487680" y="1280160"/>
            <a:ext cx="5486400" cy="243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4" name="Text 2"/>
          <p:cNvSpPr/>
          <p:nvPr/>
        </p:nvSpPr>
        <p:spPr>
          <a:xfrm>
            <a:off x="670560" y="1499616"/>
            <a:ext cx="79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🔩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1524000" y="1499616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PCB &amp; SMT Assembly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755904" y="2157984"/>
            <a:ext cx="4974336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inspection detects misplaced components, missing solder, or bad orientation. The edge system rejects the board instantly — before bad units continue down the line.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280160"/>
            <a:ext cx="5486400" cy="243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8" name="Text 6"/>
          <p:cNvSpPr/>
          <p:nvPr/>
        </p:nvSpPr>
        <p:spPr>
          <a:xfrm>
            <a:off x="6583680" y="1499616"/>
            <a:ext cx="79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3467" dirty="0"/>
          </a:p>
        </p:txBody>
      </p:sp>
      <p:sp>
        <p:nvSpPr>
          <p:cNvPr id="9" name="Text 7"/>
          <p:cNvSpPr/>
          <p:nvPr/>
        </p:nvSpPr>
        <p:spPr>
          <a:xfrm>
            <a:off x="7437120" y="1499616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CNC Machining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6669024" y="2157984"/>
            <a:ext cx="4974336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Vibration, temperature, and current sensors feed into an edge node that predicts tool wear before breakage, alerting operators to swap tools proactively.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7680" y="3962400"/>
            <a:ext cx="5486400" cy="243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12" name="Text 10"/>
          <p:cNvSpPr/>
          <p:nvPr/>
        </p:nvSpPr>
        <p:spPr>
          <a:xfrm>
            <a:off x="670560" y="4181856"/>
            <a:ext cx="79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3467" dirty="0"/>
          </a:p>
        </p:txBody>
      </p:sp>
      <p:sp>
        <p:nvSpPr>
          <p:cNvPr id="13" name="Text 11"/>
          <p:cNvSpPr/>
          <p:nvPr/>
        </p:nvSpPr>
        <p:spPr>
          <a:xfrm>
            <a:off x="1524000" y="4181856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Automotive Welding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755904" y="4840224"/>
            <a:ext cx="4974336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weld's current, voltage, and timing are compared against quality limits in real time. Defective welds are flagged and the robot halted within milliseconds.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3962400"/>
            <a:ext cx="5486400" cy="243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16" name="Text 14"/>
          <p:cNvSpPr/>
          <p:nvPr/>
        </p:nvSpPr>
        <p:spPr>
          <a:xfrm>
            <a:off x="6583680" y="4181856"/>
            <a:ext cx="79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</a:t>
            </a:r>
            <a:endParaRPr lang="en-US" sz="3467" dirty="0"/>
          </a:p>
        </p:txBody>
      </p:sp>
      <p:sp>
        <p:nvSpPr>
          <p:cNvPr id="17" name="Text 15"/>
          <p:cNvSpPr/>
          <p:nvPr/>
        </p:nvSpPr>
        <p:spPr>
          <a:xfrm>
            <a:off x="7437120" y="4181856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 Filling Lines</a:t>
            </a:r>
            <a:endParaRPr lang="en-US" sz="1867" dirty="0"/>
          </a:p>
        </p:txBody>
      </p:sp>
      <p:sp>
        <p:nvSpPr>
          <p:cNvPr id="18" name="Text 16"/>
          <p:cNvSpPr/>
          <p:nvPr/>
        </p:nvSpPr>
        <p:spPr>
          <a:xfrm>
            <a:off x="6669024" y="4840224"/>
            <a:ext cx="4974336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check fill level, weight, label position, and packaging integrity. Under-filled or contaminated units are removed before final packaging.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D2B3E"/>
                </a:solidFill>
                <a:latin typeface="Aptos Display" panose="020B0004020202020204" pitchFamily="34" charset="0"/>
                <a:ea typeface="Cambria" pitchFamily="34" charset="-122"/>
                <a:cs typeface="Cambria" pitchFamily="34" charset="-120"/>
              </a:rPr>
              <a:t>Key Benefits</a:t>
            </a:r>
            <a:endParaRPr lang="en-US" sz="2800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341120"/>
            <a:ext cx="5547360" cy="243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4" name="Shape 2"/>
          <p:cNvSpPr/>
          <p:nvPr/>
        </p:nvSpPr>
        <p:spPr>
          <a:xfrm>
            <a:off x="816864" y="1609344"/>
            <a:ext cx="755904" cy="75590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016" y="1682496"/>
            <a:ext cx="609600" cy="609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43456" y="1645920"/>
            <a:ext cx="414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Latency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16864" y="2499360"/>
            <a:ext cx="49987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near the source cuts response times to milliseconds — essential for autonomous vehicles, robotics, and emergency healthcare.</a:t>
            </a:r>
            <a:endParaRPr lang="en-US" sz="1467" dirty="0"/>
          </a:p>
        </p:txBody>
      </p:sp>
      <p:sp>
        <p:nvSpPr>
          <p:cNvPr id="8" name="Shape 5"/>
          <p:cNvSpPr/>
          <p:nvPr/>
        </p:nvSpPr>
        <p:spPr>
          <a:xfrm>
            <a:off x="6461760" y="1341120"/>
            <a:ext cx="5547360" cy="243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9" name="Shape 6"/>
          <p:cNvSpPr/>
          <p:nvPr/>
        </p:nvSpPr>
        <p:spPr>
          <a:xfrm>
            <a:off x="6729984" y="1609344"/>
            <a:ext cx="755904" cy="75590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1682496"/>
            <a:ext cx="609600" cy="609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6576" y="1645920"/>
            <a:ext cx="414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Bandwidth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729984" y="2499360"/>
            <a:ext cx="49987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key results (alarms, status updates) travel to the cloud. Raw data stays local, saving network capacity.</a:t>
            </a:r>
            <a:endParaRPr lang="en-US" sz="1467" dirty="0"/>
          </a:p>
        </p:txBody>
      </p:sp>
      <p:sp>
        <p:nvSpPr>
          <p:cNvPr id="13" name="Shape 9"/>
          <p:cNvSpPr/>
          <p:nvPr/>
        </p:nvSpPr>
        <p:spPr>
          <a:xfrm>
            <a:off x="548640" y="4023360"/>
            <a:ext cx="5547360" cy="243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14" name="Shape 10"/>
          <p:cNvSpPr/>
          <p:nvPr/>
        </p:nvSpPr>
        <p:spPr>
          <a:xfrm>
            <a:off x="816864" y="4291584"/>
            <a:ext cx="755904" cy="75590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016" y="4364736"/>
            <a:ext cx="609600" cy="609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43456" y="4328160"/>
            <a:ext cx="414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 Privacy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16864" y="5181600"/>
            <a:ext cx="49987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(e.g. patient records) stays on-premise. Only necessary summaries reach the cloud.</a:t>
            </a:r>
            <a:endParaRPr lang="en-US" sz="1467" dirty="0"/>
          </a:p>
        </p:txBody>
      </p:sp>
      <p:sp>
        <p:nvSpPr>
          <p:cNvPr id="18" name="Shape 13"/>
          <p:cNvSpPr/>
          <p:nvPr/>
        </p:nvSpPr>
        <p:spPr>
          <a:xfrm>
            <a:off x="6461760" y="4023360"/>
            <a:ext cx="5547360" cy="243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19" name="Shape 14"/>
          <p:cNvSpPr/>
          <p:nvPr/>
        </p:nvSpPr>
        <p:spPr>
          <a:xfrm>
            <a:off x="6729984" y="4291584"/>
            <a:ext cx="755904" cy="75590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3136" y="4364736"/>
            <a:ext cx="609600" cy="609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6576" y="4328160"/>
            <a:ext cx="414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Reliability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729984" y="5181600"/>
            <a:ext cx="49987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systems continue operating when cloud connectivity is poor or lost — critical for remote factories.</a:t>
            </a:r>
            <a:endParaRPr lang="en-US" sz="146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800" b="1" dirty="0">
                <a:solidFill>
                  <a:srgbClr val="FFFFFF"/>
                </a:solidFill>
                <a:latin typeface="Aptos Display" panose="020B0004020202020204" pitchFamily="34" charset="0"/>
                <a:ea typeface="Cambria" pitchFamily="34" charset="-122"/>
                <a:cs typeface="Cambria" pitchFamily="34" charset="-120"/>
              </a:rPr>
              <a:t>Application Areas</a:t>
            </a:r>
            <a:endParaRPr lang="en-US" sz="2800" dirty="0">
              <a:solidFill>
                <a:prstClr val="black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1341120"/>
            <a:ext cx="2194560" cy="21945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1A4F70"/>
            </a:solidFill>
            <a:prstDash val="solid"/>
          </a:ln>
        </p:spPr>
        <p:txBody>
          <a:bodyPr/>
          <a:lstStyle/>
          <a:p>
            <a:pPr defTabSz="1219170"/>
            <a:endParaRPr lang="en-DE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776" y="1560576"/>
            <a:ext cx="682752" cy="682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7680" y="234086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of Things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487680" y="2828544"/>
            <a:ext cx="21945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33" dirty="0">
                <a:solidFill>
                  <a:srgbClr val="8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homes, factories &amp; agriculture process sensor data locally for instant reactions.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865120" y="1341120"/>
            <a:ext cx="2194560" cy="21945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1A4F70"/>
            </a:solidFill>
            <a:prstDash val="solid"/>
          </a:ln>
        </p:spPr>
        <p:txBody>
          <a:bodyPr/>
          <a:lstStyle/>
          <a:p>
            <a:pPr defTabSz="1219170"/>
            <a:endParaRPr lang="en-DE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3216" y="1560576"/>
            <a:ext cx="682752" cy="682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65120" y="234086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865120" y="2828544"/>
            <a:ext cx="21945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33" dirty="0">
                <a:solidFill>
                  <a:srgbClr val="8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and LIDAR data processed on-vehicle — cloud round-trips are too slow for safety.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242560" y="1341120"/>
            <a:ext cx="2194560" cy="21945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1A4F70"/>
            </a:solidFill>
            <a:prstDash val="solid"/>
          </a:ln>
        </p:spPr>
        <p:txBody>
          <a:bodyPr/>
          <a:lstStyle/>
          <a:p>
            <a:pPr defTabSz="1219170"/>
            <a:endParaRPr lang="en-DE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0656" y="1560576"/>
            <a:ext cx="682752" cy="682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42560" y="234086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9"/>
          <p:cNvSpPr/>
          <p:nvPr/>
        </p:nvSpPr>
        <p:spPr>
          <a:xfrm>
            <a:off x="5242560" y="2828544"/>
            <a:ext cx="21945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33" dirty="0">
                <a:solidFill>
                  <a:srgbClr val="8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and patient monitors trigger local emergency alerts within milliseconds.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1682496" y="3779520"/>
            <a:ext cx="2194560" cy="21945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1A4F70"/>
            </a:solidFill>
            <a:prstDash val="solid"/>
          </a:ln>
        </p:spPr>
        <p:txBody>
          <a:bodyPr/>
          <a:lstStyle/>
          <a:p>
            <a:pPr defTabSz="1219170"/>
            <a:endParaRPr lang="en-DE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0592" y="3998976"/>
            <a:ext cx="682752" cy="6827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82496" y="477926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Automation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682496" y="5266944"/>
            <a:ext cx="21945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33" dirty="0">
                <a:solidFill>
                  <a:srgbClr val="8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detection, quality control, and real-time machine monitoring on the factory floor.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4059936" y="3779520"/>
            <a:ext cx="2194560" cy="21945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1A4F70"/>
            </a:solidFill>
            <a:prstDash val="solid"/>
          </a:ln>
        </p:spPr>
        <p:txBody>
          <a:bodyPr/>
          <a:lstStyle/>
          <a:p>
            <a:pPr defTabSz="1219170"/>
            <a:endParaRPr lang="en-DE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3998976"/>
            <a:ext cx="682752" cy="68275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059936" y="477926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4059936" y="5266944"/>
            <a:ext cx="21945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33" dirty="0">
                <a:solidFill>
                  <a:srgbClr val="8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sensors and cameras analysed locally to reduce congestion and improve safety.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16"/>
          <p:cNvSpPr/>
          <p:nvPr/>
        </p:nvSpPr>
        <p:spPr>
          <a:xfrm>
            <a:off x="8461248" y="1280160"/>
            <a:ext cx="3243072" cy="4876800"/>
          </a:xfrm>
          <a:prstGeom prst="roundRect">
            <a:avLst>
              <a:gd name="adj" fmla="val 3000"/>
            </a:avLst>
          </a:prstGeom>
          <a:solidFill>
            <a:srgbClr val="031E30"/>
          </a:solidFill>
          <a:ln w="12700">
            <a:solidFill>
              <a:srgbClr val="1A4F70"/>
            </a:solidFill>
            <a:prstDash val="solid"/>
          </a:ln>
        </p:spPr>
        <p:txBody>
          <a:bodyPr/>
          <a:lstStyle/>
          <a:p>
            <a:pPr defTabSz="1219170"/>
            <a:endParaRPr lang="en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6949440" y="1463040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8652387" y="2133600"/>
            <a:ext cx="2869053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dirty="0">
                <a:solidFill>
                  <a:srgbClr val="8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domain, the unifying theme is the same: decisions that matter happen in real time, and real time means milliseconds — not the 500 ms+ of a cloud round-trip.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533" dirty="0">
                <a:solidFill>
                  <a:srgbClr val="8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bridges the gap between raw sensor data and timely, local intelligence.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D2B3E"/>
                </a:solidFill>
                <a:latin typeface="Aptos Display" panose="020B0004020202020204" pitchFamily="34" charset="0"/>
                <a:ea typeface="Cambria" pitchFamily="34" charset="-122"/>
                <a:cs typeface="Cambria" pitchFamily="34" charset="-120"/>
              </a:rPr>
              <a:t>Challenges &amp; Limitations</a:t>
            </a:r>
            <a:endParaRPr lang="en-US" sz="2800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1341120"/>
            <a:ext cx="5486400" cy="2438400"/>
          </a:xfrm>
          <a:prstGeom prst="roundRect">
            <a:avLst>
              <a:gd name="adj" fmla="val 5000"/>
            </a:avLst>
          </a:prstGeom>
          <a:solidFill>
            <a:srgbClr val="FEF8F8"/>
          </a:solidFill>
          <a:ln w="12700">
            <a:solidFill>
              <a:srgbClr val="FDDED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4" name="Shape 2"/>
          <p:cNvSpPr/>
          <p:nvPr/>
        </p:nvSpPr>
        <p:spPr>
          <a:xfrm>
            <a:off x="755904" y="1609344"/>
            <a:ext cx="755904" cy="755904"/>
          </a:xfrm>
          <a:prstGeom prst="ellipse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56" y="1682496"/>
            <a:ext cx="609600" cy="609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82496" y="1645920"/>
            <a:ext cx="408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Risks</a:t>
            </a:r>
            <a:endParaRPr lang="en-US" sz="1867" dirty="0"/>
          </a:p>
        </p:txBody>
      </p:sp>
      <p:sp>
        <p:nvSpPr>
          <p:cNvPr id="7" name="Text 4"/>
          <p:cNvSpPr/>
          <p:nvPr/>
        </p:nvSpPr>
        <p:spPr>
          <a:xfrm>
            <a:off x="755904" y="2499360"/>
            <a:ext cx="49987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devices are distributed across many sites, making centralised protection difficult. A compromised device can impact the whole system.</a:t>
            </a:r>
            <a:endParaRPr lang="en-US" sz="1467" dirty="0"/>
          </a:p>
        </p:txBody>
      </p:sp>
      <p:sp>
        <p:nvSpPr>
          <p:cNvPr id="8" name="Shape 5"/>
          <p:cNvSpPr/>
          <p:nvPr/>
        </p:nvSpPr>
        <p:spPr>
          <a:xfrm>
            <a:off x="6400800" y="1341120"/>
            <a:ext cx="5486400" cy="2438400"/>
          </a:xfrm>
          <a:prstGeom prst="roundRect">
            <a:avLst>
              <a:gd name="adj" fmla="val 5000"/>
            </a:avLst>
          </a:prstGeom>
          <a:solidFill>
            <a:srgbClr val="FEF8F8"/>
          </a:solidFill>
          <a:ln w="12700">
            <a:solidFill>
              <a:srgbClr val="FDDED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9" name="Shape 6"/>
          <p:cNvSpPr/>
          <p:nvPr/>
        </p:nvSpPr>
        <p:spPr>
          <a:xfrm>
            <a:off x="6669024" y="1609344"/>
            <a:ext cx="755904" cy="755904"/>
          </a:xfrm>
          <a:prstGeom prst="ellipse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176" y="1682496"/>
            <a:ext cx="609600" cy="609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95616" y="1645920"/>
            <a:ext cx="408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Resources</a:t>
            </a:r>
            <a:endParaRPr lang="en-US" sz="1867" dirty="0"/>
          </a:p>
        </p:txBody>
      </p:sp>
      <p:sp>
        <p:nvSpPr>
          <p:cNvPr id="12" name="Text 8"/>
          <p:cNvSpPr/>
          <p:nvPr/>
        </p:nvSpPr>
        <p:spPr>
          <a:xfrm>
            <a:off x="6669024" y="2499360"/>
            <a:ext cx="49987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hardware has less compute, memory, and storage than cloud servers. Applications must be carefully optimised.</a:t>
            </a:r>
            <a:endParaRPr lang="en-US" sz="1467" dirty="0"/>
          </a:p>
        </p:txBody>
      </p:sp>
      <p:sp>
        <p:nvSpPr>
          <p:cNvPr id="13" name="Shape 9"/>
          <p:cNvSpPr/>
          <p:nvPr/>
        </p:nvSpPr>
        <p:spPr>
          <a:xfrm>
            <a:off x="487680" y="4023360"/>
            <a:ext cx="5486400" cy="2438400"/>
          </a:xfrm>
          <a:prstGeom prst="roundRect">
            <a:avLst>
              <a:gd name="adj" fmla="val 5000"/>
            </a:avLst>
          </a:prstGeom>
          <a:solidFill>
            <a:srgbClr val="FEF8F8"/>
          </a:solidFill>
          <a:ln w="12700">
            <a:solidFill>
              <a:srgbClr val="FDDED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14" name="Shape 10"/>
          <p:cNvSpPr/>
          <p:nvPr/>
        </p:nvSpPr>
        <p:spPr>
          <a:xfrm>
            <a:off x="755904" y="4291584"/>
            <a:ext cx="755904" cy="755904"/>
          </a:xfrm>
          <a:prstGeom prst="ellipse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" y="4364736"/>
            <a:ext cx="609600" cy="609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82496" y="4328160"/>
            <a:ext cx="408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Complexity</a:t>
            </a:r>
            <a:endParaRPr lang="en-US" sz="1867" dirty="0"/>
          </a:p>
        </p:txBody>
      </p:sp>
      <p:sp>
        <p:nvSpPr>
          <p:cNvPr id="17" name="Text 12"/>
          <p:cNvSpPr/>
          <p:nvPr/>
        </p:nvSpPr>
        <p:spPr>
          <a:xfrm>
            <a:off x="755904" y="5181600"/>
            <a:ext cx="49987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software updates, monitoring, and fault detection across hundreds of edge nodes is a significant operational challenge.</a:t>
            </a:r>
            <a:endParaRPr lang="en-US" sz="1467" dirty="0"/>
          </a:p>
        </p:txBody>
      </p:sp>
      <p:sp>
        <p:nvSpPr>
          <p:cNvPr id="18" name="Shape 13"/>
          <p:cNvSpPr/>
          <p:nvPr/>
        </p:nvSpPr>
        <p:spPr>
          <a:xfrm>
            <a:off x="6400800" y="4023360"/>
            <a:ext cx="5486400" cy="2438400"/>
          </a:xfrm>
          <a:prstGeom prst="roundRect">
            <a:avLst>
              <a:gd name="adj" fmla="val 5000"/>
            </a:avLst>
          </a:prstGeom>
          <a:solidFill>
            <a:srgbClr val="FEF8F8"/>
          </a:solidFill>
          <a:ln w="12700">
            <a:solidFill>
              <a:srgbClr val="FDDED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19" name="Shape 14"/>
          <p:cNvSpPr/>
          <p:nvPr/>
        </p:nvSpPr>
        <p:spPr>
          <a:xfrm>
            <a:off x="6669024" y="4291584"/>
            <a:ext cx="755904" cy="755904"/>
          </a:xfrm>
          <a:prstGeom prst="ellipse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176" y="4364736"/>
            <a:ext cx="609600" cy="609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95616" y="4328160"/>
            <a:ext cx="408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Consistency</a:t>
            </a:r>
            <a:endParaRPr lang="en-US" sz="1867" dirty="0"/>
          </a:p>
        </p:txBody>
      </p:sp>
      <p:sp>
        <p:nvSpPr>
          <p:cNvPr id="22" name="Text 16"/>
          <p:cNvSpPr/>
          <p:nvPr/>
        </p:nvSpPr>
        <p:spPr>
          <a:xfrm>
            <a:off x="6669024" y="5181600"/>
            <a:ext cx="49987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data at multiple sites makes it harder to maintain a single consistent view between edge and cloud systems.</a:t>
            </a:r>
            <a:endParaRPr lang="en-US" sz="1467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03520"/>
            <a:ext cx="12192000" cy="1554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3" name="Text 1"/>
          <p:cNvSpPr/>
          <p:nvPr/>
        </p:nvSpPr>
        <p:spPr>
          <a:xfrm>
            <a:off x="609600" y="268224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41376" cy="34137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5" name="Text 3"/>
          <p:cNvSpPr/>
          <p:nvPr/>
        </p:nvSpPr>
        <p:spPr>
          <a:xfrm>
            <a:off x="1109057" y="1128730"/>
            <a:ext cx="107289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is a key technology for modern distributed systems — not a replacement for the cloud, but a complement.</a:t>
            </a:r>
            <a:endParaRPr lang="en-US" sz="1667" dirty="0"/>
          </a:p>
        </p:txBody>
      </p:sp>
      <p:sp>
        <p:nvSpPr>
          <p:cNvPr id="6" name="Shape 4"/>
          <p:cNvSpPr/>
          <p:nvPr/>
        </p:nvSpPr>
        <p:spPr>
          <a:xfrm>
            <a:off x="548640" y="2072640"/>
            <a:ext cx="341376" cy="34137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7" name="Text 5"/>
          <p:cNvSpPr/>
          <p:nvPr/>
        </p:nvSpPr>
        <p:spPr>
          <a:xfrm>
            <a:off x="1109057" y="1921210"/>
            <a:ext cx="107289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edge handles latency-sensitive local tasks (fault detection, safety response, quality control).</a:t>
            </a:r>
            <a:endParaRPr lang="en-US" sz="1667" dirty="0"/>
          </a:p>
        </p:txBody>
      </p:sp>
      <p:sp>
        <p:nvSpPr>
          <p:cNvPr id="8" name="Shape 6"/>
          <p:cNvSpPr/>
          <p:nvPr/>
        </p:nvSpPr>
        <p:spPr>
          <a:xfrm>
            <a:off x="548640" y="2865120"/>
            <a:ext cx="341376" cy="34137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9" name="Text 7"/>
          <p:cNvSpPr/>
          <p:nvPr/>
        </p:nvSpPr>
        <p:spPr>
          <a:xfrm>
            <a:off x="1109057" y="2713690"/>
            <a:ext cx="107289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cloud handles large-scale storage, model training, and long-term analytics</a:t>
            </a:r>
            <a:r>
              <a:rPr lang="en-US" sz="1667" dirty="0">
                <a:solidFill>
                  <a:srgbClr val="C5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67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341376" cy="34137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11" name="Text 9"/>
          <p:cNvSpPr/>
          <p:nvPr/>
        </p:nvSpPr>
        <p:spPr>
          <a:xfrm>
            <a:off x="1109057" y="3523488"/>
            <a:ext cx="107289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confirm edge processing is 5.1–5.4× faster across all network conditions tested.</a:t>
            </a:r>
            <a:endParaRPr lang="en-US" sz="1667" dirty="0"/>
          </a:p>
        </p:txBody>
      </p:sp>
      <p:sp>
        <p:nvSpPr>
          <p:cNvPr id="12" name="Shape 10"/>
          <p:cNvSpPr/>
          <p:nvPr/>
        </p:nvSpPr>
        <p:spPr>
          <a:xfrm>
            <a:off x="548640" y="4450080"/>
            <a:ext cx="341376" cy="34137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14" name="Text 12"/>
          <p:cNvSpPr/>
          <p:nvPr/>
        </p:nvSpPr>
        <p:spPr>
          <a:xfrm>
            <a:off x="548640" y="5729270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 welcome</a:t>
            </a:r>
            <a:endParaRPr lang="en-US" sz="186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1503</Words>
  <Application>Microsoft Office PowerPoint</Application>
  <PresentationFormat>Widescreen</PresentationFormat>
  <Paragraphs>234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Calibri Light</vt:lpstr>
      <vt:lpstr>Cambria</vt:lpstr>
      <vt:lpstr>Consolas</vt:lpstr>
      <vt:lpstr>Courier New</vt:lpstr>
      <vt:lpstr>Wingdings</vt:lpstr>
      <vt:lpstr>1_Office Theme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vs Cloud Latency Test</dc:title>
  <dc:subject>Edge vs Cloud Latency Test</dc:subject>
  <dc:creator>OpenAI</dc:creator>
  <cp:lastModifiedBy>M R Sohan</cp:lastModifiedBy>
  <cp:revision>8</cp:revision>
  <dcterms:created xsi:type="dcterms:W3CDTF">2026-06-22T21:01:43Z</dcterms:created>
  <dcterms:modified xsi:type="dcterms:W3CDTF">2026-06-23T20:22:42Z</dcterms:modified>
</cp:coreProperties>
</file>